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jpYSevFnS3OPIk8Gi5qmvLeaKF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48" Type="http://customschemas.google.com/relationships/presentationmetadata" Target="metadata"/><Relationship Id="rId25" Type="http://schemas.openxmlformats.org/officeDocument/2006/relationships/slide" Target="slides/slide18.xml"/><Relationship Id="rId47" Type="http://schemas.openxmlformats.org/officeDocument/2006/relationships/slide" Target="slides/slide40.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5d1c309b5_8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c5d1c309b5_8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Welcome. This is the first of three meetings on the Sandbox Analyzer module.</a:t>
            </a:r>
            <a:br>
              <a:rPr lang="en-US"/>
            </a:br>
            <a:br>
              <a:rPr lang="en-US"/>
            </a:br>
            <a:r>
              <a:rPr lang="en-US"/>
              <a:t>Today: a complete overview — what it is, why it is needed, how it fits in the system, and early results.</a:t>
            </a:r>
            <a:br>
              <a:rPr lang="en-US"/>
            </a:br>
            <a:r>
              <a:rPr lang="en-US"/>
              <a:t>Meeting 2: deep dive into how it works internally — the 8 stages.</a:t>
            </a:r>
            <a:br>
              <a:rPr lang="en-US"/>
            </a:br>
            <a:r>
              <a:rPr lang="en-US"/>
              <a:t>Meeting 3: full validation, research backing, and next steps.</a:t>
            </a:r>
            <a:br>
              <a:rPr lang="en-US"/>
            </a:br>
            <a:br>
              <a:rPr lang="en-US"/>
            </a:br>
            <a:r>
              <a:rPr lang="en-US"/>
              <a:t>I will speak for about 10–15 minutes.</a:t>
            </a:r>
            <a:endParaRPr/>
          </a:p>
        </p:txBody>
      </p:sp>
      <p:sp>
        <p:nvSpPr>
          <p:cNvPr id="89" name="Google Shape;89;g3c5d1c309b5_8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5d1c309b5_8_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c5d1c309b5_8_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Quick orientation. Two modules are done — the audience already knows those.</a:t>
            </a:r>
            <a:br>
              <a:rPr lang="en-US"/>
            </a:br>
            <a:br>
              <a:rPr lang="en-US"/>
            </a:br>
            <a:r>
              <a:rPr lang="en-US"/>
              <a:t>Today we focus entirely on the Sandbox Analyzer — Module 3.</a:t>
            </a:r>
            <a:br>
              <a:rPr lang="en-US"/>
            </a:br>
            <a:br>
              <a:rPr lang="en-US"/>
            </a:br>
            <a:r>
              <a:rPr lang="en-US"/>
              <a:t>The remaining modules (Metadata Sanitizer, Response Manager) come after.</a:t>
            </a:r>
            <a:endParaRPr/>
          </a:p>
        </p:txBody>
      </p:sp>
      <p:sp>
        <p:nvSpPr>
          <p:cNvPr id="99" name="Google Shape;99;g3c5d1c309b5_8_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ee277e4b5_1_21:notes"/>
          <p:cNvSpPr/>
          <p:nvPr>
            <p:ph idx="2" type="sldImg"/>
          </p:nvPr>
        </p:nvSpPr>
        <p:spPr>
          <a:xfrm>
            <a:off x="914400" y="1143000"/>
            <a:ext cx="731472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g3cee277e4b5_1_21:notes"/>
          <p:cNvSpPr txBox="1"/>
          <p:nvPr>
            <p:ph idx="1" type="body"/>
          </p:nvPr>
        </p:nvSpPr>
        <p:spPr>
          <a:xfrm>
            <a:off x="914400" y="4400640"/>
            <a:ext cx="7314720" cy="3600000"/>
          </a:xfrm>
          <a:prstGeom prst="rect">
            <a:avLst/>
          </a:prstGeom>
          <a:noFill/>
          <a:ln>
            <a:noFill/>
          </a:ln>
        </p:spPr>
        <p:txBody>
          <a:bodyPr anchorCtr="0" anchor="t" bIns="45700" lIns="91425" spcFirstLastPara="1" rIns="91425" wrap="square" tIns="45700">
            <a:noAutofit/>
          </a:bodyPr>
          <a:lstStyle/>
          <a:p>
            <a:pPr indent="-216000" lvl="0" marL="216000" rtl="0" algn="l">
              <a:lnSpc>
                <a:spcPct val="100000"/>
              </a:lnSpc>
              <a:spcBef>
                <a:spcPts val="0"/>
              </a:spcBef>
              <a:spcAft>
                <a:spcPts val="0"/>
              </a:spcAft>
              <a:buSzPts val="1800"/>
              <a:buNone/>
            </a:pPr>
            <a:r>
              <a:t/>
            </a:r>
            <a:endParaRPr b="0" sz="1800" strike="noStrike">
              <a:solidFill>
                <a:srgbClr val="000000"/>
              </a:solidFill>
              <a:latin typeface="Arial"/>
              <a:ea typeface="Arial"/>
              <a:cs typeface="Arial"/>
              <a:sym typeface="Arial"/>
            </a:endParaRPr>
          </a:p>
        </p:txBody>
      </p:sp>
      <p:sp>
        <p:nvSpPr>
          <p:cNvPr id="133" name="Google Shape;133;g3cee277e4b5_1_21:notes"/>
          <p:cNvSpPr txBox="1"/>
          <p:nvPr>
            <p:ph idx="12" type="sldNum"/>
          </p:nvPr>
        </p:nvSpPr>
        <p:spPr>
          <a:xfrm>
            <a:off x="5179680" y="8685360"/>
            <a:ext cx="396192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5d1c309b5_8_4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c5d1c309b5_8_4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This slide answers 'why do we even need this?'</a:t>
            </a:r>
            <a:br>
              <a:rPr lang="en-US"/>
            </a:br>
            <a:br>
              <a:rPr lang="en-US"/>
            </a:br>
            <a:r>
              <a:rPr lang="en-US"/>
              <a:t>Both Layer 1 and Layer 2 analyse the file statically — without running it. That makes them fast, but it also means a clever attacker can evade them.</a:t>
            </a:r>
            <a:br>
              <a:rPr lang="en-US"/>
            </a:br>
            <a:br>
              <a:rPr lang="en-US"/>
            </a:br>
            <a:r>
              <a:rPr lang="en-US"/>
              <a:t>Zero-day = a threat so new that no one has written a signature for it yet.</a:t>
            </a:r>
            <a:br>
              <a:rPr lang="en-US"/>
            </a:br>
            <a:r>
              <a:rPr lang="en-US"/>
              <a:t>Obfuscation = rewriting malware code so it looks different but does the same thing.</a:t>
            </a:r>
            <a:br>
              <a:rPr lang="en-US"/>
            </a:br>
            <a:br>
              <a:rPr lang="en-US"/>
            </a:br>
            <a:r>
              <a:rPr lang="en-US"/>
              <a:t>The sandbox sidesteps both problems entirely — because it does not care how the file looks. It watches what it does.</a:t>
            </a:r>
            <a:endParaRPr/>
          </a:p>
        </p:txBody>
      </p:sp>
      <p:sp>
        <p:nvSpPr>
          <p:cNvPr id="153" name="Google Shape;153;g3c5d1c309b5_8_4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5d1c309b5_8_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c5d1c309b5_8_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This is the most important conceptual slide in Meeting 1.</a:t>
            </a:r>
            <a:br>
              <a:rPr lang="en-US"/>
            </a:br>
            <a:br>
              <a:rPr lang="en-US"/>
            </a:br>
            <a:r>
              <a:rPr lang="en-US"/>
              <a:t>Static analysis is fast and cheap — it works on every file. But it is fundamentally limited because it never sees the file run.</a:t>
            </a:r>
            <a:br>
              <a:rPr lang="en-US"/>
            </a:br>
            <a:br>
              <a:rPr lang="en-US"/>
            </a:br>
            <a:r>
              <a:rPr lang="en-US"/>
              <a:t>Behavioral analysis is slower — 5 to 30 seconds per file — but it cannot be fooled by obfuscation, encryption, or packing. Once a malicious file runs, it has to do something malicious. That action gets recorded.</a:t>
            </a:r>
            <a:br>
              <a:rPr lang="en-US"/>
            </a:br>
            <a:br>
              <a:rPr lang="en-US"/>
            </a:br>
            <a:r>
              <a:rPr lang="en-US"/>
              <a:t>This distinction is backed by research: Guven (2024) and Cozzi et al. (2018) both confirm dynamic analysis catches threats that static methods miss.</a:t>
            </a:r>
            <a:endParaRPr/>
          </a:p>
        </p:txBody>
      </p:sp>
      <p:sp>
        <p:nvSpPr>
          <p:cNvPr id="175" name="Google Shape;175;g3c5d1c309b5_8_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c5d1c309b5_8_9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c5d1c309b5_8_9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This connects to the previous modules the audience already knows.</a:t>
            </a:r>
            <a:br>
              <a:rPr lang="en-US"/>
            </a:br>
            <a:br>
              <a:rPr lang="en-US"/>
            </a:br>
            <a:r>
              <a:rPr lang="en-US"/>
              <a:t>Layers 1 and 2 run on every file. They are fast. The sandbox is slow — 5 to 30 seconds — so we cannot run it on everything.</a:t>
            </a:r>
            <a:br>
              <a:rPr lang="en-US"/>
            </a:br>
            <a:br>
              <a:rPr lang="en-US"/>
            </a:br>
            <a:r>
              <a:rPr lang="en-US"/>
              <a:t>The Game-Theoretic Estimator (already built) decides which files are high-risk enough to deserve sandbox analysis.</a:t>
            </a:r>
            <a:br>
              <a:rPr lang="en-US"/>
            </a:br>
            <a:br>
              <a:rPr lang="en-US"/>
            </a:br>
            <a:r>
              <a:rPr lang="en-US"/>
              <a:t>The sandbox result goes to the Response Manager — allow, quarantine, or block.</a:t>
            </a:r>
            <a:endParaRPr/>
          </a:p>
        </p:txBody>
      </p:sp>
      <p:sp>
        <p:nvSpPr>
          <p:cNvPr id="207" name="Google Shape;207;g3c5d1c309b5_8_9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5d1c309b5_8_13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c5d1c309b5_8_13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This is the 30-second overview of all 8 stages. You do not need to explain each one in depth today — Meeting 2 covers that.</a:t>
            </a:r>
            <a:br>
              <a:rPr lang="en-US"/>
            </a:br>
            <a:br>
              <a:rPr lang="en-US"/>
            </a:br>
            <a:r>
              <a:rPr lang="en-US"/>
              <a:t>The key message here is: this is a complete, structured pipeline. Every step has a specific purpose. Nothing is ad hoc.</a:t>
            </a:r>
            <a:br>
              <a:rPr lang="en-US"/>
            </a:br>
            <a:br>
              <a:rPr lang="en-US"/>
            </a:br>
            <a:r>
              <a:rPr lang="en-US"/>
              <a:t>Stages 1–2: preparation and file identification.</a:t>
            </a:r>
            <a:br>
              <a:rPr lang="en-US"/>
            </a:br>
            <a:r>
              <a:rPr lang="en-US"/>
              <a:t>Stage 3: safety — the host system is protected.</a:t>
            </a:r>
            <a:br>
              <a:rPr lang="en-US"/>
            </a:br>
            <a:r>
              <a:rPr lang="en-US"/>
              <a:t>Stage 4: the core — actual execution with real-time monitoring.</a:t>
            </a:r>
            <a:br>
              <a:rPr lang="en-US"/>
            </a:br>
            <a:r>
              <a:rPr lang="en-US"/>
              <a:t>Stages 5–6: converting observations into a score.</a:t>
            </a:r>
            <a:br>
              <a:rPr lang="en-US"/>
            </a:br>
            <a:r>
              <a:rPr lang="en-US"/>
              <a:t>Stages 7–8: the decision and the learning loop.</a:t>
            </a:r>
            <a:endParaRPr/>
          </a:p>
        </p:txBody>
      </p:sp>
      <p:sp>
        <p:nvSpPr>
          <p:cNvPr id="244" name="Google Shape;244;g3c5d1c309b5_8_13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5d1c309b5_8_18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c5d1c309b5_8_18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These three decisions come up repeatedly in the notebook and in Meeting 2 and 3.</a:t>
            </a:r>
            <a:br>
              <a:rPr lang="en-US"/>
            </a:br>
            <a:br>
              <a:rPr lang="en-US"/>
            </a:br>
            <a:r>
              <a:rPr lang="en-US"/>
              <a:t>Decision 1 — magic bytes: mention the example 'photo.jpg that is actually a shell script'. That lands well with both technical and management audiences.</a:t>
            </a:r>
            <a:br>
              <a:rPr lang="en-US"/>
            </a:br>
            <a:br>
              <a:rPr lang="en-US"/>
            </a:br>
            <a:r>
              <a:rPr lang="en-US"/>
              <a:t>Decision 2 — no password guessing: this was a deliberate change from an earlier design. The reasoning is more defensible and stronger than the alternative.</a:t>
            </a:r>
            <a:br>
              <a:rPr lang="en-US"/>
            </a:br>
            <a:br>
              <a:rPr lang="en-US"/>
            </a:br>
            <a:r>
              <a:rPr lang="en-US"/>
              <a:t>Decision 3 — /proc: this is a technical point that shows the implementation is solid. Management does not need to understand it deeply — the key word is 'cannot be manipulated by the file being monitored'.</a:t>
            </a:r>
            <a:endParaRPr/>
          </a:p>
        </p:txBody>
      </p:sp>
      <p:sp>
        <p:nvSpPr>
          <p:cNvPr id="292" name="Google Shape;292;g3c5d1c309b5_8_18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c5d1c309b5_8_2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c5d1c309b5_8_2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This slide shows WHAT the sandbox observes — not how it observes it technically.</a:t>
            </a:r>
            <a:br>
              <a:rPr lang="en-US"/>
            </a:br>
            <a:br>
              <a:rPr lang="en-US"/>
            </a:br>
            <a:r>
              <a:rPr lang="en-US"/>
              <a:t>All four monitors run simultaneously while the file executes. Any suspicious action in any of these four categories is recorded and contributes to the risk score.</a:t>
            </a:r>
            <a:br>
              <a:rPr lang="en-US"/>
            </a:br>
            <a:br>
              <a:rPr lang="en-US"/>
            </a:br>
            <a:r>
              <a:rPr lang="en-US"/>
              <a:t>Files: writing executables to hidden locations or touching credential files.</a:t>
            </a:r>
            <a:br>
              <a:rPr lang="en-US"/>
            </a:br>
            <a:r>
              <a:rPr lang="en-US"/>
              <a:t>Network: trying to call home to an attacker's server (C2 callback).</a:t>
            </a:r>
            <a:br>
              <a:rPr lang="en-US"/>
            </a:br>
            <a:r>
              <a:rPr lang="en-US"/>
              <a:t>Processes: launching a shell or download tool — typical second-stage attack behaviour.</a:t>
            </a:r>
            <a:br>
              <a:rPr lang="en-US"/>
            </a:br>
            <a:r>
              <a:rPr lang="en-US"/>
              <a:t>Permissions: trying to gain admin-level access to the system.</a:t>
            </a:r>
            <a:endParaRPr/>
          </a:p>
        </p:txBody>
      </p:sp>
      <p:sp>
        <p:nvSpPr>
          <p:cNvPr id="321" name="Google Shape;321;g3c5d1c309b5_8_2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d64fcdd29_2_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g3dd64fcdd29_2_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This slide directly answers the question from Meeting 1.</a:t>
            </a:r>
            <a:br>
              <a:rPr lang="en-US"/>
            </a:br>
            <a:br>
              <a:rPr lang="en-US"/>
            </a:br>
            <a:r>
              <a:rPr lang="en-US"/>
              <a:t>Walk through each tool briefly: 'We looked at four established tools. Cuckoo is the most well-known open-source option — but it requires VM infrastructure and hasn't had major updates since 2016. DRAKVUF is excellent but requires specific Intel hardware we cannot guarantee on every edge node. ANY.RUN is cloud-only — that's a non-starter for classified drone feeds. Joe Sandbox is commercial and general-purpose — no integration path to our estimator.</a:t>
            </a:r>
            <a:br>
              <a:rPr lang="en-US"/>
            </a:br>
            <a:br>
              <a:rPr lang="en-US"/>
            </a:br>
            <a:r>
              <a:rPr lang="en-US"/>
              <a:t>So we built our own. It runs natively on any Linux machine, has zero startup overhead, and is directly wired to our pipeline.'</a:t>
            </a:r>
            <a:endParaRPr/>
          </a:p>
        </p:txBody>
      </p:sp>
      <p:sp>
        <p:nvSpPr>
          <p:cNvPr id="373" name="Google Shape;373;g3dd64fcdd29_2_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d64fcdd29_2_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dd64fcdd29_2_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Keep this on screen for 30 seconds. 'This is the complete pipeline. Stages 1–3 prepare and protect. Stage 4 is the core — the file actually runs here. Stages 5–6 convert observations into a number. Stage 7 gives the verdict. Stage 8 feeds results back to improve the system. Let's go through each one.'</a:t>
            </a:r>
            <a:endParaRPr/>
          </a:p>
        </p:txBody>
      </p:sp>
      <p:sp>
        <p:nvSpPr>
          <p:cNvPr id="412" name="Google Shape;412;g3dd64fcdd29_2_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86fa9f7404_4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g386fa9f7404_4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Explain magic bytes in 30 seconds: 'Every file format is defined by a specification that says exactly what the first bytes should be. A ZIP must start with PK, an ELF binary with 7F ELF, a shell script with #!. These bytes are written by the software that creates the file — not by the person who names it. An attacker can rename malware.sh to photo.jpg but cannot change the first bytes without breaking the file format.'</a:t>
            </a:r>
            <a:br>
              <a:rPr lang="en-US"/>
            </a:br>
            <a:br>
              <a:rPr lang="en-US"/>
            </a:br>
            <a:r>
              <a:rPr lang="en-US"/>
              <a:t>Point to the Windows EXE row: 'We flag .exe files — we cannot safely run them on Linux. They go for manual review or eventually QEMU-based sandboxing — that is on the roadmap.'</a:t>
            </a:r>
            <a:endParaRPr/>
          </a:p>
        </p:txBody>
      </p:sp>
      <p:sp>
        <p:nvSpPr>
          <p:cNvPr id="467" name="Google Shape;467;g386fa9f7404_4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86fa9f7404_4_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g386fa9f7404_4_6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Walk each card in one sentence. Then dwell on the example box.</a:t>
            </a:r>
            <a:br>
              <a:rPr lang="en-US"/>
            </a:br>
            <a:br>
              <a:rPr lang="en-US"/>
            </a:br>
            <a:r>
              <a:rPr lang="en-US"/>
              <a:t>'In the notebook Section 3 demo, we created a file named photo.jpg whose contents start with a #! shebang line. The file router reads the first bytes, identifies a script, and routes it for execution with bash — completely ignoring the .jpg extension. Without magic bytes, this malicious script would have been treated as a harmless image.'</a:t>
            </a:r>
            <a:endParaRPr/>
          </a:p>
        </p:txBody>
      </p:sp>
      <p:sp>
        <p:nvSpPr>
          <p:cNvPr id="536" name="Google Shape;536;g386fa9f7404_4_6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86fa9f7404_4_1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86fa9f7404_4_1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Lead with the statistic. It always lands well.</a:t>
            </a:r>
            <a:br>
              <a:rPr lang="en-US"/>
            </a:br>
            <a:br>
              <a:rPr lang="en-US"/>
            </a:br>
            <a:r>
              <a:rPr lang="en-US"/>
              <a:t>'Archives became the #1 malware delivery mechanism in 2022, overtaking Office documents for the first time. HP Wolf Security tracked this across millions of endpoints. The reason attackers love archives is the same reason they are hard for us — they are legitimate, they are ubiquitous in drone feeds, and when encrypted they are completely opaque to signature scanners.'</a:t>
            </a:r>
            <a:br>
              <a:rPr lang="en-US"/>
            </a:br>
            <a:br>
              <a:rPr lang="en-US"/>
            </a:br>
            <a:r>
              <a:rPr lang="en-US"/>
              <a:t>Then: 'Our response is to open every archive and sandbox what's inside.'</a:t>
            </a:r>
            <a:endParaRPr/>
          </a:p>
        </p:txBody>
      </p:sp>
      <p:sp>
        <p:nvSpPr>
          <p:cNvPr id="581" name="Google Shape;581;g386fa9f7404_4_1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86fa9f7404_4_1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86fa9f7404_4_14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'We had a previous version that tried 10 common passwords like infected, malware, virus. We removed it. The reason: those passwords come from the malware research community — a convention for safely sharing samples between analysts. Our adversary is not a researcher. They are a sophisticated attacker targeting a military drone feed. They would use a randomly generated key, or no encryption at all if they rely on other evasion methods.'</a:t>
            </a:r>
            <a:br>
              <a:rPr lang="en-US"/>
            </a:br>
            <a:br>
              <a:rPr lang="en-US"/>
            </a:br>
            <a:r>
              <a:rPr lang="en-US"/>
              <a:t>'The cleaner, stronger approach: if an archive arrives encrypted with no declared key, that fact itself is suspicious. We add 25 points and move on.'</a:t>
            </a:r>
            <a:endParaRPr/>
          </a:p>
        </p:txBody>
      </p:sp>
      <p:sp>
        <p:nvSpPr>
          <p:cNvPr id="610" name="Google Shape;610;g386fa9f7404_4_14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86fa9f7404_4_1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86fa9f7404_4_1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Walk through each check.</a:t>
            </a:r>
            <a:br>
              <a:rPr lang="en-US"/>
            </a:br>
            <a:br>
              <a:rPr lang="en-US"/>
            </a:br>
            <a:r>
              <a:rPr lang="en-US"/>
              <a:t>Check 1 — double extension: 'recon.jpg.sh — the outer extension .sh is the real type, .jpg is the disguise. We split the filename and check both extensions against known safe and dangerous lists.'</a:t>
            </a:r>
            <a:br>
              <a:rPr lang="en-US"/>
            </a:br>
            <a:br>
              <a:rPr lang="en-US"/>
            </a:br>
            <a:r>
              <a:rPr lang="en-US"/>
              <a:t>Check 2 — ZIP bomb: 'The famous 42.zip is 42 KB compressed but 4.5 petabytes uncompressed. We compute the ratio before extracting. If it is below 0.5% for a large file, we abort.'</a:t>
            </a:r>
            <a:br>
              <a:rPr lang="en-US"/>
            </a:br>
            <a:br>
              <a:rPr lang="en-US"/>
            </a:br>
            <a:r>
              <a:rPr lang="en-US"/>
              <a:t>Check 3 — recursion: 'Attackers nest ZIPs. We follow up to 3 levels and sandbox every file we find. The constant MAX_EXTRACT_DEPTH = 3 is in the notebook code.'</a:t>
            </a:r>
            <a:endParaRPr/>
          </a:p>
        </p:txBody>
      </p:sp>
      <p:sp>
        <p:nvSpPr>
          <p:cNvPr id="645" name="Google Shape;645;g386fa9f7404_4_1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86fa9f7404_4_2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g386fa9f7404_4_2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Key message: we are not relying on our Python code to contain the malware. We hand that responsibility to the Linux kernel.</a:t>
            </a:r>
            <a:br>
              <a:rPr lang="en-US"/>
            </a:br>
            <a:br>
              <a:rPr lang="en-US"/>
            </a:br>
            <a:r>
              <a:rPr lang="en-US"/>
              <a:t>The wall clock timer is worth explaining separately: 'The CPU limit is 20 seconds of actual CPU time. But a file could sleep() for 25 seconds using almost no CPU. The wall clock watchdog catches that — it sends SIGKILL after 30 seconds regardless of CPU usage.'</a:t>
            </a:r>
            <a:endParaRPr/>
          </a:p>
        </p:txBody>
      </p:sp>
      <p:sp>
        <p:nvSpPr>
          <p:cNvPr id="684" name="Google Shape;684;g386fa9f7404_4_2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86fa9f7404_4_2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g386fa9f7404_4_28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Each step closes a specific evasion vector.</a:t>
            </a:r>
            <a:br>
              <a:rPr lang="en-US"/>
            </a:br>
            <a:br>
              <a:rPr lang="en-US"/>
            </a:br>
            <a:r>
              <a:rPr lang="en-US"/>
              <a:t>preexec_fn: there is no window between process creation and limits being applied. Malware has no chance to run unconstrained.</a:t>
            </a:r>
            <a:br>
              <a:rPr lang="en-US"/>
            </a:br>
            <a:br>
              <a:rPr lang="en-US"/>
            </a:br>
            <a:r>
              <a:rPr lang="en-US"/>
              <a:t>Empty env: well-documented sandbox evasion technique — malware checks for common analysis environment indicators. By passing env={} we remove all of them. You can show this in the notebook code — the line 'env = {}' with the comment 'no env variable leakage'.</a:t>
            </a:r>
            <a:br>
              <a:rPr lang="en-US"/>
            </a:br>
            <a:br>
              <a:rPr lang="en-US"/>
            </a:br>
            <a:r>
              <a:rPr lang="en-US"/>
              <a:t>Isolated directory: any dropper files the malware creates are contained. We can inspect them afterward as part of the file system monitor output.</a:t>
            </a:r>
            <a:endParaRPr/>
          </a:p>
        </p:txBody>
      </p:sp>
      <p:sp>
        <p:nvSpPr>
          <p:cNvPr id="753" name="Google Shape;753;g386fa9f7404_4_28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86fa9f7404_4_3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g386fa9f7404_4_31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Spend 90 seconds here — this is the foundation for the next four slides.</a:t>
            </a:r>
            <a:br>
              <a:rPr lang="en-US"/>
            </a:br>
            <a:br>
              <a:rPr lang="en-US"/>
            </a:br>
            <a:r>
              <a:rPr lang="en-US"/>
              <a:t>Key message: the process being monitored cannot lie to the kernel about itself. /proc shows the kernel's own view of the process. This is fundamentally different from user-space monitoring tools that can be interfered with.</a:t>
            </a:r>
            <a:br>
              <a:rPr lang="en-US"/>
            </a:br>
            <a:br>
              <a:rPr lang="en-US"/>
            </a:br>
            <a:r>
              <a:rPr lang="en-US"/>
              <a:t>Mention polling interval: every 200ms. Fast enough to catch most malicious actions, light enough to not create overhead.</a:t>
            </a:r>
            <a:endParaRPr/>
          </a:p>
        </p:txBody>
      </p:sp>
      <p:sp>
        <p:nvSpPr>
          <p:cNvPr id="789" name="Google Shape;789;g386fa9f7404_4_31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86fa9f7404_4_3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g386fa9f7404_4_35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'Every file the process has open appears as a numbered entry in /proc/PID/fd/. Each entry is a symlink to the actual path. We read that path and check if it starts with a suspicious location.'</a:t>
            </a:r>
            <a:br>
              <a:rPr lang="en-US"/>
            </a:br>
            <a:br>
              <a:rPr lang="en-US"/>
            </a:br>
            <a:r>
              <a:rPr lang="en-US"/>
              <a:t>'fdinfo tells us whether the file was opened for writing. A read-only open of /etc/passwd is less alarming than a write-mode open.'</a:t>
            </a:r>
            <a:br>
              <a:rPr lang="en-US"/>
            </a:br>
            <a:br>
              <a:rPr lang="en-US"/>
            </a:br>
            <a:r>
              <a:rPr lang="en-US"/>
              <a:t>For the example: 'malware.py copies itself to /tmp/.hidden_malware.py. That combination — suspicious path + .py extension + write mode — fires the file_write_executable event at +30 points. You can see this exact output in the Section 6 demo in the notebook.'</a:t>
            </a:r>
            <a:endParaRPr/>
          </a:p>
        </p:txBody>
      </p:sp>
      <p:sp>
        <p:nvSpPr>
          <p:cNvPr id="827" name="Google Shape;827;g386fa9f7404_4_35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86fa9f7404_4_389: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3" name="Google Shape;863;g386fa9f7404_4_38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86fa9f7404_4_428: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3" name="Google Shape;903;g386fa9f7404_4_4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86fa9f7404_4_458: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4" name="Google Shape;934;g386fa9f7404_4_4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86fa9f7404_4_486: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3" name="Google Shape;963;g386fa9f7404_4_4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86fa9f7404_4_527: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5" name="Google Shape;1005;g386fa9f7404_4_5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86fa9f7404_4_569: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8" name="Google Shape;1048;g386fa9f7404_4_5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86fa9f7404_4_638: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8" name="Google Shape;1118;g386fa9f7404_4_6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86fa9f7404_4_689: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0" name="Google Shape;1170;g386fa9f7404_4_68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86fa9f7404_4_743: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5" name="Google Shape;1225;g386fa9f7404_4_7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386fa9f7404_4_772: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5" name="Google Shape;1255;g386fa9f7404_4_77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86fa9f7404_4_801: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5" name="Google Shape;1285;g386fa9f7404_4_8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386fa9f7404_4_848: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3" name="Google Shape;1333;g386fa9f7404_4_8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386fa9f7404_4_905: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1" name="Google Shape;1391;g386fa9f7404_4_90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386fa9f7404_4_1011: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8" name="Google Shape;1498;g386fa9f7404_4_10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386fa9f7404_4_1043: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1" name="Google Shape;1531;g386fa9f7404_4_10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g386fa9f7404_4_1077: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6" name="Google Shape;1566;g386fa9f7404_4_10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386fa9f7404_4_1107: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7" name="Google Shape;1597;g386fa9f7404_4_11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386fa9f7404_4_1175: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6" name="Google Shape;1666;g386fa9f7404_4_11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g386fa9f7404_4_1204: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6" name="Google Shape;1696;g386fa9f7404_4_12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386fa9f7404_4_1245:notes"/>
          <p:cNvSpPr txBox="1"/>
          <p:nvPr>
            <p:ph idx="1" type="body"/>
          </p:nvPr>
        </p:nvSpPr>
        <p:spPr>
          <a:xfrm>
            <a:off x="914400" y="4400550"/>
            <a:ext cx="73152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8" name="Google Shape;1738;g386fa9f7404_4_12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6"/>
          <p:cNvSpPr/>
          <p:nvPr>
            <p:ph idx="2" type="pic"/>
          </p:nvPr>
        </p:nvSpPr>
        <p:spPr>
          <a:xfrm>
            <a:off x="1792288" y="612775"/>
            <a:ext cx="5486400" cy="4114800"/>
          </a:xfrm>
          <a:prstGeom prst="rect">
            <a:avLst/>
          </a:prstGeom>
          <a:noFill/>
          <a:ln>
            <a:noFill/>
          </a:ln>
        </p:spPr>
      </p:sp>
      <p:sp>
        <p:nvSpPr>
          <p:cNvPr id="64" name="Google Shape;64;p4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1" name="Shape 8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85" name="Shape 8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g3cee277e4b5_1_0"/>
          <p:cNvSpPr txBox="1"/>
          <p:nvPr>
            <p:ph type="title"/>
          </p:nvPr>
        </p:nvSpPr>
        <p:spPr>
          <a:xfrm>
            <a:off x="609600" y="273600"/>
            <a:ext cx="1097232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9pPr>
          </a:lstStyle>
          <a:p/>
        </p:txBody>
      </p:sp>
      <p:sp>
        <p:nvSpPr>
          <p:cNvPr id="84" name="Google Shape;84;g3cee277e4b5_1_0"/>
          <p:cNvSpPr txBox="1"/>
          <p:nvPr>
            <p:ph idx="1" type="body"/>
          </p:nvPr>
        </p:nvSpPr>
        <p:spPr>
          <a:xfrm>
            <a:off x="609600" y="1604640"/>
            <a:ext cx="1097232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5C"/>
        </a:solidFill>
      </p:bgPr>
    </p:bg>
    <p:spTree>
      <p:nvGrpSpPr>
        <p:cNvPr id="90" name="Shape 90"/>
        <p:cNvGrpSpPr/>
        <p:nvPr/>
      </p:nvGrpSpPr>
      <p:grpSpPr>
        <a:xfrm>
          <a:off x="0" y="0"/>
          <a:ext cx="0" cy="0"/>
          <a:chOff x="0" y="0"/>
          <a:chExt cx="0" cy="0"/>
        </a:xfrm>
      </p:grpSpPr>
      <p:sp>
        <p:nvSpPr>
          <p:cNvPr id="91" name="Google Shape;91;g3c5d1c309b5_8_0"/>
          <p:cNvSpPr/>
          <p:nvPr/>
        </p:nvSpPr>
        <p:spPr>
          <a:xfrm>
            <a:off x="0" y="0"/>
            <a:ext cx="12192000" cy="121920"/>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3c5d1c309b5_8_0"/>
          <p:cNvSpPr/>
          <p:nvPr/>
        </p:nvSpPr>
        <p:spPr>
          <a:xfrm>
            <a:off x="731520" y="2011680"/>
            <a:ext cx="10972800" cy="1584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Sandbox Analyzer</a:t>
            </a:r>
            <a:endParaRPr b="0" i="0" sz="6400" u="none" cap="none" strike="noStrike">
              <a:solidFill>
                <a:schemeClr val="dk1"/>
              </a:solidFill>
              <a:latin typeface="Calibri"/>
              <a:ea typeface="Calibri"/>
              <a:cs typeface="Calibri"/>
              <a:sym typeface="Calibri"/>
            </a:endParaRPr>
          </a:p>
        </p:txBody>
      </p:sp>
      <p:sp>
        <p:nvSpPr>
          <p:cNvPr id="93" name="Google Shape;93;g3c5d1c309b5_8_0"/>
          <p:cNvSpPr/>
          <p:nvPr/>
        </p:nvSpPr>
        <p:spPr>
          <a:xfrm>
            <a:off x="731520" y="3596640"/>
            <a:ext cx="1097280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2900"/>
              <a:buFont typeface="Calibri"/>
              <a:buNone/>
            </a:pPr>
            <a:r>
              <a:rPr b="0" i="0" lang="en-US" sz="2900" u="none" cap="none" strike="noStrike">
                <a:solidFill>
                  <a:srgbClr val="AED6F1"/>
                </a:solidFill>
                <a:latin typeface="Calibri"/>
                <a:ea typeface="Calibri"/>
                <a:cs typeface="Calibri"/>
                <a:sym typeface="Calibri"/>
              </a:rPr>
              <a:t>Complete Overview</a:t>
            </a:r>
            <a:endParaRPr b="0" i="0" sz="2900" u="none" cap="none" strike="noStrike">
              <a:solidFill>
                <a:schemeClr val="dk1"/>
              </a:solidFill>
              <a:latin typeface="Calibri"/>
              <a:ea typeface="Calibri"/>
              <a:cs typeface="Calibri"/>
              <a:sym typeface="Calibri"/>
            </a:endParaRPr>
          </a:p>
        </p:txBody>
      </p:sp>
      <p:sp>
        <p:nvSpPr>
          <p:cNvPr id="94" name="Google Shape;94;g3c5d1c309b5_8_0"/>
          <p:cNvSpPr/>
          <p:nvPr/>
        </p:nvSpPr>
        <p:spPr>
          <a:xfrm>
            <a:off x="731520" y="4413504"/>
            <a:ext cx="1036320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900"/>
              <a:buFont typeface="Calibri"/>
              <a:buNone/>
            </a:pPr>
            <a:r>
              <a:rPr b="0" i="0" lang="en-US" sz="1900" u="none" cap="none" strike="noStrike">
                <a:solidFill>
                  <a:srgbClr val="5D8AA8"/>
                </a:solidFill>
                <a:latin typeface="Calibri"/>
                <a:ea typeface="Calibri"/>
                <a:cs typeface="Calibri"/>
                <a:sym typeface="Calibri"/>
              </a:rPr>
              <a:t>Detection &amp; Prevention of Malware in RPA / Drone Feeds</a:t>
            </a:r>
            <a:endParaRPr b="0" i="0" sz="1900" u="none" cap="none" strike="noStrike">
              <a:solidFill>
                <a:schemeClr val="dk1"/>
              </a:solidFill>
              <a:latin typeface="Calibri"/>
              <a:ea typeface="Calibri"/>
              <a:cs typeface="Calibri"/>
              <a:sym typeface="Calibri"/>
            </a:endParaRPr>
          </a:p>
        </p:txBody>
      </p:sp>
      <p:sp>
        <p:nvSpPr>
          <p:cNvPr id="95" name="Google Shape;95;g3c5d1c309b5_8_0"/>
          <p:cNvSpPr/>
          <p:nvPr/>
        </p:nvSpPr>
        <p:spPr>
          <a:xfrm>
            <a:off x="0" y="5974080"/>
            <a:ext cx="12192000" cy="877824"/>
          </a:xfrm>
          <a:prstGeom prst="rect">
            <a:avLst/>
          </a:prstGeom>
          <a:solidFill>
            <a:srgbClr val="142840"/>
          </a:solidFill>
          <a:ln cap="flat" cmpd="sng" w="12700">
            <a:solidFill>
              <a:srgbClr val="14284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00" name="Shape 100"/>
        <p:cNvGrpSpPr/>
        <p:nvPr/>
      </p:nvGrpSpPr>
      <p:grpSpPr>
        <a:xfrm>
          <a:off x="0" y="0"/>
          <a:ext cx="0" cy="0"/>
          <a:chOff x="0" y="0"/>
          <a:chExt cx="0" cy="0"/>
        </a:xfrm>
      </p:grpSpPr>
      <p:sp>
        <p:nvSpPr>
          <p:cNvPr id="101" name="Google Shape;101;g3c5d1c309b5_8_14"/>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c5d1c309b5_8_14"/>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Project Progress — Where We Stand</a:t>
            </a:r>
            <a:endParaRPr b="0" i="0" sz="2700" u="none" cap="none" strike="noStrike">
              <a:solidFill>
                <a:schemeClr val="dk1"/>
              </a:solidFill>
              <a:latin typeface="Calibri"/>
              <a:ea typeface="Calibri"/>
              <a:cs typeface="Calibri"/>
              <a:sym typeface="Calibri"/>
            </a:endParaRPr>
          </a:p>
        </p:txBody>
      </p:sp>
      <p:sp>
        <p:nvSpPr>
          <p:cNvPr id="103" name="Google Shape;103;g3c5d1c309b5_8_14"/>
          <p:cNvSpPr/>
          <p:nvPr/>
        </p:nvSpPr>
        <p:spPr>
          <a:xfrm>
            <a:off x="548640" y="1036320"/>
            <a:ext cx="1109472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The Sandbox Analyzer is the third module in the detection pipeline — currently in active development.</a:t>
            </a:r>
            <a:endParaRPr b="0" i="0" sz="1700" u="none" cap="none" strike="noStrike">
              <a:solidFill>
                <a:schemeClr val="dk1"/>
              </a:solidFill>
              <a:latin typeface="Calibri"/>
              <a:ea typeface="Calibri"/>
              <a:cs typeface="Calibri"/>
              <a:sym typeface="Calibri"/>
            </a:endParaRPr>
          </a:p>
        </p:txBody>
      </p:sp>
      <p:sp>
        <p:nvSpPr>
          <p:cNvPr id="104" name="Google Shape;104;g3c5d1c309b5_8_14"/>
          <p:cNvSpPr/>
          <p:nvPr/>
        </p:nvSpPr>
        <p:spPr>
          <a:xfrm>
            <a:off x="487680" y="1889760"/>
            <a:ext cx="2048256" cy="213360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3c5d1c309b5_8_14"/>
          <p:cNvSpPr/>
          <p:nvPr/>
        </p:nvSpPr>
        <p:spPr>
          <a:xfrm>
            <a:off x="487680" y="1889760"/>
            <a:ext cx="2048256" cy="97536"/>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3c5d1c309b5_8_14"/>
          <p:cNvSpPr/>
          <p:nvPr/>
        </p:nvSpPr>
        <p:spPr>
          <a:xfrm>
            <a:off x="487680" y="2109216"/>
            <a:ext cx="2048256"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900"/>
              <a:buFont typeface="Calibri"/>
              <a:buNone/>
            </a:pPr>
            <a:r>
              <a:rPr b="1" i="0" lang="en-US" sz="2900" u="none" cap="none" strike="noStrike">
                <a:solidFill>
                  <a:srgbClr val="2471A3"/>
                </a:solidFill>
                <a:latin typeface="Calibri"/>
                <a:ea typeface="Calibri"/>
                <a:cs typeface="Calibri"/>
                <a:sym typeface="Calibri"/>
              </a:rPr>
              <a:t>1</a:t>
            </a:r>
            <a:endParaRPr b="0" i="0" sz="2900" u="none" cap="none" strike="noStrike">
              <a:solidFill>
                <a:schemeClr val="dk1"/>
              </a:solidFill>
              <a:latin typeface="Calibri"/>
              <a:ea typeface="Calibri"/>
              <a:cs typeface="Calibri"/>
              <a:sym typeface="Calibri"/>
            </a:endParaRPr>
          </a:p>
        </p:txBody>
      </p:sp>
      <p:sp>
        <p:nvSpPr>
          <p:cNvPr id="107" name="Google Shape;107;g3c5d1c309b5_8_14"/>
          <p:cNvSpPr/>
          <p:nvPr/>
        </p:nvSpPr>
        <p:spPr>
          <a:xfrm>
            <a:off x="609600" y="2804160"/>
            <a:ext cx="1804416" cy="1036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Ingestion</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Interceptor</a:t>
            </a:r>
            <a:endParaRPr b="0" i="0" sz="1600" u="none" cap="none" strike="noStrike">
              <a:solidFill>
                <a:schemeClr val="dk1"/>
              </a:solidFill>
              <a:latin typeface="Calibri"/>
              <a:ea typeface="Calibri"/>
              <a:cs typeface="Calibri"/>
              <a:sym typeface="Calibri"/>
            </a:endParaRPr>
          </a:p>
        </p:txBody>
      </p:sp>
      <p:sp>
        <p:nvSpPr>
          <p:cNvPr id="108" name="Google Shape;108;g3c5d1c309b5_8_14"/>
          <p:cNvSpPr/>
          <p:nvPr/>
        </p:nvSpPr>
        <p:spPr>
          <a:xfrm>
            <a:off x="2560320" y="2621280"/>
            <a:ext cx="304800" cy="853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400"/>
              <a:buFont typeface="Calibri"/>
              <a:buNone/>
            </a:pPr>
            <a:r>
              <a:rPr b="0" i="0" lang="en-US" sz="2400" u="none" cap="none" strike="noStrike">
                <a:solidFill>
                  <a:srgbClr val="2471A3"/>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09" name="Google Shape;109;g3c5d1c309b5_8_14"/>
          <p:cNvSpPr/>
          <p:nvPr/>
        </p:nvSpPr>
        <p:spPr>
          <a:xfrm>
            <a:off x="2779776" y="1889760"/>
            <a:ext cx="2048256" cy="213360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c5d1c309b5_8_14"/>
          <p:cNvSpPr/>
          <p:nvPr/>
        </p:nvSpPr>
        <p:spPr>
          <a:xfrm>
            <a:off x="2779776" y="1889760"/>
            <a:ext cx="2048256" cy="97536"/>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c5d1c309b5_8_14"/>
          <p:cNvSpPr/>
          <p:nvPr/>
        </p:nvSpPr>
        <p:spPr>
          <a:xfrm>
            <a:off x="2779776" y="2109216"/>
            <a:ext cx="2048256"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900"/>
              <a:buFont typeface="Calibri"/>
              <a:buNone/>
            </a:pPr>
            <a:r>
              <a:rPr b="1" i="0" lang="en-US" sz="2900" u="none" cap="none" strike="noStrike">
                <a:solidFill>
                  <a:srgbClr val="2471A3"/>
                </a:solidFill>
                <a:latin typeface="Calibri"/>
                <a:ea typeface="Calibri"/>
                <a:cs typeface="Calibri"/>
                <a:sym typeface="Calibri"/>
              </a:rPr>
              <a:t>2</a:t>
            </a:r>
            <a:endParaRPr b="0" i="0" sz="2900" u="none" cap="none" strike="noStrike">
              <a:solidFill>
                <a:schemeClr val="dk1"/>
              </a:solidFill>
              <a:latin typeface="Calibri"/>
              <a:ea typeface="Calibri"/>
              <a:cs typeface="Calibri"/>
              <a:sym typeface="Calibri"/>
            </a:endParaRPr>
          </a:p>
        </p:txBody>
      </p:sp>
      <p:sp>
        <p:nvSpPr>
          <p:cNvPr id="112" name="Google Shape;112;g3c5d1c309b5_8_14"/>
          <p:cNvSpPr/>
          <p:nvPr/>
        </p:nvSpPr>
        <p:spPr>
          <a:xfrm>
            <a:off x="2901696" y="2804160"/>
            <a:ext cx="1804416" cy="1036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Game-Theoretic</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Threat Estimator</a:t>
            </a:r>
            <a:endParaRPr b="0" i="0" sz="1600" u="none" cap="none" strike="noStrike">
              <a:solidFill>
                <a:schemeClr val="dk1"/>
              </a:solidFill>
              <a:latin typeface="Calibri"/>
              <a:ea typeface="Calibri"/>
              <a:cs typeface="Calibri"/>
              <a:sym typeface="Calibri"/>
            </a:endParaRPr>
          </a:p>
        </p:txBody>
      </p:sp>
      <p:sp>
        <p:nvSpPr>
          <p:cNvPr id="113" name="Google Shape;113;g3c5d1c309b5_8_14"/>
          <p:cNvSpPr/>
          <p:nvPr/>
        </p:nvSpPr>
        <p:spPr>
          <a:xfrm>
            <a:off x="4852416" y="2621280"/>
            <a:ext cx="304800" cy="853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400"/>
              <a:buFont typeface="Calibri"/>
              <a:buNone/>
            </a:pPr>
            <a:r>
              <a:rPr b="0" i="0" lang="en-US" sz="2400" u="none" cap="none" strike="noStrike">
                <a:solidFill>
                  <a:srgbClr val="2471A3"/>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14" name="Google Shape;114;g3c5d1c309b5_8_14"/>
          <p:cNvSpPr/>
          <p:nvPr/>
        </p:nvSpPr>
        <p:spPr>
          <a:xfrm>
            <a:off x="5071872" y="1889760"/>
            <a:ext cx="2048256" cy="2133600"/>
          </a:xfrm>
          <a:prstGeom prst="rect">
            <a:avLst/>
          </a:prstGeom>
          <a:solidFill>
            <a:srgbClr val="FDEBD0"/>
          </a:solidFill>
          <a:ln cap="flat" cmpd="sng" w="2540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3c5d1c309b5_8_14"/>
          <p:cNvSpPr/>
          <p:nvPr/>
        </p:nvSpPr>
        <p:spPr>
          <a:xfrm>
            <a:off x="5071872" y="1889760"/>
            <a:ext cx="2048256" cy="97536"/>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c5d1c309b5_8_14"/>
          <p:cNvSpPr/>
          <p:nvPr/>
        </p:nvSpPr>
        <p:spPr>
          <a:xfrm>
            <a:off x="5071872" y="2109216"/>
            <a:ext cx="2048256"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2900"/>
              <a:buFont typeface="Calibri"/>
              <a:buNone/>
            </a:pPr>
            <a:r>
              <a:rPr b="1" i="0" lang="en-US" sz="2900" u="none" cap="none" strike="noStrike">
                <a:solidFill>
                  <a:srgbClr val="CA6F1E"/>
                </a:solidFill>
                <a:latin typeface="Calibri"/>
                <a:ea typeface="Calibri"/>
                <a:cs typeface="Calibri"/>
                <a:sym typeface="Calibri"/>
              </a:rPr>
              <a:t>3</a:t>
            </a:r>
            <a:endParaRPr b="0" i="0" sz="2900" u="none" cap="none" strike="noStrike">
              <a:solidFill>
                <a:schemeClr val="dk1"/>
              </a:solidFill>
              <a:latin typeface="Calibri"/>
              <a:ea typeface="Calibri"/>
              <a:cs typeface="Calibri"/>
              <a:sym typeface="Calibri"/>
            </a:endParaRPr>
          </a:p>
        </p:txBody>
      </p:sp>
      <p:sp>
        <p:nvSpPr>
          <p:cNvPr id="117" name="Google Shape;117;g3c5d1c309b5_8_14"/>
          <p:cNvSpPr/>
          <p:nvPr/>
        </p:nvSpPr>
        <p:spPr>
          <a:xfrm>
            <a:off x="5193792" y="2804160"/>
            <a:ext cx="1804416" cy="1036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Sandbox</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Analyzer</a:t>
            </a:r>
            <a:endParaRPr b="0" i="0" sz="1600" u="none" cap="none" strike="noStrike">
              <a:solidFill>
                <a:schemeClr val="dk1"/>
              </a:solidFill>
              <a:latin typeface="Calibri"/>
              <a:ea typeface="Calibri"/>
              <a:cs typeface="Calibri"/>
              <a:sym typeface="Calibri"/>
            </a:endParaRPr>
          </a:p>
        </p:txBody>
      </p:sp>
      <p:sp>
        <p:nvSpPr>
          <p:cNvPr id="118" name="Google Shape;118;g3c5d1c309b5_8_14"/>
          <p:cNvSpPr/>
          <p:nvPr/>
        </p:nvSpPr>
        <p:spPr>
          <a:xfrm>
            <a:off x="7144512" y="2621280"/>
            <a:ext cx="304800" cy="853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400"/>
              <a:buFont typeface="Calibri"/>
              <a:buNone/>
            </a:pPr>
            <a:r>
              <a:rPr b="0" i="0" lang="en-US" sz="2400" u="none" cap="none" strike="noStrike">
                <a:solidFill>
                  <a:srgbClr val="2471A3"/>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19" name="Google Shape;119;g3c5d1c309b5_8_14"/>
          <p:cNvSpPr/>
          <p:nvPr/>
        </p:nvSpPr>
        <p:spPr>
          <a:xfrm>
            <a:off x="7363968" y="1889760"/>
            <a:ext cx="2048256" cy="213360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3c5d1c309b5_8_14"/>
          <p:cNvSpPr/>
          <p:nvPr/>
        </p:nvSpPr>
        <p:spPr>
          <a:xfrm>
            <a:off x="7363968" y="1889760"/>
            <a:ext cx="2048256" cy="97536"/>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c5d1c309b5_8_14"/>
          <p:cNvSpPr/>
          <p:nvPr/>
        </p:nvSpPr>
        <p:spPr>
          <a:xfrm>
            <a:off x="7363968" y="2109216"/>
            <a:ext cx="2048256"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900"/>
              <a:buFont typeface="Calibri"/>
              <a:buNone/>
            </a:pPr>
            <a:r>
              <a:rPr b="1" i="0" lang="en-US" sz="2900" u="none" cap="none" strike="noStrike">
                <a:solidFill>
                  <a:srgbClr val="2471A3"/>
                </a:solidFill>
                <a:latin typeface="Calibri"/>
                <a:ea typeface="Calibri"/>
                <a:cs typeface="Calibri"/>
                <a:sym typeface="Calibri"/>
              </a:rPr>
              <a:t>4</a:t>
            </a:r>
            <a:endParaRPr b="0" i="0" sz="2900" u="none" cap="none" strike="noStrike">
              <a:solidFill>
                <a:schemeClr val="dk1"/>
              </a:solidFill>
              <a:latin typeface="Calibri"/>
              <a:ea typeface="Calibri"/>
              <a:cs typeface="Calibri"/>
              <a:sym typeface="Calibri"/>
            </a:endParaRPr>
          </a:p>
        </p:txBody>
      </p:sp>
      <p:sp>
        <p:nvSpPr>
          <p:cNvPr id="122" name="Google Shape;122;g3c5d1c309b5_8_14"/>
          <p:cNvSpPr/>
          <p:nvPr/>
        </p:nvSpPr>
        <p:spPr>
          <a:xfrm>
            <a:off x="7485888" y="2804160"/>
            <a:ext cx="1804416" cy="1036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Metadata</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Sanitizer</a:t>
            </a:r>
            <a:endParaRPr b="0" i="0" sz="1600" u="none" cap="none" strike="noStrike">
              <a:solidFill>
                <a:schemeClr val="dk1"/>
              </a:solidFill>
              <a:latin typeface="Calibri"/>
              <a:ea typeface="Calibri"/>
              <a:cs typeface="Calibri"/>
              <a:sym typeface="Calibri"/>
            </a:endParaRPr>
          </a:p>
        </p:txBody>
      </p:sp>
      <p:sp>
        <p:nvSpPr>
          <p:cNvPr id="123" name="Google Shape;123;g3c5d1c309b5_8_14"/>
          <p:cNvSpPr/>
          <p:nvPr/>
        </p:nvSpPr>
        <p:spPr>
          <a:xfrm>
            <a:off x="9436608" y="2621280"/>
            <a:ext cx="304800" cy="853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400"/>
              <a:buFont typeface="Calibri"/>
              <a:buNone/>
            </a:pPr>
            <a:r>
              <a:rPr b="0" i="0" lang="en-US" sz="2400" u="none" cap="none" strike="noStrike">
                <a:solidFill>
                  <a:srgbClr val="2471A3"/>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24" name="Google Shape;124;g3c5d1c309b5_8_14"/>
          <p:cNvSpPr/>
          <p:nvPr/>
        </p:nvSpPr>
        <p:spPr>
          <a:xfrm>
            <a:off x="9656064" y="1889760"/>
            <a:ext cx="2048256" cy="213360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3c5d1c309b5_8_14"/>
          <p:cNvSpPr/>
          <p:nvPr/>
        </p:nvSpPr>
        <p:spPr>
          <a:xfrm>
            <a:off x="9656064" y="1889760"/>
            <a:ext cx="2048256" cy="97536"/>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3c5d1c309b5_8_14"/>
          <p:cNvSpPr/>
          <p:nvPr/>
        </p:nvSpPr>
        <p:spPr>
          <a:xfrm>
            <a:off x="9656064" y="2109216"/>
            <a:ext cx="2048256"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900"/>
              <a:buFont typeface="Calibri"/>
              <a:buNone/>
            </a:pPr>
            <a:r>
              <a:rPr b="1" i="0" lang="en-US" sz="2900" u="none" cap="none" strike="noStrike">
                <a:solidFill>
                  <a:srgbClr val="2471A3"/>
                </a:solidFill>
                <a:latin typeface="Calibri"/>
                <a:ea typeface="Calibri"/>
                <a:cs typeface="Calibri"/>
                <a:sym typeface="Calibri"/>
              </a:rPr>
              <a:t>5</a:t>
            </a:r>
            <a:endParaRPr b="0" i="0" sz="2900" u="none" cap="none" strike="noStrike">
              <a:solidFill>
                <a:schemeClr val="dk1"/>
              </a:solidFill>
              <a:latin typeface="Calibri"/>
              <a:ea typeface="Calibri"/>
              <a:cs typeface="Calibri"/>
              <a:sym typeface="Calibri"/>
            </a:endParaRPr>
          </a:p>
        </p:txBody>
      </p:sp>
      <p:sp>
        <p:nvSpPr>
          <p:cNvPr id="127" name="Google Shape;127;g3c5d1c309b5_8_14"/>
          <p:cNvSpPr/>
          <p:nvPr/>
        </p:nvSpPr>
        <p:spPr>
          <a:xfrm>
            <a:off x="9777984" y="2804160"/>
            <a:ext cx="1804416" cy="1036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Response</a:t>
            </a:r>
            <a:endParaRPr b="0"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Manager</a:t>
            </a:r>
            <a:endParaRPr b="0" i="0" sz="1600" u="none" cap="none" strike="noStrike">
              <a:solidFill>
                <a:schemeClr val="dk1"/>
              </a:solidFill>
              <a:latin typeface="Calibri"/>
              <a:ea typeface="Calibri"/>
              <a:cs typeface="Calibri"/>
              <a:sym typeface="Calibri"/>
            </a:endParaRPr>
          </a:p>
        </p:txBody>
      </p:sp>
      <p:sp>
        <p:nvSpPr>
          <p:cNvPr id="128" name="Google Shape;128;g3c5d1c309b5_8_14"/>
          <p:cNvSpPr/>
          <p:nvPr/>
        </p:nvSpPr>
        <p:spPr>
          <a:xfrm>
            <a:off x="487680" y="4535424"/>
            <a:ext cx="11216640" cy="707136"/>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c5d1c309b5_8_14"/>
          <p:cNvSpPr/>
          <p:nvPr/>
        </p:nvSpPr>
        <p:spPr>
          <a:xfrm>
            <a:off x="731520" y="4535424"/>
            <a:ext cx="1072896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700"/>
              <a:buFont typeface="Calibri"/>
              <a:buNone/>
            </a:pPr>
            <a:r>
              <a:rPr b="0" i="0" lang="en-US" sz="1700" u="none" cap="none" strike="noStrike">
                <a:solidFill>
                  <a:srgbClr val="1B3A5C"/>
                </a:solidFill>
                <a:latin typeface="Calibri"/>
                <a:ea typeface="Calibri"/>
                <a:cs typeface="Calibri"/>
                <a:sym typeface="Calibri"/>
              </a:rPr>
              <a:t>Today's focus: Sandbox Analyzer — what it is, why it matters, and what has been built.</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34" name="Shape 134"/>
        <p:cNvGrpSpPr/>
        <p:nvPr/>
      </p:nvGrpSpPr>
      <p:grpSpPr>
        <a:xfrm>
          <a:off x="0" y="0"/>
          <a:ext cx="0" cy="0"/>
          <a:chOff x="0" y="0"/>
          <a:chExt cx="0" cy="0"/>
        </a:xfrm>
      </p:grpSpPr>
      <p:sp>
        <p:nvSpPr>
          <p:cNvPr id="135" name="Google Shape;135;g3cee277e4b5_1_21"/>
          <p:cNvSpPr/>
          <p:nvPr/>
        </p:nvSpPr>
        <p:spPr>
          <a:xfrm>
            <a:off x="0" y="0"/>
            <a:ext cx="12191520" cy="913920"/>
          </a:xfrm>
          <a:prstGeom prst="rect">
            <a:avLst/>
          </a:prstGeom>
          <a:solidFill>
            <a:srgbClr val="0D1B2A"/>
          </a:solidFill>
          <a:ln cap="flat" cmpd="sng" w="12700">
            <a:solidFill>
              <a:srgbClr val="0D1B2A"/>
            </a:solidFill>
            <a:prstDash val="solid"/>
            <a:round/>
            <a:headEnd len="sm" w="sm" type="none"/>
            <a:tailEnd len="sm" w="sm" type="none"/>
          </a:ln>
        </p:spPr>
        <p:txBody>
          <a:bodyPr anchorCtr="0" anchor="t" bIns="60000" lIns="120000" spcFirstLastPara="1" rIns="120000" wrap="square" tIns="600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Arial"/>
              <a:ea typeface="Arial"/>
              <a:cs typeface="Arial"/>
              <a:sym typeface="Arial"/>
            </a:endParaRPr>
          </a:p>
        </p:txBody>
      </p:sp>
      <p:sp>
        <p:nvSpPr>
          <p:cNvPr id="136" name="Google Shape;136;g3cee277e4b5_1_21"/>
          <p:cNvSpPr/>
          <p:nvPr/>
        </p:nvSpPr>
        <p:spPr>
          <a:xfrm>
            <a:off x="487680" y="0"/>
            <a:ext cx="10972320" cy="913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9AA7"/>
                </a:solidFill>
                <a:latin typeface="Calibri"/>
                <a:ea typeface="Calibri"/>
                <a:cs typeface="Calibri"/>
                <a:sym typeface="Calibri"/>
              </a:rPr>
              <a:t>THE CORE IDEA</a:t>
            </a:r>
            <a:endParaRPr b="0" i="0" sz="1500" u="none" cap="none" strike="noStrike">
              <a:solidFill>
                <a:srgbClr val="000000"/>
              </a:solidFill>
              <a:latin typeface="Arial"/>
              <a:ea typeface="Arial"/>
              <a:cs typeface="Arial"/>
              <a:sym typeface="Arial"/>
            </a:endParaRPr>
          </a:p>
        </p:txBody>
      </p:sp>
      <p:sp>
        <p:nvSpPr>
          <p:cNvPr id="137" name="Google Shape;137;g3cee277e4b5_1_21"/>
          <p:cNvSpPr/>
          <p:nvPr/>
        </p:nvSpPr>
        <p:spPr>
          <a:xfrm>
            <a:off x="609600" y="1219200"/>
            <a:ext cx="10972320" cy="1828320"/>
          </a:xfrm>
          <a:prstGeom prst="rect">
            <a:avLst/>
          </a:prstGeom>
          <a:solidFill>
            <a:srgbClr val="0D1B2A"/>
          </a:solidFill>
          <a:ln cap="flat" cmpd="sng" w="12700">
            <a:solidFill>
              <a:srgbClr val="0D1B2A"/>
            </a:solidFill>
            <a:prstDash val="solid"/>
            <a:round/>
            <a:headEnd len="sm" w="sm" type="none"/>
            <a:tailEnd len="sm" w="sm" type="none"/>
          </a:ln>
          <a:effectLst>
            <a:outerShdw blurRad="101520" rotWithShape="0" algn="bl" dir="8100000" dist="37674">
              <a:srgbClr val="000000">
                <a:alpha val="25098"/>
              </a:srgbClr>
            </a:outerShdw>
          </a:effectLst>
        </p:spPr>
        <p:txBody>
          <a:bodyPr anchorCtr="0" anchor="t" bIns="60000" lIns="120000" spcFirstLastPara="1" rIns="120000" wrap="square" tIns="600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Arial"/>
              <a:ea typeface="Arial"/>
              <a:cs typeface="Arial"/>
              <a:sym typeface="Arial"/>
            </a:endParaRPr>
          </a:p>
        </p:txBody>
      </p:sp>
      <p:sp>
        <p:nvSpPr>
          <p:cNvPr id="138" name="Google Shape;138;g3cee277e4b5_1_21"/>
          <p:cNvSpPr/>
          <p:nvPr/>
        </p:nvSpPr>
        <p:spPr>
          <a:xfrm>
            <a:off x="609600" y="1219200"/>
            <a:ext cx="145920" cy="1828320"/>
          </a:xfrm>
          <a:prstGeom prst="rect">
            <a:avLst/>
          </a:prstGeom>
          <a:solidFill>
            <a:srgbClr val="0E9AA7"/>
          </a:solidFill>
          <a:ln cap="flat" cmpd="sng" w="12700">
            <a:solidFill>
              <a:srgbClr val="0E9AA7"/>
            </a:solidFill>
            <a:prstDash val="solid"/>
            <a:round/>
            <a:headEnd len="sm" w="sm" type="none"/>
            <a:tailEnd len="sm" w="sm" type="none"/>
          </a:ln>
        </p:spPr>
        <p:txBody>
          <a:bodyPr anchorCtr="0" anchor="t" bIns="60000" lIns="120000" spcFirstLastPara="1" rIns="120000" wrap="square" tIns="600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Arial"/>
              <a:ea typeface="Arial"/>
              <a:cs typeface="Arial"/>
              <a:sym typeface="Arial"/>
            </a:endParaRPr>
          </a:p>
        </p:txBody>
      </p:sp>
      <p:sp>
        <p:nvSpPr>
          <p:cNvPr id="139" name="Google Shape;139;g3cee277e4b5_1_21"/>
          <p:cNvSpPr/>
          <p:nvPr/>
        </p:nvSpPr>
        <p:spPr>
          <a:xfrm>
            <a:off x="1036320" y="1219200"/>
            <a:ext cx="10240800" cy="1828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0" i="1" lang="en-US" sz="2500" u="none" cap="none" strike="noStrike">
                <a:solidFill>
                  <a:srgbClr val="FFFFFF"/>
                </a:solidFill>
                <a:latin typeface="Calibri"/>
                <a:ea typeface="Calibri"/>
                <a:cs typeface="Calibri"/>
                <a:sym typeface="Calibri"/>
              </a:rPr>
              <a:t>Don't ask "does this file look malicious?"</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1" lang="en-US" sz="2500" u="none" cap="none" strike="noStrike">
                <a:solidFill>
                  <a:srgbClr val="FFFFFF"/>
                </a:solidFill>
                <a:latin typeface="Calibri"/>
                <a:ea typeface="Calibri"/>
                <a:cs typeface="Calibri"/>
                <a:sym typeface="Calibri"/>
              </a:rPr>
              <a:t>Ask "what does this file actually DO when it runs?"</a:t>
            </a:r>
            <a:endParaRPr b="0" i="0" sz="2500" u="none" cap="none" strike="noStrike">
              <a:solidFill>
                <a:srgbClr val="000000"/>
              </a:solidFill>
              <a:latin typeface="Arial"/>
              <a:ea typeface="Arial"/>
              <a:cs typeface="Arial"/>
              <a:sym typeface="Arial"/>
            </a:endParaRPr>
          </a:p>
        </p:txBody>
      </p:sp>
      <p:sp>
        <p:nvSpPr>
          <p:cNvPr id="140" name="Google Shape;140;g3cee277e4b5_1_21"/>
          <p:cNvSpPr/>
          <p:nvPr/>
        </p:nvSpPr>
        <p:spPr>
          <a:xfrm>
            <a:off x="609600" y="3413760"/>
            <a:ext cx="5485920" cy="2072160"/>
          </a:xfrm>
          <a:prstGeom prst="rect">
            <a:avLst/>
          </a:prstGeom>
          <a:solidFill>
            <a:srgbClr val="FFFFFF"/>
          </a:solidFill>
          <a:ln cap="flat" cmpd="sng" w="12700">
            <a:solidFill>
              <a:srgbClr val="D0DAE6"/>
            </a:solidFill>
            <a:prstDash val="solid"/>
            <a:round/>
            <a:headEnd len="sm" w="sm" type="none"/>
            <a:tailEnd len="sm" w="sm" type="none"/>
          </a:ln>
          <a:effectLst>
            <a:outerShdw blurRad="101520" rotWithShape="0" algn="bl" dir="8100000" dist="37674">
              <a:srgbClr val="000000">
                <a:alpha val="25098"/>
              </a:srgbClr>
            </a:outerShdw>
          </a:effectLst>
        </p:spPr>
        <p:txBody>
          <a:bodyPr anchorCtr="0" anchor="t" bIns="60000" lIns="120000" spcFirstLastPara="1" rIns="120000" wrap="square" tIns="600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41" name="Google Shape;141;g3cee277e4b5_1_21"/>
          <p:cNvSpPr/>
          <p:nvPr/>
        </p:nvSpPr>
        <p:spPr>
          <a:xfrm>
            <a:off x="609600" y="3413760"/>
            <a:ext cx="5485920" cy="462720"/>
          </a:xfrm>
          <a:prstGeom prst="rect">
            <a:avLst/>
          </a:prstGeom>
          <a:solidFill>
            <a:srgbClr val="E8EEF4"/>
          </a:solidFill>
          <a:ln cap="flat" cmpd="sng" w="12700">
            <a:solidFill>
              <a:srgbClr val="D0DAE6"/>
            </a:solidFill>
            <a:prstDash val="solid"/>
            <a:round/>
            <a:headEnd len="sm" w="sm" type="none"/>
            <a:tailEnd len="sm" w="sm" type="none"/>
          </a:ln>
        </p:spPr>
        <p:txBody>
          <a:bodyPr anchorCtr="0" anchor="t" bIns="60000" lIns="120000" spcFirstLastPara="1" rIns="120000" wrap="square" tIns="600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42" name="Google Shape;142;g3cee277e4b5_1_21"/>
          <p:cNvSpPr/>
          <p:nvPr/>
        </p:nvSpPr>
        <p:spPr>
          <a:xfrm>
            <a:off x="792480" y="3413760"/>
            <a:ext cx="5120160" cy="462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D1B2A"/>
                </a:solidFill>
                <a:latin typeface="Calibri"/>
                <a:ea typeface="Calibri"/>
                <a:cs typeface="Calibri"/>
                <a:sym typeface="Calibri"/>
              </a:rPr>
              <a:t>Signature Scanner</a:t>
            </a:r>
            <a:endParaRPr b="0" i="0" sz="1500" u="none" cap="none" strike="noStrike">
              <a:solidFill>
                <a:srgbClr val="000000"/>
              </a:solidFill>
              <a:latin typeface="Arial"/>
              <a:ea typeface="Arial"/>
              <a:cs typeface="Arial"/>
              <a:sym typeface="Arial"/>
            </a:endParaRPr>
          </a:p>
        </p:txBody>
      </p:sp>
      <p:sp>
        <p:nvSpPr>
          <p:cNvPr id="143" name="Google Shape;143;g3cee277e4b5_1_21"/>
          <p:cNvSpPr/>
          <p:nvPr/>
        </p:nvSpPr>
        <p:spPr>
          <a:xfrm>
            <a:off x="792480" y="3901440"/>
            <a:ext cx="5120160" cy="1462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45566"/>
                </a:solidFill>
                <a:latin typeface="Calibri"/>
                <a:ea typeface="Calibri"/>
                <a:cs typeface="Calibri"/>
                <a:sym typeface="Calibri"/>
              </a:rPr>
              <a:t>Looks at the file's appearance.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45566"/>
                </a:solidFill>
                <a:latin typeface="Calibri"/>
                <a:ea typeface="Calibri"/>
                <a:cs typeface="Calibri"/>
                <a:sym typeface="Calibri"/>
              </a:rPr>
              <a:t>Asks: does this match a known bad file?</a:t>
            </a:r>
            <a:endParaRPr b="0" i="0" sz="1600" u="none" cap="none" strike="noStrike">
              <a:solidFill>
                <a:srgbClr val="000000"/>
              </a:solidFill>
              <a:latin typeface="Arial"/>
              <a:ea typeface="Arial"/>
              <a:cs typeface="Arial"/>
              <a:sym typeface="Arial"/>
            </a:endParaRPr>
          </a:p>
        </p:txBody>
      </p:sp>
      <p:sp>
        <p:nvSpPr>
          <p:cNvPr id="144" name="Google Shape;144;g3cee277e4b5_1_21"/>
          <p:cNvSpPr/>
          <p:nvPr/>
        </p:nvSpPr>
        <p:spPr>
          <a:xfrm>
            <a:off x="6400800" y="3413760"/>
            <a:ext cx="5485920" cy="2072160"/>
          </a:xfrm>
          <a:prstGeom prst="rect">
            <a:avLst/>
          </a:prstGeom>
          <a:solidFill>
            <a:srgbClr val="FFFFFF"/>
          </a:solidFill>
          <a:ln cap="flat" cmpd="sng" w="12700">
            <a:solidFill>
              <a:srgbClr val="D0DAE6"/>
            </a:solidFill>
            <a:prstDash val="solid"/>
            <a:round/>
            <a:headEnd len="sm" w="sm" type="none"/>
            <a:tailEnd len="sm" w="sm" type="none"/>
          </a:ln>
          <a:effectLst>
            <a:outerShdw blurRad="101520" rotWithShape="0" algn="bl" dir="8100000" dist="37674">
              <a:srgbClr val="000000">
                <a:alpha val="25098"/>
              </a:srgbClr>
            </a:outerShdw>
          </a:effectLst>
        </p:spPr>
        <p:txBody>
          <a:bodyPr anchorCtr="0" anchor="t" bIns="60000" lIns="120000" spcFirstLastPara="1" rIns="120000" wrap="square" tIns="600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45" name="Google Shape;145;g3cee277e4b5_1_21"/>
          <p:cNvSpPr/>
          <p:nvPr/>
        </p:nvSpPr>
        <p:spPr>
          <a:xfrm>
            <a:off x="6400800" y="3413760"/>
            <a:ext cx="5485920" cy="462720"/>
          </a:xfrm>
          <a:prstGeom prst="rect">
            <a:avLst/>
          </a:prstGeom>
          <a:solidFill>
            <a:srgbClr val="E8EEF4"/>
          </a:solidFill>
          <a:ln cap="flat" cmpd="sng" w="12700">
            <a:solidFill>
              <a:srgbClr val="D0DAE6"/>
            </a:solidFill>
            <a:prstDash val="solid"/>
            <a:round/>
            <a:headEnd len="sm" w="sm" type="none"/>
            <a:tailEnd len="sm" w="sm" type="none"/>
          </a:ln>
        </p:spPr>
        <p:txBody>
          <a:bodyPr anchorCtr="0" anchor="t" bIns="60000" lIns="120000" spcFirstLastPara="1" rIns="120000" wrap="square" tIns="600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46" name="Google Shape;146;g3cee277e4b5_1_21"/>
          <p:cNvSpPr/>
          <p:nvPr/>
        </p:nvSpPr>
        <p:spPr>
          <a:xfrm>
            <a:off x="6583680" y="3413760"/>
            <a:ext cx="5120160" cy="462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D1B2A"/>
                </a:solidFill>
                <a:latin typeface="Calibri"/>
                <a:ea typeface="Calibri"/>
                <a:cs typeface="Calibri"/>
                <a:sym typeface="Calibri"/>
              </a:rPr>
              <a:t>AI/ML Classifier</a:t>
            </a:r>
            <a:endParaRPr b="0" i="0" sz="1500" u="none" cap="none" strike="noStrike">
              <a:solidFill>
                <a:srgbClr val="000000"/>
              </a:solidFill>
              <a:latin typeface="Arial"/>
              <a:ea typeface="Arial"/>
              <a:cs typeface="Arial"/>
              <a:sym typeface="Arial"/>
            </a:endParaRPr>
          </a:p>
        </p:txBody>
      </p:sp>
      <p:sp>
        <p:nvSpPr>
          <p:cNvPr id="147" name="Google Shape;147;g3cee277e4b5_1_21"/>
          <p:cNvSpPr/>
          <p:nvPr/>
        </p:nvSpPr>
        <p:spPr>
          <a:xfrm>
            <a:off x="6583680" y="3901440"/>
            <a:ext cx="5120160" cy="1462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45566"/>
                </a:solidFill>
                <a:latin typeface="Calibri"/>
                <a:ea typeface="Calibri"/>
                <a:cs typeface="Calibri"/>
                <a:sym typeface="Calibri"/>
              </a:rPr>
              <a:t>Looks at the file's structure &amp; features.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45566"/>
                </a:solidFill>
                <a:latin typeface="Calibri"/>
                <a:ea typeface="Calibri"/>
                <a:cs typeface="Calibri"/>
                <a:sym typeface="Calibri"/>
              </a:rPr>
              <a:t>Asks: does this pattern seem malicious?</a:t>
            </a:r>
            <a:endParaRPr b="0" i="0" sz="1600" u="none" cap="none" strike="noStrike">
              <a:solidFill>
                <a:srgbClr val="000000"/>
              </a:solidFill>
              <a:latin typeface="Arial"/>
              <a:ea typeface="Arial"/>
              <a:cs typeface="Arial"/>
              <a:sym typeface="Arial"/>
            </a:endParaRPr>
          </a:p>
        </p:txBody>
      </p:sp>
      <p:sp>
        <p:nvSpPr>
          <p:cNvPr id="148" name="Google Shape;148;g3cee277e4b5_1_21"/>
          <p:cNvSpPr/>
          <p:nvPr/>
        </p:nvSpPr>
        <p:spPr>
          <a:xfrm>
            <a:off x="609600" y="5730240"/>
            <a:ext cx="10972320" cy="852960"/>
          </a:xfrm>
          <a:prstGeom prst="rect">
            <a:avLst/>
          </a:prstGeom>
          <a:solidFill>
            <a:srgbClr val="0E9AA7"/>
          </a:solidFill>
          <a:ln cap="flat" cmpd="sng" w="12700">
            <a:solidFill>
              <a:srgbClr val="0E9AA7"/>
            </a:solidFill>
            <a:prstDash val="solid"/>
            <a:round/>
            <a:headEnd len="sm" w="sm" type="none"/>
            <a:tailEnd len="sm" w="sm" type="none"/>
          </a:ln>
          <a:effectLst>
            <a:outerShdw blurRad="101520" rotWithShape="0" algn="bl" dir="8100000" dist="37674">
              <a:srgbClr val="000000">
                <a:alpha val="25098"/>
              </a:srgbClr>
            </a:outerShdw>
          </a:effectLst>
        </p:spPr>
        <p:txBody>
          <a:bodyPr anchorCtr="0" anchor="t" bIns="60000" lIns="120000" spcFirstLastPara="1" rIns="120000" wrap="square" tIns="600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Arial"/>
              <a:ea typeface="Arial"/>
              <a:cs typeface="Arial"/>
              <a:sym typeface="Arial"/>
            </a:endParaRPr>
          </a:p>
        </p:txBody>
      </p:sp>
      <p:sp>
        <p:nvSpPr>
          <p:cNvPr id="149" name="Google Shape;149;g3cee277e4b5_1_21"/>
          <p:cNvSpPr/>
          <p:nvPr/>
        </p:nvSpPr>
        <p:spPr>
          <a:xfrm>
            <a:off x="792480" y="5730240"/>
            <a:ext cx="10606560" cy="85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Calibri"/>
                <a:ea typeface="Calibri"/>
                <a:cs typeface="Calibri"/>
                <a:sym typeface="Calibri"/>
              </a:rPr>
              <a:t>Sandbox:  Give it a fake world → run it → watch every single thing it does → judge by actions</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g3c5d1c309b5_8_47"/>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g3c5d1c309b5_8_47"/>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The Problem This Module Solves</a:t>
            </a:r>
            <a:endParaRPr b="0" i="0" sz="2700" u="none" cap="none" strike="noStrike">
              <a:solidFill>
                <a:schemeClr val="dk1"/>
              </a:solidFill>
              <a:latin typeface="Calibri"/>
              <a:ea typeface="Calibri"/>
              <a:cs typeface="Calibri"/>
              <a:sym typeface="Calibri"/>
            </a:endParaRPr>
          </a:p>
        </p:txBody>
      </p:sp>
      <p:sp>
        <p:nvSpPr>
          <p:cNvPr id="157" name="Google Shape;157;g3c5d1c309b5_8_47"/>
          <p:cNvSpPr/>
          <p:nvPr/>
        </p:nvSpPr>
        <p:spPr>
          <a:xfrm>
            <a:off x="548640" y="1072896"/>
            <a:ext cx="11094720" cy="99974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3c5d1c309b5_8_47"/>
          <p:cNvSpPr/>
          <p:nvPr/>
        </p:nvSpPr>
        <p:spPr>
          <a:xfrm>
            <a:off x="548640" y="1072896"/>
            <a:ext cx="121920" cy="999744"/>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c5d1c309b5_8_47"/>
          <p:cNvSpPr/>
          <p:nvPr/>
        </p:nvSpPr>
        <p:spPr>
          <a:xfrm>
            <a:off x="792480" y="1072896"/>
            <a:ext cx="10668000" cy="999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Calibri"/>
              <a:buNone/>
            </a:pPr>
            <a:r>
              <a:rPr b="0" i="1" lang="en-US" sz="2100" u="none" cap="none" strike="noStrike">
                <a:solidFill>
                  <a:srgbClr val="FFFFFF"/>
                </a:solidFill>
                <a:latin typeface="Calibri"/>
                <a:ea typeface="Calibri"/>
                <a:cs typeface="Calibri"/>
                <a:sym typeface="Calibri"/>
              </a:rPr>
              <a:t>A drone sends a suspicious file. Layers 1 and 2 clear it. But it is still malicious. How?</a:t>
            </a:r>
            <a:endParaRPr b="0" i="0" sz="2100" u="none" cap="none" strike="noStrike">
              <a:solidFill>
                <a:schemeClr val="dk1"/>
              </a:solidFill>
              <a:latin typeface="Calibri"/>
              <a:ea typeface="Calibri"/>
              <a:cs typeface="Calibri"/>
              <a:sym typeface="Calibri"/>
            </a:endParaRPr>
          </a:p>
        </p:txBody>
      </p:sp>
      <p:sp>
        <p:nvSpPr>
          <p:cNvPr id="160" name="Google Shape;160;g3c5d1c309b5_8_47"/>
          <p:cNvSpPr/>
          <p:nvPr/>
        </p:nvSpPr>
        <p:spPr>
          <a:xfrm>
            <a:off x="548640" y="2316480"/>
            <a:ext cx="5608320" cy="3048000"/>
          </a:xfrm>
          <a:prstGeom prst="rect">
            <a:avLst/>
          </a:prstGeom>
          <a:solidFill>
            <a:srgbClr val="EAF4FB"/>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c5d1c309b5_8_47"/>
          <p:cNvSpPr/>
          <p:nvPr/>
        </p:nvSpPr>
        <p:spPr>
          <a:xfrm>
            <a:off x="792480" y="2438400"/>
            <a:ext cx="670560"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900"/>
              <a:buFont typeface="Calibri"/>
              <a:buNone/>
            </a:pPr>
            <a:r>
              <a:rPr b="0" i="0" lang="en-US" sz="2900" u="none" cap="none" strike="noStrike">
                <a:solidFill>
                  <a:srgbClr val="000000"/>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162" name="Google Shape;162;g3c5d1c309b5_8_47"/>
          <p:cNvSpPr/>
          <p:nvPr/>
        </p:nvSpPr>
        <p:spPr>
          <a:xfrm>
            <a:off x="1548384" y="2438400"/>
            <a:ext cx="438912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Layer 1 — Signature Scanner</a:t>
            </a:r>
            <a:endParaRPr b="0" i="0" sz="1600" u="none" cap="none" strike="noStrike">
              <a:solidFill>
                <a:schemeClr val="dk1"/>
              </a:solidFill>
              <a:latin typeface="Calibri"/>
              <a:ea typeface="Calibri"/>
              <a:cs typeface="Calibri"/>
              <a:sym typeface="Calibri"/>
            </a:endParaRPr>
          </a:p>
        </p:txBody>
      </p:sp>
      <p:sp>
        <p:nvSpPr>
          <p:cNvPr id="163" name="Google Shape;163;g3c5d1c309b5_8_47"/>
          <p:cNvSpPr/>
          <p:nvPr/>
        </p:nvSpPr>
        <p:spPr>
          <a:xfrm>
            <a:off x="792480" y="3169920"/>
            <a:ext cx="5120640" cy="18288"/>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c5d1c309b5_8_47"/>
          <p:cNvSpPr/>
          <p:nvPr/>
        </p:nvSpPr>
        <p:spPr>
          <a:xfrm>
            <a:off x="792480" y="3267456"/>
            <a:ext cx="5145024" cy="19751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500"/>
              <a:buFont typeface="Calibri"/>
              <a:buNone/>
            </a:pPr>
            <a:r>
              <a:rPr b="0" i="0" lang="en-US" sz="1500" u="none" cap="none" strike="noStrike">
                <a:solidFill>
                  <a:srgbClr val="2C3E50"/>
                </a:solidFill>
                <a:latin typeface="Calibri"/>
                <a:ea typeface="Calibri"/>
                <a:cs typeface="Calibri"/>
                <a:sym typeface="Calibri"/>
              </a:rPr>
              <a:t>Compares the file against a database of known malware.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500"/>
              <a:buFont typeface="Calibri"/>
              <a:buNone/>
            </a:pPr>
            <a:r>
              <a:rPr b="0" i="0" lang="en-US" sz="1500" u="none" cap="none" strike="noStrike">
                <a:solidFill>
                  <a:srgbClr val="2C3E50"/>
                </a:solidFill>
                <a:latin typeface="Calibri"/>
                <a:ea typeface="Calibri"/>
                <a:cs typeface="Calibri"/>
                <a:sym typeface="Calibri"/>
              </a:rPr>
              <a:t>Limitation: a brand new threat (zero-day) has no signature yet. Change one byte in the malware code — the signature no longer matches.</a:t>
            </a:r>
            <a:endParaRPr b="0" i="0" sz="1500" u="none" cap="none" strike="noStrike">
              <a:solidFill>
                <a:schemeClr val="dk1"/>
              </a:solidFill>
              <a:latin typeface="Calibri"/>
              <a:ea typeface="Calibri"/>
              <a:cs typeface="Calibri"/>
              <a:sym typeface="Calibri"/>
            </a:endParaRPr>
          </a:p>
        </p:txBody>
      </p:sp>
      <p:sp>
        <p:nvSpPr>
          <p:cNvPr id="165" name="Google Shape;165;g3c5d1c309b5_8_47"/>
          <p:cNvSpPr/>
          <p:nvPr/>
        </p:nvSpPr>
        <p:spPr>
          <a:xfrm>
            <a:off x="6339840" y="2316480"/>
            <a:ext cx="5608320" cy="3048000"/>
          </a:xfrm>
          <a:prstGeom prst="rect">
            <a:avLst/>
          </a:prstGeom>
          <a:solidFill>
            <a:srgbClr val="EAF4FB"/>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c5d1c309b5_8_47"/>
          <p:cNvSpPr/>
          <p:nvPr/>
        </p:nvSpPr>
        <p:spPr>
          <a:xfrm>
            <a:off x="6583680" y="2438400"/>
            <a:ext cx="670560"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900"/>
              <a:buFont typeface="Calibri"/>
              <a:buNone/>
            </a:pPr>
            <a:r>
              <a:rPr b="0" i="0" lang="en-US" sz="2900" u="none" cap="none" strike="noStrike">
                <a:solidFill>
                  <a:srgbClr val="000000"/>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167" name="Google Shape;167;g3c5d1c309b5_8_47"/>
          <p:cNvSpPr/>
          <p:nvPr/>
        </p:nvSpPr>
        <p:spPr>
          <a:xfrm>
            <a:off x="7339584" y="2438400"/>
            <a:ext cx="438912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Layer 2 — AI / ML Classifier</a:t>
            </a:r>
            <a:endParaRPr b="0" i="0" sz="1600" u="none" cap="none" strike="noStrike">
              <a:solidFill>
                <a:schemeClr val="dk1"/>
              </a:solidFill>
              <a:latin typeface="Calibri"/>
              <a:ea typeface="Calibri"/>
              <a:cs typeface="Calibri"/>
              <a:sym typeface="Calibri"/>
            </a:endParaRPr>
          </a:p>
        </p:txBody>
      </p:sp>
      <p:sp>
        <p:nvSpPr>
          <p:cNvPr id="168" name="Google Shape;168;g3c5d1c309b5_8_47"/>
          <p:cNvSpPr/>
          <p:nvPr/>
        </p:nvSpPr>
        <p:spPr>
          <a:xfrm>
            <a:off x="6583680" y="3169920"/>
            <a:ext cx="5120640" cy="18288"/>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3c5d1c309b5_8_47"/>
          <p:cNvSpPr/>
          <p:nvPr/>
        </p:nvSpPr>
        <p:spPr>
          <a:xfrm>
            <a:off x="6583680" y="3267456"/>
            <a:ext cx="5145024" cy="19751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500"/>
              <a:buFont typeface="Calibri"/>
              <a:buNone/>
            </a:pPr>
            <a:r>
              <a:rPr b="0" i="0" lang="en-US" sz="1500" u="none" cap="none" strike="noStrike">
                <a:solidFill>
                  <a:srgbClr val="2C3E50"/>
                </a:solidFill>
                <a:latin typeface="Calibri"/>
                <a:ea typeface="Calibri"/>
                <a:cs typeface="Calibri"/>
                <a:sym typeface="Calibri"/>
              </a:rPr>
              <a:t>Detects suspicious patterns in file features.</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500"/>
              <a:buFont typeface="Calibri"/>
              <a:buNone/>
            </a:pPr>
            <a:r>
              <a:rPr b="0" i="0" lang="en-US" sz="1500" u="none" cap="none" strike="noStrike">
                <a:solidFill>
                  <a:srgbClr val="2C3E50"/>
                </a:solidFill>
                <a:latin typeface="Calibri"/>
                <a:ea typeface="Calibri"/>
                <a:cs typeface="Calibri"/>
                <a:sym typeface="Calibri"/>
              </a:rPr>
              <a:t>Limitation: a skilled attacker can obfuscate code, use encryption, or pack the payload so it looks completely different to the model.</a:t>
            </a:r>
            <a:endParaRPr b="0" i="0" sz="1500" u="none" cap="none" strike="noStrike">
              <a:solidFill>
                <a:schemeClr val="dk1"/>
              </a:solidFill>
              <a:latin typeface="Calibri"/>
              <a:ea typeface="Calibri"/>
              <a:cs typeface="Calibri"/>
              <a:sym typeface="Calibri"/>
            </a:endParaRPr>
          </a:p>
        </p:txBody>
      </p:sp>
      <p:sp>
        <p:nvSpPr>
          <p:cNvPr id="170" name="Google Shape;170;g3c5d1c309b5_8_47"/>
          <p:cNvSpPr/>
          <p:nvPr/>
        </p:nvSpPr>
        <p:spPr>
          <a:xfrm>
            <a:off x="548640" y="5608320"/>
            <a:ext cx="11094720" cy="829056"/>
          </a:xfrm>
          <a:prstGeom prst="rect">
            <a:avLst/>
          </a:prstGeom>
          <a:solidFill>
            <a:srgbClr val="2471A3"/>
          </a:solidFill>
          <a:ln cap="flat" cmpd="sng" w="127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c5d1c309b5_8_47"/>
          <p:cNvSpPr/>
          <p:nvPr/>
        </p:nvSpPr>
        <p:spPr>
          <a:xfrm>
            <a:off x="792480" y="5608320"/>
            <a:ext cx="10850880" cy="8290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  The Sandbox Analyzer solves this by executing the file and watching what it actually does — not what it looks like.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76" name="Shape 176"/>
        <p:cNvGrpSpPr/>
        <p:nvPr/>
      </p:nvGrpSpPr>
      <p:grpSpPr>
        <a:xfrm>
          <a:off x="0" y="0"/>
          <a:ext cx="0" cy="0"/>
          <a:chOff x="0" y="0"/>
          <a:chExt cx="0" cy="0"/>
        </a:xfrm>
      </p:grpSpPr>
      <p:sp>
        <p:nvSpPr>
          <p:cNvPr id="177" name="Google Shape;177;g3c5d1c309b5_8_68"/>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g3c5d1c309b5_8_68"/>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Static Analysis vs Behavioral Analysis</a:t>
            </a:r>
            <a:endParaRPr b="0" i="0" sz="2700" u="none" cap="none" strike="noStrike">
              <a:solidFill>
                <a:schemeClr val="dk1"/>
              </a:solidFill>
              <a:latin typeface="Calibri"/>
              <a:ea typeface="Calibri"/>
              <a:cs typeface="Calibri"/>
              <a:sym typeface="Calibri"/>
            </a:endParaRPr>
          </a:p>
        </p:txBody>
      </p:sp>
      <p:sp>
        <p:nvSpPr>
          <p:cNvPr id="179" name="Google Shape;179;g3c5d1c309b5_8_68"/>
          <p:cNvSpPr/>
          <p:nvPr/>
        </p:nvSpPr>
        <p:spPr>
          <a:xfrm>
            <a:off x="548640" y="1072896"/>
            <a:ext cx="11094720" cy="1280160"/>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3c5d1c309b5_8_68"/>
          <p:cNvSpPr/>
          <p:nvPr/>
        </p:nvSpPr>
        <p:spPr>
          <a:xfrm>
            <a:off x="548640" y="1072896"/>
            <a:ext cx="121920" cy="128016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c5d1c309b5_8_68"/>
          <p:cNvSpPr/>
          <p:nvPr/>
        </p:nvSpPr>
        <p:spPr>
          <a:xfrm>
            <a:off x="792480" y="1072896"/>
            <a:ext cx="1066800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2100"/>
              <a:buFont typeface="Calibri"/>
              <a:buNone/>
            </a:pPr>
            <a:r>
              <a:rPr b="0" i="0" lang="en-US" sz="2100" u="none" cap="none" strike="noStrike">
                <a:solidFill>
                  <a:srgbClr val="1B3A5C"/>
                </a:solidFill>
                <a:latin typeface="Calibri"/>
                <a:ea typeface="Calibri"/>
                <a:cs typeface="Calibri"/>
                <a:sym typeface="Calibri"/>
              </a:rPr>
              <a:t>Signature scanning and AI classification examine what a file looks like.</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3A5C"/>
              </a:buClr>
              <a:buSzPts val="2100"/>
              <a:buFont typeface="Calibri"/>
              <a:buNone/>
            </a:pPr>
            <a:r>
              <a:rPr b="0" i="0" lang="en-US" sz="2100" u="none" cap="none" strike="noStrike">
                <a:solidFill>
                  <a:srgbClr val="1B3A5C"/>
                </a:solidFill>
                <a:latin typeface="Calibri"/>
                <a:ea typeface="Calibri"/>
                <a:cs typeface="Calibri"/>
                <a:sym typeface="Calibri"/>
              </a:rPr>
              <a:t>The sandbox examines what a file actually does when it runs.</a:t>
            </a:r>
            <a:endParaRPr b="0" i="0" sz="2100" u="none" cap="none" strike="noStrike">
              <a:solidFill>
                <a:schemeClr val="dk1"/>
              </a:solidFill>
              <a:latin typeface="Calibri"/>
              <a:ea typeface="Calibri"/>
              <a:cs typeface="Calibri"/>
              <a:sym typeface="Calibri"/>
            </a:endParaRPr>
          </a:p>
        </p:txBody>
      </p:sp>
      <p:sp>
        <p:nvSpPr>
          <p:cNvPr id="182" name="Google Shape;182;g3c5d1c309b5_8_68"/>
          <p:cNvSpPr/>
          <p:nvPr/>
        </p:nvSpPr>
        <p:spPr>
          <a:xfrm>
            <a:off x="548640" y="2560320"/>
            <a:ext cx="5608320" cy="3352800"/>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3c5d1c309b5_8_68"/>
          <p:cNvSpPr/>
          <p:nvPr/>
        </p:nvSpPr>
        <p:spPr>
          <a:xfrm>
            <a:off x="548640" y="2560320"/>
            <a:ext cx="5608320" cy="58521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g3c5d1c309b5_8_68"/>
          <p:cNvSpPr/>
          <p:nvPr/>
        </p:nvSpPr>
        <p:spPr>
          <a:xfrm>
            <a:off x="768096" y="2560320"/>
            <a:ext cx="5193792"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Static Analysis  (Layers 1 &amp; 2)</a:t>
            </a:r>
            <a:endParaRPr b="0" i="0" sz="1600" u="none" cap="none" strike="noStrike">
              <a:solidFill>
                <a:schemeClr val="dk1"/>
              </a:solidFill>
              <a:latin typeface="Calibri"/>
              <a:ea typeface="Calibri"/>
              <a:cs typeface="Calibri"/>
              <a:sym typeface="Calibri"/>
            </a:endParaRPr>
          </a:p>
        </p:txBody>
      </p:sp>
      <p:sp>
        <p:nvSpPr>
          <p:cNvPr id="185" name="Google Shape;185;g3c5d1c309b5_8_68"/>
          <p:cNvSpPr/>
          <p:nvPr/>
        </p:nvSpPr>
        <p:spPr>
          <a:xfrm>
            <a:off x="792480" y="3267456"/>
            <a:ext cx="13411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400"/>
              <a:buFont typeface="Calibri"/>
              <a:buNone/>
            </a:pPr>
            <a:r>
              <a:rPr b="1" i="0" lang="en-US" sz="1400" u="none" cap="none" strike="noStrike">
                <a:solidFill>
                  <a:srgbClr val="5D8AA8"/>
                </a:solidFill>
                <a:latin typeface="Calibri"/>
                <a:ea typeface="Calibri"/>
                <a:cs typeface="Calibri"/>
                <a:sym typeface="Calibri"/>
              </a:rPr>
              <a:t>Method:</a:t>
            </a:r>
            <a:endParaRPr b="0" i="0" sz="1400" u="none" cap="none" strike="noStrike">
              <a:solidFill>
                <a:schemeClr val="dk1"/>
              </a:solidFill>
              <a:latin typeface="Calibri"/>
              <a:ea typeface="Calibri"/>
              <a:cs typeface="Calibri"/>
              <a:sym typeface="Calibri"/>
            </a:endParaRPr>
          </a:p>
        </p:txBody>
      </p:sp>
      <p:sp>
        <p:nvSpPr>
          <p:cNvPr id="186" name="Google Shape;186;g3c5d1c309b5_8_68"/>
          <p:cNvSpPr/>
          <p:nvPr/>
        </p:nvSpPr>
        <p:spPr>
          <a:xfrm>
            <a:off x="2194560" y="3267456"/>
            <a:ext cx="37795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Examines the file without running it</a:t>
            </a:r>
            <a:endParaRPr b="0" i="0" sz="1400" u="none" cap="none" strike="noStrike">
              <a:solidFill>
                <a:schemeClr val="dk1"/>
              </a:solidFill>
              <a:latin typeface="Calibri"/>
              <a:ea typeface="Calibri"/>
              <a:cs typeface="Calibri"/>
              <a:sym typeface="Calibri"/>
            </a:endParaRPr>
          </a:p>
        </p:txBody>
      </p:sp>
      <p:sp>
        <p:nvSpPr>
          <p:cNvPr id="187" name="Google Shape;187;g3c5d1c309b5_8_68"/>
          <p:cNvSpPr/>
          <p:nvPr/>
        </p:nvSpPr>
        <p:spPr>
          <a:xfrm>
            <a:off x="792480" y="3925824"/>
            <a:ext cx="13411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400"/>
              <a:buFont typeface="Calibri"/>
              <a:buNone/>
            </a:pPr>
            <a:r>
              <a:rPr b="1" i="0" lang="en-US" sz="1400" u="none" cap="none" strike="noStrike">
                <a:solidFill>
                  <a:srgbClr val="5D8AA8"/>
                </a:solidFill>
                <a:latin typeface="Calibri"/>
                <a:ea typeface="Calibri"/>
                <a:cs typeface="Calibri"/>
                <a:sym typeface="Calibri"/>
              </a:rPr>
              <a:t>Speed:</a:t>
            </a:r>
            <a:endParaRPr b="0" i="0" sz="1400" u="none" cap="none" strike="noStrike">
              <a:solidFill>
                <a:schemeClr val="dk1"/>
              </a:solidFill>
              <a:latin typeface="Calibri"/>
              <a:ea typeface="Calibri"/>
              <a:cs typeface="Calibri"/>
              <a:sym typeface="Calibri"/>
            </a:endParaRPr>
          </a:p>
        </p:txBody>
      </p:sp>
      <p:sp>
        <p:nvSpPr>
          <p:cNvPr id="188" name="Google Shape;188;g3c5d1c309b5_8_68"/>
          <p:cNvSpPr/>
          <p:nvPr/>
        </p:nvSpPr>
        <p:spPr>
          <a:xfrm>
            <a:off x="2194560" y="3925824"/>
            <a:ext cx="37795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Milliseconds per file</a:t>
            </a:r>
            <a:endParaRPr b="0" i="0" sz="1400" u="none" cap="none" strike="noStrike">
              <a:solidFill>
                <a:schemeClr val="dk1"/>
              </a:solidFill>
              <a:latin typeface="Calibri"/>
              <a:ea typeface="Calibri"/>
              <a:cs typeface="Calibri"/>
              <a:sym typeface="Calibri"/>
            </a:endParaRPr>
          </a:p>
        </p:txBody>
      </p:sp>
      <p:sp>
        <p:nvSpPr>
          <p:cNvPr id="189" name="Google Shape;189;g3c5d1c309b5_8_68"/>
          <p:cNvSpPr/>
          <p:nvPr/>
        </p:nvSpPr>
        <p:spPr>
          <a:xfrm>
            <a:off x="792480" y="4584192"/>
            <a:ext cx="13411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400"/>
              <a:buFont typeface="Calibri"/>
              <a:buNone/>
            </a:pPr>
            <a:r>
              <a:rPr b="1" i="0" lang="en-US" sz="1400" u="none" cap="none" strike="noStrike">
                <a:solidFill>
                  <a:srgbClr val="5D8AA8"/>
                </a:solidFill>
                <a:latin typeface="Calibri"/>
                <a:ea typeface="Calibri"/>
                <a:cs typeface="Calibri"/>
                <a:sym typeface="Calibri"/>
              </a:rPr>
              <a:t>Weakness:</a:t>
            </a:r>
            <a:endParaRPr b="0" i="0" sz="1400" u="none" cap="none" strike="noStrike">
              <a:solidFill>
                <a:schemeClr val="dk1"/>
              </a:solidFill>
              <a:latin typeface="Calibri"/>
              <a:ea typeface="Calibri"/>
              <a:cs typeface="Calibri"/>
              <a:sym typeface="Calibri"/>
            </a:endParaRPr>
          </a:p>
        </p:txBody>
      </p:sp>
      <p:sp>
        <p:nvSpPr>
          <p:cNvPr id="190" name="Google Shape;190;g3c5d1c309b5_8_68"/>
          <p:cNvSpPr/>
          <p:nvPr/>
        </p:nvSpPr>
        <p:spPr>
          <a:xfrm>
            <a:off x="2194560" y="4584192"/>
            <a:ext cx="37795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Cannot detect new or obfuscated malware</a:t>
            </a:r>
            <a:endParaRPr b="0" i="0" sz="1400" u="none" cap="none" strike="noStrike">
              <a:solidFill>
                <a:schemeClr val="dk1"/>
              </a:solidFill>
              <a:latin typeface="Calibri"/>
              <a:ea typeface="Calibri"/>
              <a:cs typeface="Calibri"/>
              <a:sym typeface="Calibri"/>
            </a:endParaRPr>
          </a:p>
        </p:txBody>
      </p:sp>
      <p:sp>
        <p:nvSpPr>
          <p:cNvPr id="191" name="Google Shape;191;g3c5d1c309b5_8_68"/>
          <p:cNvSpPr/>
          <p:nvPr/>
        </p:nvSpPr>
        <p:spPr>
          <a:xfrm>
            <a:off x="792480" y="5242560"/>
            <a:ext cx="13411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400"/>
              <a:buFont typeface="Calibri"/>
              <a:buNone/>
            </a:pPr>
            <a:r>
              <a:rPr b="1" i="0" lang="en-US" sz="1400" u="none" cap="none" strike="noStrike">
                <a:solidFill>
                  <a:srgbClr val="5D8AA8"/>
                </a:solidFill>
                <a:latin typeface="Calibri"/>
                <a:ea typeface="Calibri"/>
                <a:cs typeface="Calibri"/>
                <a:sym typeface="Calibri"/>
              </a:rPr>
              <a:t>Evasion:</a:t>
            </a:r>
            <a:endParaRPr b="0" i="0" sz="1400" u="none" cap="none" strike="noStrike">
              <a:solidFill>
                <a:schemeClr val="dk1"/>
              </a:solidFill>
              <a:latin typeface="Calibri"/>
              <a:ea typeface="Calibri"/>
              <a:cs typeface="Calibri"/>
              <a:sym typeface="Calibri"/>
            </a:endParaRPr>
          </a:p>
        </p:txBody>
      </p:sp>
      <p:sp>
        <p:nvSpPr>
          <p:cNvPr id="192" name="Google Shape;192;g3c5d1c309b5_8_68"/>
          <p:cNvSpPr/>
          <p:nvPr/>
        </p:nvSpPr>
        <p:spPr>
          <a:xfrm>
            <a:off x="2194560" y="5242560"/>
            <a:ext cx="37795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Change a few bytes → bypass signature</a:t>
            </a:r>
            <a:endParaRPr b="0" i="0" sz="1400" u="none" cap="none" strike="noStrike">
              <a:solidFill>
                <a:schemeClr val="dk1"/>
              </a:solidFill>
              <a:latin typeface="Calibri"/>
              <a:ea typeface="Calibri"/>
              <a:cs typeface="Calibri"/>
              <a:sym typeface="Calibri"/>
            </a:endParaRPr>
          </a:p>
        </p:txBody>
      </p:sp>
      <p:sp>
        <p:nvSpPr>
          <p:cNvPr id="193" name="Google Shape;193;g3c5d1c309b5_8_68"/>
          <p:cNvSpPr/>
          <p:nvPr/>
        </p:nvSpPr>
        <p:spPr>
          <a:xfrm>
            <a:off x="6339840" y="2560320"/>
            <a:ext cx="5608320" cy="3352800"/>
          </a:xfrm>
          <a:prstGeom prst="rect">
            <a:avLst/>
          </a:prstGeom>
          <a:solidFill>
            <a:srgbClr val="1B3A5C"/>
          </a:solidFill>
          <a:ln cap="flat" cmpd="sng" w="12700">
            <a:solidFill>
              <a:srgbClr val="1B3A5C"/>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c5d1c309b5_8_68"/>
          <p:cNvSpPr/>
          <p:nvPr/>
        </p:nvSpPr>
        <p:spPr>
          <a:xfrm>
            <a:off x="6339840" y="2560320"/>
            <a:ext cx="5608320" cy="585216"/>
          </a:xfrm>
          <a:prstGeom prst="rect">
            <a:avLst/>
          </a:prstGeom>
          <a:solidFill>
            <a:srgbClr val="2471A3"/>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g3c5d1c309b5_8_68"/>
          <p:cNvSpPr/>
          <p:nvPr/>
        </p:nvSpPr>
        <p:spPr>
          <a:xfrm>
            <a:off x="6559296" y="2560320"/>
            <a:ext cx="5193792"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Behavioral Analysis  (Sandbox)</a:t>
            </a:r>
            <a:endParaRPr b="0" i="0" sz="1600" u="none" cap="none" strike="noStrike">
              <a:solidFill>
                <a:schemeClr val="dk1"/>
              </a:solidFill>
              <a:latin typeface="Calibri"/>
              <a:ea typeface="Calibri"/>
              <a:cs typeface="Calibri"/>
              <a:sym typeface="Calibri"/>
            </a:endParaRPr>
          </a:p>
        </p:txBody>
      </p:sp>
      <p:sp>
        <p:nvSpPr>
          <p:cNvPr id="196" name="Google Shape;196;g3c5d1c309b5_8_68"/>
          <p:cNvSpPr/>
          <p:nvPr/>
        </p:nvSpPr>
        <p:spPr>
          <a:xfrm>
            <a:off x="6583680" y="3267456"/>
            <a:ext cx="13411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400"/>
              <a:buFont typeface="Calibri"/>
              <a:buNone/>
            </a:pPr>
            <a:r>
              <a:rPr b="1" i="0" lang="en-US" sz="1400" u="none" cap="none" strike="noStrike">
                <a:solidFill>
                  <a:srgbClr val="AED6F1"/>
                </a:solidFill>
                <a:latin typeface="Calibri"/>
                <a:ea typeface="Calibri"/>
                <a:cs typeface="Calibri"/>
                <a:sym typeface="Calibri"/>
              </a:rPr>
              <a:t>Method:</a:t>
            </a:r>
            <a:endParaRPr b="0" i="0" sz="1400" u="none" cap="none" strike="noStrike">
              <a:solidFill>
                <a:schemeClr val="dk1"/>
              </a:solidFill>
              <a:latin typeface="Calibri"/>
              <a:ea typeface="Calibri"/>
              <a:cs typeface="Calibri"/>
              <a:sym typeface="Calibri"/>
            </a:endParaRPr>
          </a:p>
        </p:txBody>
      </p:sp>
      <p:sp>
        <p:nvSpPr>
          <p:cNvPr id="197" name="Google Shape;197;g3c5d1c309b5_8_68"/>
          <p:cNvSpPr/>
          <p:nvPr/>
        </p:nvSpPr>
        <p:spPr>
          <a:xfrm>
            <a:off x="7985760" y="3267456"/>
            <a:ext cx="37795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AF8"/>
              </a:buClr>
              <a:buSzPts val="1400"/>
              <a:buFont typeface="Calibri"/>
              <a:buNone/>
            </a:pPr>
            <a:r>
              <a:rPr b="0" i="0" lang="en-US" sz="1400" u="none" cap="none" strike="noStrike">
                <a:solidFill>
                  <a:srgbClr val="D6EAF8"/>
                </a:solidFill>
                <a:latin typeface="Calibri"/>
                <a:ea typeface="Calibri"/>
                <a:cs typeface="Calibri"/>
                <a:sym typeface="Calibri"/>
              </a:rPr>
              <a:t>Executes the file in an isolated environment</a:t>
            </a:r>
            <a:endParaRPr b="0" i="0" sz="1400" u="none" cap="none" strike="noStrike">
              <a:solidFill>
                <a:schemeClr val="dk1"/>
              </a:solidFill>
              <a:latin typeface="Calibri"/>
              <a:ea typeface="Calibri"/>
              <a:cs typeface="Calibri"/>
              <a:sym typeface="Calibri"/>
            </a:endParaRPr>
          </a:p>
        </p:txBody>
      </p:sp>
      <p:sp>
        <p:nvSpPr>
          <p:cNvPr id="198" name="Google Shape;198;g3c5d1c309b5_8_68"/>
          <p:cNvSpPr/>
          <p:nvPr/>
        </p:nvSpPr>
        <p:spPr>
          <a:xfrm>
            <a:off x="6583680" y="3925824"/>
            <a:ext cx="13411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400"/>
              <a:buFont typeface="Calibri"/>
              <a:buNone/>
            </a:pPr>
            <a:r>
              <a:rPr b="1" i="0" lang="en-US" sz="1400" u="none" cap="none" strike="noStrike">
                <a:solidFill>
                  <a:srgbClr val="AED6F1"/>
                </a:solidFill>
                <a:latin typeface="Calibri"/>
                <a:ea typeface="Calibri"/>
                <a:cs typeface="Calibri"/>
                <a:sym typeface="Calibri"/>
              </a:rPr>
              <a:t>Coverage:</a:t>
            </a:r>
            <a:endParaRPr b="0" i="0" sz="1400" u="none" cap="none" strike="noStrike">
              <a:solidFill>
                <a:schemeClr val="dk1"/>
              </a:solidFill>
              <a:latin typeface="Calibri"/>
              <a:ea typeface="Calibri"/>
              <a:cs typeface="Calibri"/>
              <a:sym typeface="Calibri"/>
            </a:endParaRPr>
          </a:p>
        </p:txBody>
      </p:sp>
      <p:sp>
        <p:nvSpPr>
          <p:cNvPr id="199" name="Google Shape;199;g3c5d1c309b5_8_68"/>
          <p:cNvSpPr/>
          <p:nvPr/>
        </p:nvSpPr>
        <p:spPr>
          <a:xfrm>
            <a:off x="7985760" y="3925824"/>
            <a:ext cx="37795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AF8"/>
              </a:buClr>
              <a:buSzPts val="1400"/>
              <a:buFont typeface="Calibri"/>
              <a:buNone/>
            </a:pPr>
            <a:r>
              <a:rPr b="0" i="0" lang="en-US" sz="1400" u="none" cap="none" strike="noStrike">
                <a:solidFill>
                  <a:srgbClr val="D6EAF8"/>
                </a:solidFill>
                <a:latin typeface="Calibri"/>
                <a:ea typeface="Calibri"/>
                <a:cs typeface="Calibri"/>
                <a:sym typeface="Calibri"/>
              </a:rPr>
              <a:t>Records every system action in real time</a:t>
            </a:r>
            <a:endParaRPr b="0" i="0" sz="1400" u="none" cap="none" strike="noStrike">
              <a:solidFill>
                <a:schemeClr val="dk1"/>
              </a:solidFill>
              <a:latin typeface="Calibri"/>
              <a:ea typeface="Calibri"/>
              <a:cs typeface="Calibri"/>
              <a:sym typeface="Calibri"/>
            </a:endParaRPr>
          </a:p>
        </p:txBody>
      </p:sp>
      <p:sp>
        <p:nvSpPr>
          <p:cNvPr id="200" name="Google Shape;200;g3c5d1c309b5_8_68"/>
          <p:cNvSpPr/>
          <p:nvPr/>
        </p:nvSpPr>
        <p:spPr>
          <a:xfrm>
            <a:off x="6583680" y="4584192"/>
            <a:ext cx="13411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400"/>
              <a:buFont typeface="Calibri"/>
              <a:buNone/>
            </a:pPr>
            <a:r>
              <a:rPr b="1" i="0" lang="en-US" sz="1400" u="none" cap="none" strike="noStrike">
                <a:solidFill>
                  <a:srgbClr val="AED6F1"/>
                </a:solidFill>
                <a:latin typeface="Calibri"/>
                <a:ea typeface="Calibri"/>
                <a:cs typeface="Calibri"/>
                <a:sym typeface="Calibri"/>
              </a:rPr>
              <a:t>Strength:</a:t>
            </a:r>
            <a:endParaRPr b="0" i="0" sz="1400" u="none" cap="none" strike="noStrike">
              <a:solidFill>
                <a:schemeClr val="dk1"/>
              </a:solidFill>
              <a:latin typeface="Calibri"/>
              <a:ea typeface="Calibri"/>
              <a:cs typeface="Calibri"/>
              <a:sym typeface="Calibri"/>
            </a:endParaRPr>
          </a:p>
        </p:txBody>
      </p:sp>
      <p:sp>
        <p:nvSpPr>
          <p:cNvPr id="201" name="Google Shape;201;g3c5d1c309b5_8_68"/>
          <p:cNvSpPr/>
          <p:nvPr/>
        </p:nvSpPr>
        <p:spPr>
          <a:xfrm>
            <a:off x="7985760" y="4584192"/>
            <a:ext cx="37795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AF8"/>
              </a:buClr>
              <a:buSzPts val="1400"/>
              <a:buFont typeface="Calibri"/>
              <a:buNone/>
            </a:pPr>
            <a:r>
              <a:rPr b="0" i="0" lang="en-US" sz="1400" u="none" cap="none" strike="noStrike">
                <a:solidFill>
                  <a:srgbClr val="D6EAF8"/>
                </a:solidFill>
                <a:latin typeface="Calibri"/>
                <a:ea typeface="Calibri"/>
                <a:cs typeface="Calibri"/>
                <a:sym typeface="Calibri"/>
              </a:rPr>
              <a:t>Catches zero-day threats — appearance irrelevant</a:t>
            </a:r>
            <a:endParaRPr b="0" i="0" sz="1400" u="none" cap="none" strike="noStrike">
              <a:solidFill>
                <a:schemeClr val="dk1"/>
              </a:solidFill>
              <a:latin typeface="Calibri"/>
              <a:ea typeface="Calibri"/>
              <a:cs typeface="Calibri"/>
              <a:sym typeface="Calibri"/>
            </a:endParaRPr>
          </a:p>
        </p:txBody>
      </p:sp>
      <p:sp>
        <p:nvSpPr>
          <p:cNvPr id="202" name="Google Shape;202;g3c5d1c309b5_8_68"/>
          <p:cNvSpPr/>
          <p:nvPr/>
        </p:nvSpPr>
        <p:spPr>
          <a:xfrm>
            <a:off x="6583680" y="5242560"/>
            <a:ext cx="13411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400"/>
              <a:buFont typeface="Calibri"/>
              <a:buNone/>
            </a:pPr>
            <a:r>
              <a:rPr b="1" i="0" lang="en-US" sz="1400" u="none" cap="none" strike="noStrike">
                <a:solidFill>
                  <a:srgbClr val="AED6F1"/>
                </a:solidFill>
                <a:latin typeface="Calibri"/>
                <a:ea typeface="Calibri"/>
                <a:cs typeface="Calibri"/>
                <a:sym typeface="Calibri"/>
              </a:rPr>
              <a:t>Key insight:</a:t>
            </a:r>
            <a:endParaRPr b="0" i="0" sz="1400" u="none" cap="none" strike="noStrike">
              <a:solidFill>
                <a:schemeClr val="dk1"/>
              </a:solidFill>
              <a:latin typeface="Calibri"/>
              <a:ea typeface="Calibri"/>
              <a:cs typeface="Calibri"/>
              <a:sym typeface="Calibri"/>
            </a:endParaRPr>
          </a:p>
        </p:txBody>
      </p:sp>
      <p:sp>
        <p:nvSpPr>
          <p:cNvPr id="203" name="Google Shape;203;g3c5d1c309b5_8_68"/>
          <p:cNvSpPr/>
          <p:nvPr/>
        </p:nvSpPr>
        <p:spPr>
          <a:xfrm>
            <a:off x="7985760" y="5242560"/>
            <a:ext cx="3779520" cy="5608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6EAF8"/>
              </a:buClr>
              <a:buSzPts val="1400"/>
              <a:buFont typeface="Calibri"/>
              <a:buNone/>
            </a:pPr>
            <a:r>
              <a:rPr b="0" i="0" lang="en-US" sz="1400" u="none" cap="none" strike="noStrike">
                <a:solidFill>
                  <a:srgbClr val="D6EAF8"/>
                </a:solidFill>
                <a:latin typeface="Calibri"/>
                <a:ea typeface="Calibri"/>
                <a:cs typeface="Calibri"/>
                <a:sym typeface="Calibri"/>
              </a:rPr>
              <a:t>Actions cannot be faked — intent is revealed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g3c5d1c309b5_8_99"/>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c5d1c309b5_8_99"/>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Where the Sandbox Fits in the Pipeline</a:t>
            </a:r>
            <a:endParaRPr b="0" i="0" sz="2700" u="none" cap="none" strike="noStrike">
              <a:solidFill>
                <a:schemeClr val="dk1"/>
              </a:solidFill>
              <a:latin typeface="Calibri"/>
              <a:ea typeface="Calibri"/>
              <a:cs typeface="Calibri"/>
              <a:sym typeface="Calibri"/>
            </a:endParaRPr>
          </a:p>
        </p:txBody>
      </p:sp>
      <p:sp>
        <p:nvSpPr>
          <p:cNvPr id="211" name="Google Shape;211;g3c5d1c309b5_8_99"/>
          <p:cNvSpPr/>
          <p:nvPr/>
        </p:nvSpPr>
        <p:spPr>
          <a:xfrm>
            <a:off x="548640" y="1036320"/>
            <a:ext cx="1109472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Every drone file passes through a three-layer detection engine. The sandbox is Layer 3.</a:t>
            </a:r>
            <a:endParaRPr b="0" i="0" sz="1700" u="none" cap="none" strike="noStrike">
              <a:solidFill>
                <a:schemeClr val="dk1"/>
              </a:solidFill>
              <a:latin typeface="Calibri"/>
              <a:ea typeface="Calibri"/>
              <a:cs typeface="Calibri"/>
              <a:sym typeface="Calibri"/>
            </a:endParaRPr>
          </a:p>
        </p:txBody>
      </p:sp>
      <p:sp>
        <p:nvSpPr>
          <p:cNvPr id="212" name="Google Shape;212;g3c5d1c309b5_8_99"/>
          <p:cNvSpPr/>
          <p:nvPr/>
        </p:nvSpPr>
        <p:spPr>
          <a:xfrm>
            <a:off x="426720" y="1731264"/>
            <a:ext cx="2560320" cy="304800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c5d1c309b5_8_99"/>
          <p:cNvSpPr/>
          <p:nvPr/>
        </p:nvSpPr>
        <p:spPr>
          <a:xfrm>
            <a:off x="1341120" y="1950720"/>
            <a:ext cx="731520" cy="7315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g3c5d1c309b5_8_99"/>
          <p:cNvSpPr/>
          <p:nvPr/>
        </p:nvSpPr>
        <p:spPr>
          <a:xfrm>
            <a:off x="1341120" y="1950720"/>
            <a:ext cx="73152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1</a:t>
            </a:r>
            <a:endParaRPr b="0" i="0" sz="1700" u="none" cap="none" strike="noStrike">
              <a:solidFill>
                <a:schemeClr val="dk1"/>
              </a:solidFill>
              <a:latin typeface="Calibri"/>
              <a:ea typeface="Calibri"/>
              <a:cs typeface="Calibri"/>
              <a:sym typeface="Calibri"/>
            </a:endParaRPr>
          </a:p>
        </p:txBody>
      </p:sp>
      <p:sp>
        <p:nvSpPr>
          <p:cNvPr id="215" name="Google Shape;215;g3c5d1c309b5_8_99"/>
          <p:cNvSpPr/>
          <p:nvPr/>
        </p:nvSpPr>
        <p:spPr>
          <a:xfrm>
            <a:off x="548640" y="2828544"/>
            <a:ext cx="231648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700"/>
              <a:buFont typeface="Calibri"/>
              <a:buNone/>
            </a:pPr>
            <a:r>
              <a:rPr b="1" i="0" lang="en-US" sz="1700" u="none" cap="none" strike="noStrike">
                <a:solidFill>
                  <a:srgbClr val="1B3A5C"/>
                </a:solidFill>
                <a:latin typeface="Calibri"/>
                <a:ea typeface="Calibri"/>
                <a:cs typeface="Calibri"/>
                <a:sym typeface="Calibri"/>
              </a:rPr>
              <a:t>Signature</a:t>
            </a:r>
            <a:endParaRPr b="0" i="0" sz="1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700"/>
              <a:buFont typeface="Calibri"/>
              <a:buNone/>
            </a:pPr>
            <a:r>
              <a:rPr b="1" i="0" lang="en-US" sz="1700" u="none" cap="none" strike="noStrike">
                <a:solidFill>
                  <a:srgbClr val="1B3A5C"/>
                </a:solidFill>
                <a:latin typeface="Calibri"/>
                <a:ea typeface="Calibri"/>
                <a:cs typeface="Calibri"/>
                <a:sym typeface="Calibri"/>
              </a:rPr>
              <a:t>Scanner</a:t>
            </a:r>
            <a:endParaRPr b="0" i="0" sz="1700" u="none" cap="none" strike="noStrike">
              <a:solidFill>
                <a:schemeClr val="dk1"/>
              </a:solidFill>
              <a:latin typeface="Calibri"/>
              <a:ea typeface="Calibri"/>
              <a:cs typeface="Calibri"/>
              <a:sym typeface="Calibri"/>
            </a:endParaRPr>
          </a:p>
        </p:txBody>
      </p:sp>
      <p:sp>
        <p:nvSpPr>
          <p:cNvPr id="216" name="Google Shape;216;g3c5d1c309b5_8_99"/>
          <p:cNvSpPr/>
          <p:nvPr/>
        </p:nvSpPr>
        <p:spPr>
          <a:xfrm>
            <a:off x="731520" y="3779520"/>
            <a:ext cx="1950720" cy="18288"/>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3c5d1c309b5_8_99"/>
          <p:cNvSpPr/>
          <p:nvPr/>
        </p:nvSpPr>
        <p:spPr>
          <a:xfrm>
            <a:off x="548640" y="3828288"/>
            <a:ext cx="2316480" cy="8778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Matches known</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malware patterns</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Runs on every file</a:t>
            </a:r>
            <a:endParaRPr b="0" i="0" sz="1300" u="none" cap="none" strike="noStrike">
              <a:solidFill>
                <a:schemeClr val="dk1"/>
              </a:solidFill>
              <a:latin typeface="Calibri"/>
              <a:ea typeface="Calibri"/>
              <a:cs typeface="Calibri"/>
              <a:sym typeface="Calibri"/>
            </a:endParaRPr>
          </a:p>
        </p:txBody>
      </p:sp>
      <p:sp>
        <p:nvSpPr>
          <p:cNvPr id="218" name="Google Shape;218;g3c5d1c309b5_8_99"/>
          <p:cNvSpPr/>
          <p:nvPr/>
        </p:nvSpPr>
        <p:spPr>
          <a:xfrm>
            <a:off x="3011424" y="2889504"/>
            <a:ext cx="365760" cy="792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700"/>
              <a:buFont typeface="Calibri"/>
              <a:buNone/>
            </a:pPr>
            <a:r>
              <a:rPr b="1" i="0" lang="en-US" sz="2700" u="none" cap="none" strike="noStrike">
                <a:solidFill>
                  <a:srgbClr val="2471A3"/>
                </a:solidFill>
                <a:latin typeface="Calibri"/>
                <a:ea typeface="Calibri"/>
                <a:cs typeface="Calibri"/>
                <a:sym typeface="Calibri"/>
              </a:rPr>
              <a:t>→</a:t>
            </a:r>
            <a:endParaRPr b="0" i="0" sz="2700" u="none" cap="none" strike="noStrike">
              <a:solidFill>
                <a:schemeClr val="dk1"/>
              </a:solidFill>
              <a:latin typeface="Calibri"/>
              <a:ea typeface="Calibri"/>
              <a:cs typeface="Calibri"/>
              <a:sym typeface="Calibri"/>
            </a:endParaRPr>
          </a:p>
        </p:txBody>
      </p:sp>
      <p:sp>
        <p:nvSpPr>
          <p:cNvPr id="219" name="Google Shape;219;g3c5d1c309b5_8_99"/>
          <p:cNvSpPr/>
          <p:nvPr/>
        </p:nvSpPr>
        <p:spPr>
          <a:xfrm>
            <a:off x="3352800" y="1731264"/>
            <a:ext cx="2560320" cy="304800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3c5d1c309b5_8_99"/>
          <p:cNvSpPr/>
          <p:nvPr/>
        </p:nvSpPr>
        <p:spPr>
          <a:xfrm>
            <a:off x="4267200" y="1950720"/>
            <a:ext cx="731520" cy="7315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3c5d1c309b5_8_99"/>
          <p:cNvSpPr/>
          <p:nvPr/>
        </p:nvSpPr>
        <p:spPr>
          <a:xfrm>
            <a:off x="4267200" y="1950720"/>
            <a:ext cx="73152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2</a:t>
            </a:r>
            <a:endParaRPr b="0" i="0" sz="1700" u="none" cap="none" strike="noStrike">
              <a:solidFill>
                <a:schemeClr val="dk1"/>
              </a:solidFill>
              <a:latin typeface="Calibri"/>
              <a:ea typeface="Calibri"/>
              <a:cs typeface="Calibri"/>
              <a:sym typeface="Calibri"/>
            </a:endParaRPr>
          </a:p>
        </p:txBody>
      </p:sp>
      <p:sp>
        <p:nvSpPr>
          <p:cNvPr id="222" name="Google Shape;222;g3c5d1c309b5_8_99"/>
          <p:cNvSpPr/>
          <p:nvPr/>
        </p:nvSpPr>
        <p:spPr>
          <a:xfrm>
            <a:off x="3474720" y="2828544"/>
            <a:ext cx="231648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700"/>
              <a:buFont typeface="Calibri"/>
              <a:buNone/>
            </a:pPr>
            <a:r>
              <a:rPr b="1" i="0" lang="en-US" sz="1700" u="none" cap="none" strike="noStrike">
                <a:solidFill>
                  <a:srgbClr val="1B3A5C"/>
                </a:solidFill>
                <a:latin typeface="Calibri"/>
                <a:ea typeface="Calibri"/>
                <a:cs typeface="Calibri"/>
                <a:sym typeface="Calibri"/>
              </a:rPr>
              <a:t>AI / ML</a:t>
            </a:r>
            <a:endParaRPr b="0" i="0" sz="1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700"/>
              <a:buFont typeface="Calibri"/>
              <a:buNone/>
            </a:pPr>
            <a:r>
              <a:rPr b="1" i="0" lang="en-US" sz="1700" u="none" cap="none" strike="noStrike">
                <a:solidFill>
                  <a:srgbClr val="1B3A5C"/>
                </a:solidFill>
                <a:latin typeface="Calibri"/>
                <a:ea typeface="Calibri"/>
                <a:cs typeface="Calibri"/>
                <a:sym typeface="Calibri"/>
              </a:rPr>
              <a:t>Classifier</a:t>
            </a:r>
            <a:endParaRPr b="0" i="0" sz="1700" u="none" cap="none" strike="noStrike">
              <a:solidFill>
                <a:schemeClr val="dk1"/>
              </a:solidFill>
              <a:latin typeface="Calibri"/>
              <a:ea typeface="Calibri"/>
              <a:cs typeface="Calibri"/>
              <a:sym typeface="Calibri"/>
            </a:endParaRPr>
          </a:p>
        </p:txBody>
      </p:sp>
      <p:sp>
        <p:nvSpPr>
          <p:cNvPr id="223" name="Google Shape;223;g3c5d1c309b5_8_99"/>
          <p:cNvSpPr/>
          <p:nvPr/>
        </p:nvSpPr>
        <p:spPr>
          <a:xfrm>
            <a:off x="3657600" y="3779520"/>
            <a:ext cx="1950720" cy="18288"/>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3c5d1c309b5_8_99"/>
          <p:cNvSpPr/>
          <p:nvPr/>
        </p:nvSpPr>
        <p:spPr>
          <a:xfrm>
            <a:off x="3474720" y="3828288"/>
            <a:ext cx="2316480" cy="8778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Detects unknown</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patterns via</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feature analysis</a:t>
            </a:r>
            <a:endParaRPr b="0" i="0" sz="1300" u="none" cap="none" strike="noStrike">
              <a:solidFill>
                <a:schemeClr val="dk1"/>
              </a:solidFill>
              <a:latin typeface="Calibri"/>
              <a:ea typeface="Calibri"/>
              <a:cs typeface="Calibri"/>
              <a:sym typeface="Calibri"/>
            </a:endParaRPr>
          </a:p>
        </p:txBody>
      </p:sp>
      <p:sp>
        <p:nvSpPr>
          <p:cNvPr id="225" name="Google Shape;225;g3c5d1c309b5_8_99"/>
          <p:cNvSpPr/>
          <p:nvPr/>
        </p:nvSpPr>
        <p:spPr>
          <a:xfrm>
            <a:off x="5937504" y="2889504"/>
            <a:ext cx="365760" cy="792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700"/>
              <a:buFont typeface="Calibri"/>
              <a:buNone/>
            </a:pPr>
            <a:r>
              <a:rPr b="1" i="0" lang="en-US" sz="2700" u="none" cap="none" strike="noStrike">
                <a:solidFill>
                  <a:srgbClr val="2471A3"/>
                </a:solidFill>
                <a:latin typeface="Calibri"/>
                <a:ea typeface="Calibri"/>
                <a:cs typeface="Calibri"/>
                <a:sym typeface="Calibri"/>
              </a:rPr>
              <a:t>→</a:t>
            </a:r>
            <a:endParaRPr b="0" i="0" sz="2700" u="none" cap="none" strike="noStrike">
              <a:solidFill>
                <a:schemeClr val="dk1"/>
              </a:solidFill>
              <a:latin typeface="Calibri"/>
              <a:ea typeface="Calibri"/>
              <a:cs typeface="Calibri"/>
              <a:sym typeface="Calibri"/>
            </a:endParaRPr>
          </a:p>
        </p:txBody>
      </p:sp>
      <p:sp>
        <p:nvSpPr>
          <p:cNvPr id="226" name="Google Shape;226;g3c5d1c309b5_8_99"/>
          <p:cNvSpPr/>
          <p:nvPr/>
        </p:nvSpPr>
        <p:spPr>
          <a:xfrm>
            <a:off x="6278880" y="1731264"/>
            <a:ext cx="2560320" cy="3048000"/>
          </a:xfrm>
          <a:prstGeom prst="rect">
            <a:avLst/>
          </a:prstGeom>
          <a:solidFill>
            <a:srgbClr val="1B3A5C"/>
          </a:solidFill>
          <a:ln cap="flat" cmpd="sng" w="254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3c5d1c309b5_8_99"/>
          <p:cNvSpPr/>
          <p:nvPr/>
        </p:nvSpPr>
        <p:spPr>
          <a:xfrm>
            <a:off x="7193280" y="1950720"/>
            <a:ext cx="731520" cy="7315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3c5d1c309b5_8_99"/>
          <p:cNvSpPr/>
          <p:nvPr/>
        </p:nvSpPr>
        <p:spPr>
          <a:xfrm>
            <a:off x="7193280" y="1950720"/>
            <a:ext cx="73152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3</a:t>
            </a:r>
            <a:endParaRPr b="0" i="0" sz="1700" u="none" cap="none" strike="noStrike">
              <a:solidFill>
                <a:schemeClr val="dk1"/>
              </a:solidFill>
              <a:latin typeface="Calibri"/>
              <a:ea typeface="Calibri"/>
              <a:cs typeface="Calibri"/>
              <a:sym typeface="Calibri"/>
            </a:endParaRPr>
          </a:p>
        </p:txBody>
      </p:sp>
      <p:sp>
        <p:nvSpPr>
          <p:cNvPr id="229" name="Google Shape;229;g3c5d1c309b5_8_99"/>
          <p:cNvSpPr/>
          <p:nvPr/>
        </p:nvSpPr>
        <p:spPr>
          <a:xfrm>
            <a:off x="6400800" y="2828544"/>
            <a:ext cx="231648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SANDBOX</a:t>
            </a:r>
            <a:endParaRPr b="0" i="0" sz="1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ANALYZER</a:t>
            </a:r>
            <a:endParaRPr b="0" i="0" sz="1700" u="none" cap="none" strike="noStrike">
              <a:solidFill>
                <a:schemeClr val="dk1"/>
              </a:solidFill>
              <a:latin typeface="Calibri"/>
              <a:ea typeface="Calibri"/>
              <a:cs typeface="Calibri"/>
              <a:sym typeface="Calibri"/>
            </a:endParaRPr>
          </a:p>
        </p:txBody>
      </p:sp>
      <p:sp>
        <p:nvSpPr>
          <p:cNvPr id="230" name="Google Shape;230;g3c5d1c309b5_8_99"/>
          <p:cNvSpPr/>
          <p:nvPr/>
        </p:nvSpPr>
        <p:spPr>
          <a:xfrm>
            <a:off x="6583680" y="3779520"/>
            <a:ext cx="1950720" cy="18288"/>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g3c5d1c309b5_8_99"/>
          <p:cNvSpPr/>
          <p:nvPr/>
        </p:nvSpPr>
        <p:spPr>
          <a:xfrm>
            <a:off x="6400800" y="3828288"/>
            <a:ext cx="2316480" cy="8778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6EAF8"/>
              </a:buClr>
              <a:buSzPts val="1300"/>
              <a:buFont typeface="Calibri"/>
              <a:buNone/>
            </a:pPr>
            <a:r>
              <a:rPr b="0" i="0" lang="en-US" sz="1300" u="none" cap="none" strike="noStrike">
                <a:solidFill>
                  <a:srgbClr val="D6EAF8"/>
                </a:solidFill>
                <a:latin typeface="Calibri"/>
                <a:ea typeface="Calibri"/>
                <a:cs typeface="Calibri"/>
                <a:sym typeface="Calibri"/>
              </a:rPr>
              <a:t>Executes the file</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D6EAF8"/>
              </a:buClr>
              <a:buSzPts val="1300"/>
              <a:buFont typeface="Calibri"/>
              <a:buNone/>
            </a:pPr>
            <a:r>
              <a:rPr b="0" i="0" lang="en-US" sz="1300" u="none" cap="none" strike="noStrike">
                <a:solidFill>
                  <a:srgbClr val="D6EAF8"/>
                </a:solidFill>
                <a:latin typeface="Calibri"/>
                <a:ea typeface="Calibri"/>
                <a:cs typeface="Calibri"/>
                <a:sym typeface="Calibri"/>
              </a:rPr>
              <a:t>Monitors behavior</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D6EAF8"/>
              </a:buClr>
              <a:buSzPts val="1300"/>
              <a:buFont typeface="Calibri"/>
              <a:buNone/>
            </a:pPr>
            <a:r>
              <a:rPr b="0" i="0" lang="en-US" sz="1300" u="none" cap="none" strike="noStrike">
                <a:solidFill>
                  <a:srgbClr val="D6EAF8"/>
                </a:solidFill>
                <a:latin typeface="Calibri"/>
                <a:ea typeface="Calibri"/>
                <a:cs typeface="Calibri"/>
                <a:sym typeface="Calibri"/>
              </a:rPr>
              <a:t>in real time</a:t>
            </a:r>
            <a:endParaRPr b="0" i="0" sz="1300" u="none" cap="none" strike="noStrike">
              <a:solidFill>
                <a:schemeClr val="dk1"/>
              </a:solidFill>
              <a:latin typeface="Calibri"/>
              <a:ea typeface="Calibri"/>
              <a:cs typeface="Calibri"/>
              <a:sym typeface="Calibri"/>
            </a:endParaRPr>
          </a:p>
        </p:txBody>
      </p:sp>
      <p:sp>
        <p:nvSpPr>
          <p:cNvPr id="232" name="Google Shape;232;g3c5d1c309b5_8_99"/>
          <p:cNvSpPr/>
          <p:nvPr/>
        </p:nvSpPr>
        <p:spPr>
          <a:xfrm>
            <a:off x="8863584" y="2889504"/>
            <a:ext cx="365760" cy="792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700"/>
              <a:buFont typeface="Calibri"/>
              <a:buNone/>
            </a:pPr>
            <a:r>
              <a:rPr b="1" i="0" lang="en-US" sz="2700" u="none" cap="none" strike="noStrike">
                <a:solidFill>
                  <a:srgbClr val="2471A3"/>
                </a:solidFill>
                <a:latin typeface="Calibri"/>
                <a:ea typeface="Calibri"/>
                <a:cs typeface="Calibri"/>
                <a:sym typeface="Calibri"/>
              </a:rPr>
              <a:t>→</a:t>
            </a:r>
            <a:endParaRPr b="0" i="0" sz="2700" u="none" cap="none" strike="noStrike">
              <a:solidFill>
                <a:schemeClr val="dk1"/>
              </a:solidFill>
              <a:latin typeface="Calibri"/>
              <a:ea typeface="Calibri"/>
              <a:cs typeface="Calibri"/>
              <a:sym typeface="Calibri"/>
            </a:endParaRPr>
          </a:p>
        </p:txBody>
      </p:sp>
      <p:sp>
        <p:nvSpPr>
          <p:cNvPr id="233" name="Google Shape;233;g3c5d1c309b5_8_99"/>
          <p:cNvSpPr/>
          <p:nvPr/>
        </p:nvSpPr>
        <p:spPr>
          <a:xfrm>
            <a:off x="9204960" y="1731264"/>
            <a:ext cx="2560320" cy="304800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c5d1c309b5_8_99"/>
          <p:cNvSpPr/>
          <p:nvPr/>
        </p:nvSpPr>
        <p:spPr>
          <a:xfrm>
            <a:off x="10119360" y="1950720"/>
            <a:ext cx="731520" cy="7315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c5d1c309b5_8_99"/>
          <p:cNvSpPr/>
          <p:nvPr/>
        </p:nvSpPr>
        <p:spPr>
          <a:xfrm>
            <a:off x="10119360" y="1950720"/>
            <a:ext cx="731520" cy="731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36" name="Google Shape;236;g3c5d1c309b5_8_99"/>
          <p:cNvSpPr/>
          <p:nvPr/>
        </p:nvSpPr>
        <p:spPr>
          <a:xfrm>
            <a:off x="9326880" y="2828544"/>
            <a:ext cx="231648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700"/>
              <a:buFont typeface="Calibri"/>
              <a:buNone/>
            </a:pPr>
            <a:r>
              <a:rPr b="1" i="0" lang="en-US" sz="1700" u="none" cap="none" strike="noStrike">
                <a:solidFill>
                  <a:srgbClr val="1B3A5C"/>
                </a:solidFill>
                <a:latin typeface="Calibri"/>
                <a:ea typeface="Calibri"/>
                <a:cs typeface="Calibri"/>
                <a:sym typeface="Calibri"/>
              </a:rPr>
              <a:t>Response</a:t>
            </a:r>
            <a:endParaRPr b="0" i="0" sz="1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700"/>
              <a:buFont typeface="Calibri"/>
              <a:buNone/>
            </a:pPr>
            <a:r>
              <a:rPr b="1" i="0" lang="en-US" sz="1700" u="none" cap="none" strike="noStrike">
                <a:solidFill>
                  <a:srgbClr val="1B3A5C"/>
                </a:solidFill>
                <a:latin typeface="Calibri"/>
                <a:ea typeface="Calibri"/>
                <a:cs typeface="Calibri"/>
                <a:sym typeface="Calibri"/>
              </a:rPr>
              <a:t>Manager</a:t>
            </a:r>
            <a:endParaRPr b="0" i="0" sz="1700" u="none" cap="none" strike="noStrike">
              <a:solidFill>
                <a:schemeClr val="dk1"/>
              </a:solidFill>
              <a:latin typeface="Calibri"/>
              <a:ea typeface="Calibri"/>
              <a:cs typeface="Calibri"/>
              <a:sym typeface="Calibri"/>
            </a:endParaRPr>
          </a:p>
        </p:txBody>
      </p:sp>
      <p:sp>
        <p:nvSpPr>
          <p:cNvPr id="237" name="Google Shape;237;g3c5d1c309b5_8_99"/>
          <p:cNvSpPr/>
          <p:nvPr/>
        </p:nvSpPr>
        <p:spPr>
          <a:xfrm>
            <a:off x="9509760" y="3779520"/>
            <a:ext cx="1950720" cy="18288"/>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3c5d1c309b5_8_99"/>
          <p:cNvSpPr/>
          <p:nvPr/>
        </p:nvSpPr>
        <p:spPr>
          <a:xfrm>
            <a:off x="9326880" y="3828288"/>
            <a:ext cx="2316480" cy="87782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Allow</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Quarantine</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Block + Alert SOC</a:t>
            </a:r>
            <a:endParaRPr b="0" i="0" sz="1300" u="none" cap="none" strike="noStrike">
              <a:solidFill>
                <a:schemeClr val="dk1"/>
              </a:solidFill>
              <a:latin typeface="Calibri"/>
              <a:ea typeface="Calibri"/>
              <a:cs typeface="Calibri"/>
              <a:sym typeface="Calibri"/>
            </a:endParaRPr>
          </a:p>
        </p:txBody>
      </p:sp>
      <p:sp>
        <p:nvSpPr>
          <p:cNvPr id="239" name="Google Shape;239;g3c5d1c309b5_8_99"/>
          <p:cNvSpPr/>
          <p:nvPr/>
        </p:nvSpPr>
        <p:spPr>
          <a:xfrm>
            <a:off x="426720" y="4998720"/>
            <a:ext cx="11338560" cy="755904"/>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c5d1c309b5_8_99"/>
          <p:cNvSpPr/>
          <p:nvPr/>
        </p:nvSpPr>
        <p:spPr>
          <a:xfrm>
            <a:off x="670560" y="4998720"/>
            <a:ext cx="10972800" cy="7559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0" i="0" lang="en-US" sz="1600" u="none" cap="none" strike="noStrike">
                <a:solidFill>
                  <a:srgbClr val="1B3A5C"/>
                </a:solidFill>
                <a:latin typeface="Calibri"/>
                <a:ea typeface="Calibri"/>
                <a:cs typeface="Calibri"/>
                <a:sym typeface="Calibri"/>
              </a:rPr>
              <a:t>The sandbox activates only for HIGH threat score files — preserving real-time performance across 300–400 concurrent drone feeds.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245" name="Shape 245"/>
        <p:cNvGrpSpPr/>
        <p:nvPr/>
      </p:nvGrpSpPr>
      <p:grpSpPr>
        <a:xfrm>
          <a:off x="0" y="0"/>
          <a:ext cx="0" cy="0"/>
          <a:chOff x="0" y="0"/>
          <a:chExt cx="0" cy="0"/>
        </a:xfrm>
      </p:grpSpPr>
      <p:sp>
        <p:nvSpPr>
          <p:cNvPr id="246" name="Google Shape;246;g3c5d1c309b5_8_135"/>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g3c5d1c309b5_8_135"/>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Inside the Sandbox — 8 Stages</a:t>
            </a:r>
            <a:endParaRPr b="0" i="0" sz="2700" u="none" cap="none" strike="noStrike">
              <a:solidFill>
                <a:schemeClr val="dk1"/>
              </a:solidFill>
              <a:latin typeface="Calibri"/>
              <a:ea typeface="Calibri"/>
              <a:cs typeface="Calibri"/>
              <a:sym typeface="Calibri"/>
            </a:endParaRPr>
          </a:p>
        </p:txBody>
      </p:sp>
      <p:sp>
        <p:nvSpPr>
          <p:cNvPr id="248" name="Google Shape;248;g3c5d1c309b5_8_135"/>
          <p:cNvSpPr/>
          <p:nvPr/>
        </p:nvSpPr>
        <p:spPr>
          <a:xfrm>
            <a:off x="548640" y="1036320"/>
            <a:ext cx="1109472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A complete picture of what happens when the sandbox processes a suspicious file.</a:t>
            </a:r>
            <a:endParaRPr b="0" i="0" sz="1700" u="none" cap="none" strike="noStrike">
              <a:solidFill>
                <a:schemeClr val="dk1"/>
              </a:solidFill>
              <a:latin typeface="Calibri"/>
              <a:ea typeface="Calibri"/>
              <a:cs typeface="Calibri"/>
              <a:sym typeface="Calibri"/>
            </a:endParaRPr>
          </a:p>
        </p:txBody>
      </p:sp>
      <p:sp>
        <p:nvSpPr>
          <p:cNvPr id="249" name="Google Shape;249;g3c5d1c309b5_8_135"/>
          <p:cNvSpPr/>
          <p:nvPr/>
        </p:nvSpPr>
        <p:spPr>
          <a:xfrm>
            <a:off x="426720" y="1682496"/>
            <a:ext cx="5547360" cy="1072896"/>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c5d1c309b5_8_135"/>
          <p:cNvSpPr/>
          <p:nvPr/>
        </p:nvSpPr>
        <p:spPr>
          <a:xfrm>
            <a:off x="426720" y="1682496"/>
            <a:ext cx="512064"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3c5d1c309b5_8_135"/>
          <p:cNvSpPr/>
          <p:nvPr/>
        </p:nvSpPr>
        <p:spPr>
          <a:xfrm>
            <a:off x="426720" y="1682496"/>
            <a:ext cx="512064"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900"/>
              <a:buFont typeface="Calibri"/>
              <a:buNone/>
            </a:pPr>
            <a:r>
              <a:rPr b="1" i="0" lang="en-US" sz="1900" u="none" cap="none" strike="noStrike">
                <a:solidFill>
                  <a:srgbClr val="AED6F1"/>
                </a:solidFill>
                <a:latin typeface="Calibri"/>
                <a:ea typeface="Calibri"/>
                <a:cs typeface="Calibri"/>
                <a:sym typeface="Calibri"/>
              </a:rPr>
              <a:t>1</a:t>
            </a:r>
            <a:endParaRPr b="0" i="0" sz="1900" u="none" cap="none" strike="noStrike">
              <a:solidFill>
                <a:schemeClr val="dk1"/>
              </a:solidFill>
              <a:latin typeface="Calibri"/>
              <a:ea typeface="Calibri"/>
              <a:cs typeface="Calibri"/>
              <a:sym typeface="Calibri"/>
            </a:endParaRPr>
          </a:p>
        </p:txBody>
      </p:sp>
      <p:sp>
        <p:nvSpPr>
          <p:cNvPr id="252" name="Google Shape;252;g3c5d1c309b5_8_135"/>
          <p:cNvSpPr/>
          <p:nvPr/>
        </p:nvSpPr>
        <p:spPr>
          <a:xfrm>
            <a:off x="1060704" y="1755648"/>
            <a:ext cx="47670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File Router</a:t>
            </a:r>
            <a:endParaRPr b="0" i="0" sz="1500" u="none" cap="none" strike="noStrike">
              <a:solidFill>
                <a:schemeClr val="dk1"/>
              </a:solidFill>
              <a:latin typeface="Calibri"/>
              <a:ea typeface="Calibri"/>
              <a:cs typeface="Calibri"/>
              <a:sym typeface="Calibri"/>
            </a:endParaRPr>
          </a:p>
        </p:txBody>
      </p:sp>
      <p:sp>
        <p:nvSpPr>
          <p:cNvPr id="253" name="Google Shape;253;g3c5d1c309b5_8_135"/>
          <p:cNvSpPr/>
          <p:nvPr/>
        </p:nvSpPr>
        <p:spPr>
          <a:xfrm>
            <a:off x="1060704" y="2145792"/>
            <a:ext cx="4767072"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Reads the first bytes of the file (magic bytes) to identify the real type — regardless of extension.</a:t>
            </a:r>
            <a:endParaRPr b="0" i="0" sz="1300" u="none" cap="none" strike="noStrike">
              <a:solidFill>
                <a:schemeClr val="dk1"/>
              </a:solidFill>
              <a:latin typeface="Calibri"/>
              <a:ea typeface="Calibri"/>
              <a:cs typeface="Calibri"/>
              <a:sym typeface="Calibri"/>
            </a:endParaRPr>
          </a:p>
        </p:txBody>
      </p:sp>
      <p:sp>
        <p:nvSpPr>
          <p:cNvPr id="254" name="Google Shape;254;g3c5d1c309b5_8_135"/>
          <p:cNvSpPr/>
          <p:nvPr/>
        </p:nvSpPr>
        <p:spPr>
          <a:xfrm>
            <a:off x="6096000" y="1682496"/>
            <a:ext cx="5547360" cy="1072896"/>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3c5d1c309b5_8_135"/>
          <p:cNvSpPr/>
          <p:nvPr/>
        </p:nvSpPr>
        <p:spPr>
          <a:xfrm>
            <a:off x="6096000" y="1682496"/>
            <a:ext cx="512064"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3c5d1c309b5_8_135"/>
          <p:cNvSpPr/>
          <p:nvPr/>
        </p:nvSpPr>
        <p:spPr>
          <a:xfrm>
            <a:off x="6096000" y="1682496"/>
            <a:ext cx="512064"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900"/>
              <a:buFont typeface="Calibri"/>
              <a:buNone/>
            </a:pPr>
            <a:r>
              <a:rPr b="1" i="0" lang="en-US" sz="1900" u="none" cap="none" strike="noStrike">
                <a:solidFill>
                  <a:srgbClr val="AED6F1"/>
                </a:solidFill>
                <a:latin typeface="Calibri"/>
                <a:ea typeface="Calibri"/>
                <a:cs typeface="Calibri"/>
                <a:sym typeface="Calibri"/>
              </a:rPr>
              <a:t>2</a:t>
            </a:r>
            <a:endParaRPr b="0" i="0" sz="1900" u="none" cap="none" strike="noStrike">
              <a:solidFill>
                <a:schemeClr val="dk1"/>
              </a:solidFill>
              <a:latin typeface="Calibri"/>
              <a:ea typeface="Calibri"/>
              <a:cs typeface="Calibri"/>
              <a:sym typeface="Calibri"/>
            </a:endParaRPr>
          </a:p>
        </p:txBody>
      </p:sp>
      <p:sp>
        <p:nvSpPr>
          <p:cNvPr id="257" name="Google Shape;257;g3c5d1c309b5_8_135"/>
          <p:cNvSpPr/>
          <p:nvPr/>
        </p:nvSpPr>
        <p:spPr>
          <a:xfrm>
            <a:off x="6729984" y="1755648"/>
            <a:ext cx="47670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Archive Handler</a:t>
            </a:r>
            <a:endParaRPr b="0" i="0" sz="1500" u="none" cap="none" strike="noStrike">
              <a:solidFill>
                <a:schemeClr val="dk1"/>
              </a:solidFill>
              <a:latin typeface="Calibri"/>
              <a:ea typeface="Calibri"/>
              <a:cs typeface="Calibri"/>
              <a:sym typeface="Calibri"/>
            </a:endParaRPr>
          </a:p>
        </p:txBody>
      </p:sp>
      <p:sp>
        <p:nvSpPr>
          <p:cNvPr id="258" name="Google Shape;258;g3c5d1c309b5_8_135"/>
          <p:cNvSpPr/>
          <p:nvPr/>
        </p:nvSpPr>
        <p:spPr>
          <a:xfrm>
            <a:off x="6729984" y="2145792"/>
            <a:ext cx="4767072"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If the file is a ZIP — inspect it, handle encryption, detect disguised files inside, extract recursively.</a:t>
            </a:r>
            <a:endParaRPr b="0" i="0" sz="1300" u="none" cap="none" strike="noStrike">
              <a:solidFill>
                <a:schemeClr val="dk1"/>
              </a:solidFill>
              <a:latin typeface="Calibri"/>
              <a:ea typeface="Calibri"/>
              <a:cs typeface="Calibri"/>
              <a:sym typeface="Calibri"/>
            </a:endParaRPr>
          </a:p>
        </p:txBody>
      </p:sp>
      <p:sp>
        <p:nvSpPr>
          <p:cNvPr id="259" name="Google Shape;259;g3c5d1c309b5_8_135"/>
          <p:cNvSpPr/>
          <p:nvPr/>
        </p:nvSpPr>
        <p:spPr>
          <a:xfrm>
            <a:off x="426720" y="2901696"/>
            <a:ext cx="5547360" cy="1072896"/>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3c5d1c309b5_8_135"/>
          <p:cNvSpPr/>
          <p:nvPr/>
        </p:nvSpPr>
        <p:spPr>
          <a:xfrm>
            <a:off x="426720" y="2901696"/>
            <a:ext cx="512064"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3c5d1c309b5_8_135"/>
          <p:cNvSpPr/>
          <p:nvPr/>
        </p:nvSpPr>
        <p:spPr>
          <a:xfrm>
            <a:off x="426720" y="2901696"/>
            <a:ext cx="512064"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900"/>
              <a:buFont typeface="Calibri"/>
              <a:buNone/>
            </a:pPr>
            <a:r>
              <a:rPr b="1" i="0" lang="en-US" sz="1900" u="none" cap="none" strike="noStrike">
                <a:solidFill>
                  <a:srgbClr val="AED6F1"/>
                </a:solidFill>
                <a:latin typeface="Calibri"/>
                <a:ea typeface="Calibri"/>
                <a:cs typeface="Calibri"/>
                <a:sym typeface="Calibri"/>
              </a:rPr>
              <a:t>3</a:t>
            </a:r>
            <a:endParaRPr b="0" i="0" sz="1900" u="none" cap="none" strike="noStrike">
              <a:solidFill>
                <a:schemeClr val="dk1"/>
              </a:solidFill>
              <a:latin typeface="Calibri"/>
              <a:ea typeface="Calibri"/>
              <a:cs typeface="Calibri"/>
              <a:sym typeface="Calibri"/>
            </a:endParaRPr>
          </a:p>
        </p:txBody>
      </p:sp>
      <p:sp>
        <p:nvSpPr>
          <p:cNvPr id="262" name="Google Shape;262;g3c5d1c309b5_8_135"/>
          <p:cNvSpPr/>
          <p:nvPr/>
        </p:nvSpPr>
        <p:spPr>
          <a:xfrm>
            <a:off x="1060704" y="2974848"/>
            <a:ext cx="47670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Isolated Environment</a:t>
            </a:r>
            <a:endParaRPr b="0" i="0" sz="1500" u="none" cap="none" strike="noStrike">
              <a:solidFill>
                <a:schemeClr val="dk1"/>
              </a:solidFill>
              <a:latin typeface="Calibri"/>
              <a:ea typeface="Calibri"/>
              <a:cs typeface="Calibri"/>
              <a:sym typeface="Calibri"/>
            </a:endParaRPr>
          </a:p>
        </p:txBody>
      </p:sp>
      <p:sp>
        <p:nvSpPr>
          <p:cNvPr id="263" name="Google Shape;263;g3c5d1c309b5_8_135"/>
          <p:cNvSpPr/>
          <p:nvPr/>
        </p:nvSpPr>
        <p:spPr>
          <a:xfrm>
            <a:off x="1060704" y="3364992"/>
            <a:ext cx="4767072"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Set hard kernel-level limits (128 MB RAM, 20s CPU). Run in an isolated directory with no environment variables.</a:t>
            </a:r>
            <a:endParaRPr b="0" i="0" sz="1300" u="none" cap="none" strike="noStrike">
              <a:solidFill>
                <a:schemeClr val="dk1"/>
              </a:solidFill>
              <a:latin typeface="Calibri"/>
              <a:ea typeface="Calibri"/>
              <a:cs typeface="Calibri"/>
              <a:sym typeface="Calibri"/>
            </a:endParaRPr>
          </a:p>
        </p:txBody>
      </p:sp>
      <p:sp>
        <p:nvSpPr>
          <p:cNvPr id="264" name="Google Shape;264;g3c5d1c309b5_8_135"/>
          <p:cNvSpPr/>
          <p:nvPr/>
        </p:nvSpPr>
        <p:spPr>
          <a:xfrm>
            <a:off x="6096000" y="2901696"/>
            <a:ext cx="5547360" cy="1072896"/>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3c5d1c309b5_8_135"/>
          <p:cNvSpPr/>
          <p:nvPr/>
        </p:nvSpPr>
        <p:spPr>
          <a:xfrm>
            <a:off x="6096000" y="2901696"/>
            <a:ext cx="512064"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c5d1c309b5_8_135"/>
          <p:cNvSpPr/>
          <p:nvPr/>
        </p:nvSpPr>
        <p:spPr>
          <a:xfrm>
            <a:off x="6096000" y="2901696"/>
            <a:ext cx="512064"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900"/>
              <a:buFont typeface="Calibri"/>
              <a:buNone/>
            </a:pPr>
            <a:r>
              <a:rPr b="1" i="0" lang="en-US" sz="1900" u="none" cap="none" strike="noStrike">
                <a:solidFill>
                  <a:srgbClr val="AED6F1"/>
                </a:solidFill>
                <a:latin typeface="Calibri"/>
                <a:ea typeface="Calibri"/>
                <a:cs typeface="Calibri"/>
                <a:sym typeface="Calibri"/>
              </a:rPr>
              <a:t>4</a:t>
            </a:r>
            <a:endParaRPr b="0" i="0" sz="1900" u="none" cap="none" strike="noStrike">
              <a:solidFill>
                <a:schemeClr val="dk1"/>
              </a:solidFill>
              <a:latin typeface="Calibri"/>
              <a:ea typeface="Calibri"/>
              <a:cs typeface="Calibri"/>
              <a:sym typeface="Calibri"/>
            </a:endParaRPr>
          </a:p>
        </p:txBody>
      </p:sp>
      <p:sp>
        <p:nvSpPr>
          <p:cNvPr id="267" name="Google Shape;267;g3c5d1c309b5_8_135"/>
          <p:cNvSpPr/>
          <p:nvPr/>
        </p:nvSpPr>
        <p:spPr>
          <a:xfrm>
            <a:off x="6729984" y="2974848"/>
            <a:ext cx="47670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Execute + 4 Monitors</a:t>
            </a:r>
            <a:endParaRPr b="0" i="0" sz="1500" u="none" cap="none" strike="noStrike">
              <a:solidFill>
                <a:schemeClr val="dk1"/>
              </a:solidFill>
              <a:latin typeface="Calibri"/>
              <a:ea typeface="Calibri"/>
              <a:cs typeface="Calibri"/>
              <a:sym typeface="Calibri"/>
            </a:endParaRPr>
          </a:p>
        </p:txBody>
      </p:sp>
      <p:sp>
        <p:nvSpPr>
          <p:cNvPr id="268" name="Google Shape;268;g3c5d1c309b5_8_135"/>
          <p:cNvSpPr/>
          <p:nvPr/>
        </p:nvSpPr>
        <p:spPr>
          <a:xfrm>
            <a:off x="6729984" y="3364992"/>
            <a:ext cx="4767072"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Actually run the file. Four monitors record file writes, network calls, child processes, and privilege changes in real time.</a:t>
            </a:r>
            <a:endParaRPr b="0" i="0" sz="1300" u="none" cap="none" strike="noStrike">
              <a:solidFill>
                <a:schemeClr val="dk1"/>
              </a:solidFill>
              <a:latin typeface="Calibri"/>
              <a:ea typeface="Calibri"/>
              <a:cs typeface="Calibri"/>
              <a:sym typeface="Calibri"/>
            </a:endParaRPr>
          </a:p>
        </p:txBody>
      </p:sp>
      <p:sp>
        <p:nvSpPr>
          <p:cNvPr id="269" name="Google Shape;269;g3c5d1c309b5_8_135"/>
          <p:cNvSpPr/>
          <p:nvPr/>
        </p:nvSpPr>
        <p:spPr>
          <a:xfrm>
            <a:off x="426720" y="4120896"/>
            <a:ext cx="5547360" cy="1072896"/>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3c5d1c309b5_8_135"/>
          <p:cNvSpPr/>
          <p:nvPr/>
        </p:nvSpPr>
        <p:spPr>
          <a:xfrm>
            <a:off x="426720" y="4120896"/>
            <a:ext cx="512064"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c5d1c309b5_8_135"/>
          <p:cNvSpPr/>
          <p:nvPr/>
        </p:nvSpPr>
        <p:spPr>
          <a:xfrm>
            <a:off x="426720" y="4120896"/>
            <a:ext cx="512064"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900"/>
              <a:buFont typeface="Calibri"/>
              <a:buNone/>
            </a:pPr>
            <a:r>
              <a:rPr b="1" i="0" lang="en-US" sz="1900" u="none" cap="none" strike="noStrike">
                <a:solidFill>
                  <a:srgbClr val="AED6F1"/>
                </a:solidFill>
                <a:latin typeface="Calibri"/>
                <a:ea typeface="Calibri"/>
                <a:cs typeface="Calibri"/>
                <a:sym typeface="Calibri"/>
              </a:rPr>
              <a:t>5</a:t>
            </a:r>
            <a:endParaRPr b="0" i="0" sz="1900" u="none" cap="none" strike="noStrike">
              <a:solidFill>
                <a:schemeClr val="dk1"/>
              </a:solidFill>
              <a:latin typeface="Calibri"/>
              <a:ea typeface="Calibri"/>
              <a:cs typeface="Calibri"/>
              <a:sym typeface="Calibri"/>
            </a:endParaRPr>
          </a:p>
        </p:txBody>
      </p:sp>
      <p:sp>
        <p:nvSpPr>
          <p:cNvPr id="272" name="Google Shape;272;g3c5d1c309b5_8_135"/>
          <p:cNvSpPr/>
          <p:nvPr/>
        </p:nvSpPr>
        <p:spPr>
          <a:xfrm>
            <a:off x="1060704" y="4194048"/>
            <a:ext cx="47670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Risk Scoring</a:t>
            </a:r>
            <a:endParaRPr b="0" i="0" sz="1500" u="none" cap="none" strike="noStrike">
              <a:solidFill>
                <a:schemeClr val="dk1"/>
              </a:solidFill>
              <a:latin typeface="Calibri"/>
              <a:ea typeface="Calibri"/>
              <a:cs typeface="Calibri"/>
              <a:sym typeface="Calibri"/>
            </a:endParaRPr>
          </a:p>
        </p:txBody>
      </p:sp>
      <p:sp>
        <p:nvSpPr>
          <p:cNvPr id="273" name="Google Shape;273;g3c5d1c309b5_8_135"/>
          <p:cNvSpPr/>
          <p:nvPr/>
        </p:nvSpPr>
        <p:spPr>
          <a:xfrm>
            <a:off x="1060704" y="4584192"/>
            <a:ext cx="4767072"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Every suspicious action adds points. Self-replication = +40. Network callback = +25. Total score computed.</a:t>
            </a:r>
            <a:endParaRPr b="0" i="0" sz="1300" u="none" cap="none" strike="noStrike">
              <a:solidFill>
                <a:schemeClr val="dk1"/>
              </a:solidFill>
              <a:latin typeface="Calibri"/>
              <a:ea typeface="Calibri"/>
              <a:cs typeface="Calibri"/>
              <a:sym typeface="Calibri"/>
            </a:endParaRPr>
          </a:p>
        </p:txBody>
      </p:sp>
      <p:sp>
        <p:nvSpPr>
          <p:cNvPr id="274" name="Google Shape;274;g3c5d1c309b5_8_135"/>
          <p:cNvSpPr/>
          <p:nvPr/>
        </p:nvSpPr>
        <p:spPr>
          <a:xfrm>
            <a:off x="6096000" y="4120896"/>
            <a:ext cx="5547360" cy="1072896"/>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3c5d1c309b5_8_135"/>
          <p:cNvSpPr/>
          <p:nvPr/>
        </p:nvSpPr>
        <p:spPr>
          <a:xfrm>
            <a:off x="6096000" y="4120896"/>
            <a:ext cx="512064"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3c5d1c309b5_8_135"/>
          <p:cNvSpPr/>
          <p:nvPr/>
        </p:nvSpPr>
        <p:spPr>
          <a:xfrm>
            <a:off x="6096000" y="4120896"/>
            <a:ext cx="512064"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900"/>
              <a:buFont typeface="Calibri"/>
              <a:buNone/>
            </a:pPr>
            <a:r>
              <a:rPr b="1" i="0" lang="en-US" sz="1900" u="none" cap="none" strike="noStrike">
                <a:solidFill>
                  <a:srgbClr val="AED6F1"/>
                </a:solidFill>
                <a:latin typeface="Calibri"/>
                <a:ea typeface="Calibri"/>
                <a:cs typeface="Calibri"/>
                <a:sym typeface="Calibri"/>
              </a:rPr>
              <a:t>6</a:t>
            </a:r>
            <a:endParaRPr b="0" i="0" sz="1900" u="none" cap="none" strike="noStrike">
              <a:solidFill>
                <a:schemeClr val="dk1"/>
              </a:solidFill>
              <a:latin typeface="Calibri"/>
              <a:ea typeface="Calibri"/>
              <a:cs typeface="Calibri"/>
              <a:sym typeface="Calibri"/>
            </a:endParaRPr>
          </a:p>
        </p:txBody>
      </p:sp>
      <p:sp>
        <p:nvSpPr>
          <p:cNvPr id="277" name="Google Shape;277;g3c5d1c309b5_8_135"/>
          <p:cNvSpPr/>
          <p:nvPr/>
        </p:nvSpPr>
        <p:spPr>
          <a:xfrm>
            <a:off x="6729984" y="4194048"/>
            <a:ext cx="47670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IOC Correlation</a:t>
            </a:r>
            <a:endParaRPr b="0" i="0" sz="1500" u="none" cap="none" strike="noStrike">
              <a:solidFill>
                <a:schemeClr val="dk1"/>
              </a:solidFill>
              <a:latin typeface="Calibri"/>
              <a:ea typeface="Calibri"/>
              <a:cs typeface="Calibri"/>
              <a:sym typeface="Calibri"/>
            </a:endParaRPr>
          </a:p>
        </p:txBody>
      </p:sp>
      <p:sp>
        <p:nvSpPr>
          <p:cNvPr id="278" name="Google Shape;278;g3c5d1c309b5_8_135"/>
          <p:cNvSpPr/>
          <p:nvPr/>
        </p:nvSpPr>
        <p:spPr>
          <a:xfrm>
            <a:off x="6729984" y="4584192"/>
            <a:ext cx="4767072"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File hash, IPs, and domains are checked against known malware indicators. A match adds +20 points.</a:t>
            </a:r>
            <a:endParaRPr b="0" i="0" sz="1300" u="none" cap="none" strike="noStrike">
              <a:solidFill>
                <a:schemeClr val="dk1"/>
              </a:solidFill>
              <a:latin typeface="Calibri"/>
              <a:ea typeface="Calibri"/>
              <a:cs typeface="Calibri"/>
              <a:sym typeface="Calibri"/>
            </a:endParaRPr>
          </a:p>
        </p:txBody>
      </p:sp>
      <p:sp>
        <p:nvSpPr>
          <p:cNvPr id="279" name="Google Shape;279;g3c5d1c309b5_8_135"/>
          <p:cNvSpPr/>
          <p:nvPr/>
        </p:nvSpPr>
        <p:spPr>
          <a:xfrm>
            <a:off x="426720" y="5340096"/>
            <a:ext cx="5547360" cy="1072896"/>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3c5d1c309b5_8_135"/>
          <p:cNvSpPr/>
          <p:nvPr/>
        </p:nvSpPr>
        <p:spPr>
          <a:xfrm>
            <a:off x="426720" y="5340096"/>
            <a:ext cx="512064"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3c5d1c309b5_8_135"/>
          <p:cNvSpPr/>
          <p:nvPr/>
        </p:nvSpPr>
        <p:spPr>
          <a:xfrm>
            <a:off x="426720" y="5340096"/>
            <a:ext cx="512064"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900"/>
              <a:buFont typeface="Calibri"/>
              <a:buNone/>
            </a:pPr>
            <a:r>
              <a:rPr b="1" i="0" lang="en-US" sz="1900" u="none" cap="none" strike="noStrike">
                <a:solidFill>
                  <a:srgbClr val="AED6F1"/>
                </a:solidFill>
                <a:latin typeface="Calibri"/>
                <a:ea typeface="Calibri"/>
                <a:cs typeface="Calibri"/>
                <a:sym typeface="Calibri"/>
              </a:rPr>
              <a:t>7</a:t>
            </a:r>
            <a:endParaRPr b="0" i="0" sz="1900" u="none" cap="none" strike="noStrike">
              <a:solidFill>
                <a:schemeClr val="dk1"/>
              </a:solidFill>
              <a:latin typeface="Calibri"/>
              <a:ea typeface="Calibri"/>
              <a:cs typeface="Calibri"/>
              <a:sym typeface="Calibri"/>
            </a:endParaRPr>
          </a:p>
        </p:txBody>
      </p:sp>
      <p:sp>
        <p:nvSpPr>
          <p:cNvPr id="282" name="Google Shape;282;g3c5d1c309b5_8_135"/>
          <p:cNvSpPr/>
          <p:nvPr/>
        </p:nvSpPr>
        <p:spPr>
          <a:xfrm>
            <a:off x="1060704" y="5413248"/>
            <a:ext cx="47670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Verdict</a:t>
            </a:r>
            <a:endParaRPr b="0" i="0" sz="1500" u="none" cap="none" strike="noStrike">
              <a:solidFill>
                <a:schemeClr val="dk1"/>
              </a:solidFill>
              <a:latin typeface="Calibri"/>
              <a:ea typeface="Calibri"/>
              <a:cs typeface="Calibri"/>
              <a:sym typeface="Calibri"/>
            </a:endParaRPr>
          </a:p>
        </p:txBody>
      </p:sp>
      <p:sp>
        <p:nvSpPr>
          <p:cNvPr id="283" name="Google Shape;283;g3c5d1c309b5_8_135"/>
          <p:cNvSpPr/>
          <p:nvPr/>
        </p:nvSpPr>
        <p:spPr>
          <a:xfrm>
            <a:off x="1060704" y="5803392"/>
            <a:ext cx="4767072"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Score &lt; 25 → Clean.  Score 25–59 → Suspicious.  Score ≥ 60 → Malicious.</a:t>
            </a:r>
            <a:endParaRPr b="0" i="0" sz="1300" u="none" cap="none" strike="noStrike">
              <a:solidFill>
                <a:schemeClr val="dk1"/>
              </a:solidFill>
              <a:latin typeface="Calibri"/>
              <a:ea typeface="Calibri"/>
              <a:cs typeface="Calibri"/>
              <a:sym typeface="Calibri"/>
            </a:endParaRPr>
          </a:p>
        </p:txBody>
      </p:sp>
      <p:sp>
        <p:nvSpPr>
          <p:cNvPr id="284" name="Google Shape;284;g3c5d1c309b5_8_135"/>
          <p:cNvSpPr/>
          <p:nvPr/>
        </p:nvSpPr>
        <p:spPr>
          <a:xfrm>
            <a:off x="6096000" y="5340096"/>
            <a:ext cx="5547360" cy="1072896"/>
          </a:xfrm>
          <a:prstGeom prst="rect">
            <a:avLst/>
          </a:prstGeom>
          <a:solidFill>
            <a:srgbClr val="FFFFFF"/>
          </a:solidFill>
          <a:ln cap="flat" cmpd="sng" w="12700">
            <a:solidFill>
              <a:srgbClr val="BDC3C7"/>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c5d1c309b5_8_135"/>
          <p:cNvSpPr/>
          <p:nvPr/>
        </p:nvSpPr>
        <p:spPr>
          <a:xfrm>
            <a:off x="6096000" y="5340096"/>
            <a:ext cx="512064"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g3c5d1c309b5_8_135"/>
          <p:cNvSpPr/>
          <p:nvPr/>
        </p:nvSpPr>
        <p:spPr>
          <a:xfrm>
            <a:off x="6096000" y="5340096"/>
            <a:ext cx="512064"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900"/>
              <a:buFont typeface="Calibri"/>
              <a:buNone/>
            </a:pPr>
            <a:r>
              <a:rPr b="1" i="0" lang="en-US" sz="1900" u="none" cap="none" strike="noStrike">
                <a:solidFill>
                  <a:srgbClr val="AED6F1"/>
                </a:solidFill>
                <a:latin typeface="Calibri"/>
                <a:ea typeface="Calibri"/>
                <a:cs typeface="Calibri"/>
                <a:sym typeface="Calibri"/>
              </a:rPr>
              <a:t>8</a:t>
            </a:r>
            <a:endParaRPr b="0" i="0" sz="1900" u="none" cap="none" strike="noStrike">
              <a:solidFill>
                <a:schemeClr val="dk1"/>
              </a:solidFill>
              <a:latin typeface="Calibri"/>
              <a:ea typeface="Calibri"/>
              <a:cs typeface="Calibri"/>
              <a:sym typeface="Calibri"/>
            </a:endParaRPr>
          </a:p>
        </p:txBody>
      </p:sp>
      <p:sp>
        <p:nvSpPr>
          <p:cNvPr id="287" name="Google Shape;287;g3c5d1c309b5_8_135"/>
          <p:cNvSpPr/>
          <p:nvPr/>
        </p:nvSpPr>
        <p:spPr>
          <a:xfrm>
            <a:off x="6729984" y="5413248"/>
            <a:ext cx="47670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Feedback Loop</a:t>
            </a:r>
            <a:endParaRPr b="0" i="0" sz="1500" u="none" cap="none" strike="noStrike">
              <a:solidFill>
                <a:schemeClr val="dk1"/>
              </a:solidFill>
              <a:latin typeface="Calibri"/>
              <a:ea typeface="Calibri"/>
              <a:cs typeface="Calibri"/>
              <a:sym typeface="Calibri"/>
            </a:endParaRPr>
          </a:p>
        </p:txBody>
      </p:sp>
      <p:sp>
        <p:nvSpPr>
          <p:cNvPr id="288" name="Google Shape;288;g3c5d1c309b5_8_135"/>
          <p:cNvSpPr/>
          <p:nvPr/>
        </p:nvSpPr>
        <p:spPr>
          <a:xfrm>
            <a:off x="6729984" y="5803392"/>
            <a:ext cx="4767072"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Verdict and behavioral trace feed back into the ML classifier and Game-Theoretic Estimator to improve future detection.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g3c5d1c309b5_8_182"/>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3c5d1c309b5_8_182"/>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Key Design Decisions</a:t>
            </a:r>
            <a:endParaRPr b="0" i="0" sz="2700" u="none" cap="none" strike="noStrike">
              <a:solidFill>
                <a:schemeClr val="dk1"/>
              </a:solidFill>
              <a:latin typeface="Calibri"/>
              <a:ea typeface="Calibri"/>
              <a:cs typeface="Calibri"/>
              <a:sym typeface="Calibri"/>
            </a:endParaRPr>
          </a:p>
        </p:txBody>
      </p:sp>
      <p:sp>
        <p:nvSpPr>
          <p:cNvPr id="296" name="Google Shape;296;g3c5d1c309b5_8_182"/>
          <p:cNvSpPr/>
          <p:nvPr/>
        </p:nvSpPr>
        <p:spPr>
          <a:xfrm>
            <a:off x="548640" y="1036320"/>
            <a:ext cx="1109472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Three decisions that distinguish this implementation from a naive approach.</a:t>
            </a:r>
            <a:endParaRPr b="0" i="0" sz="1700" u="none" cap="none" strike="noStrike">
              <a:solidFill>
                <a:schemeClr val="dk1"/>
              </a:solidFill>
              <a:latin typeface="Calibri"/>
              <a:ea typeface="Calibri"/>
              <a:cs typeface="Calibri"/>
              <a:sym typeface="Calibri"/>
            </a:endParaRPr>
          </a:p>
        </p:txBody>
      </p:sp>
      <p:sp>
        <p:nvSpPr>
          <p:cNvPr id="297" name="Google Shape;297;g3c5d1c309b5_8_182"/>
          <p:cNvSpPr/>
          <p:nvPr/>
        </p:nvSpPr>
        <p:spPr>
          <a:xfrm>
            <a:off x="487680" y="1682496"/>
            <a:ext cx="11216640" cy="1219200"/>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3c5d1c309b5_8_182"/>
          <p:cNvSpPr/>
          <p:nvPr/>
        </p:nvSpPr>
        <p:spPr>
          <a:xfrm>
            <a:off x="487680" y="1682496"/>
            <a:ext cx="633984" cy="12192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c5d1c309b5_8_182"/>
          <p:cNvSpPr/>
          <p:nvPr/>
        </p:nvSpPr>
        <p:spPr>
          <a:xfrm>
            <a:off x="487680" y="1682496"/>
            <a:ext cx="633984" cy="121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2000"/>
              <a:buFont typeface="Calibri"/>
              <a:buNone/>
            </a:pPr>
            <a:r>
              <a:rPr b="1" i="0" lang="en-US" sz="2000" u="none" cap="none" strike="noStrike">
                <a:solidFill>
                  <a:srgbClr val="AED6F1"/>
                </a:solidFill>
                <a:latin typeface="Calibri"/>
                <a:ea typeface="Calibri"/>
                <a:cs typeface="Calibri"/>
                <a:sym typeface="Calibri"/>
              </a:rPr>
              <a:t>01</a:t>
            </a:r>
            <a:endParaRPr b="0" i="0" sz="2000" u="none" cap="none" strike="noStrike">
              <a:solidFill>
                <a:schemeClr val="dk1"/>
              </a:solidFill>
              <a:latin typeface="Calibri"/>
              <a:ea typeface="Calibri"/>
              <a:cs typeface="Calibri"/>
              <a:sym typeface="Calibri"/>
            </a:endParaRPr>
          </a:p>
        </p:txBody>
      </p:sp>
      <p:sp>
        <p:nvSpPr>
          <p:cNvPr id="300" name="Google Shape;300;g3c5d1c309b5_8_182"/>
          <p:cNvSpPr/>
          <p:nvPr/>
        </p:nvSpPr>
        <p:spPr>
          <a:xfrm>
            <a:off x="1267968" y="1780032"/>
            <a:ext cx="1024128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Magic bytes over file extension</a:t>
            </a:r>
            <a:endParaRPr b="0" i="0" sz="1600" u="none" cap="none" strike="noStrike">
              <a:solidFill>
                <a:schemeClr val="dk1"/>
              </a:solidFill>
              <a:latin typeface="Calibri"/>
              <a:ea typeface="Calibri"/>
              <a:cs typeface="Calibri"/>
              <a:sym typeface="Calibri"/>
            </a:endParaRPr>
          </a:p>
        </p:txBody>
      </p:sp>
      <p:sp>
        <p:nvSpPr>
          <p:cNvPr id="301" name="Google Shape;301;g3c5d1c309b5_8_182"/>
          <p:cNvSpPr/>
          <p:nvPr/>
        </p:nvSpPr>
        <p:spPr>
          <a:xfrm>
            <a:off x="1267968" y="2194560"/>
            <a:ext cx="597408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Why: A file named photo.jpg can contain a shell script. We read the first bytes of every file to verify its true type — extension cannot be trusted.</a:t>
            </a:r>
            <a:endParaRPr b="0" i="0" sz="1300" u="none" cap="none" strike="noStrike">
              <a:solidFill>
                <a:schemeClr val="dk1"/>
              </a:solidFill>
              <a:latin typeface="Calibri"/>
              <a:ea typeface="Calibri"/>
              <a:cs typeface="Calibri"/>
              <a:sym typeface="Calibri"/>
            </a:endParaRPr>
          </a:p>
        </p:txBody>
      </p:sp>
      <p:sp>
        <p:nvSpPr>
          <p:cNvPr id="302" name="Google Shape;302;g3c5d1c309b5_8_182"/>
          <p:cNvSpPr/>
          <p:nvPr/>
        </p:nvSpPr>
        <p:spPr>
          <a:xfrm>
            <a:off x="7437120" y="1780032"/>
            <a:ext cx="18288" cy="999744"/>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3c5d1c309b5_8_182"/>
          <p:cNvSpPr/>
          <p:nvPr/>
        </p:nvSpPr>
        <p:spPr>
          <a:xfrm>
            <a:off x="7559040" y="1780032"/>
            <a:ext cx="3962400" cy="999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300"/>
              <a:buFont typeface="Calibri"/>
              <a:buNone/>
            </a:pPr>
            <a:r>
              <a:rPr b="0" i="0" lang="en-US" sz="1300" u="none" cap="none" strike="noStrike">
                <a:solidFill>
                  <a:srgbClr val="5D8AA8"/>
                </a:solidFill>
                <a:latin typeface="Calibri"/>
                <a:ea typeface="Calibri"/>
                <a:cs typeface="Calibri"/>
                <a:sym typeface="Calibri"/>
              </a:rPr>
              <a:t>Impact: Catches disguised files that would fool an extension-based router.</a:t>
            </a:r>
            <a:endParaRPr b="0" i="0" sz="1300" u="none" cap="none" strike="noStrike">
              <a:solidFill>
                <a:schemeClr val="dk1"/>
              </a:solidFill>
              <a:latin typeface="Calibri"/>
              <a:ea typeface="Calibri"/>
              <a:cs typeface="Calibri"/>
              <a:sym typeface="Calibri"/>
            </a:endParaRPr>
          </a:p>
        </p:txBody>
      </p:sp>
      <p:sp>
        <p:nvSpPr>
          <p:cNvPr id="304" name="Google Shape;304;g3c5d1c309b5_8_182"/>
          <p:cNvSpPr/>
          <p:nvPr/>
        </p:nvSpPr>
        <p:spPr>
          <a:xfrm>
            <a:off x="487680" y="3048000"/>
            <a:ext cx="11216640" cy="1219200"/>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3c5d1c309b5_8_182"/>
          <p:cNvSpPr/>
          <p:nvPr/>
        </p:nvSpPr>
        <p:spPr>
          <a:xfrm>
            <a:off x="487680" y="3048000"/>
            <a:ext cx="633984" cy="12192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3c5d1c309b5_8_182"/>
          <p:cNvSpPr/>
          <p:nvPr/>
        </p:nvSpPr>
        <p:spPr>
          <a:xfrm>
            <a:off x="487680" y="3048000"/>
            <a:ext cx="633984" cy="121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2000"/>
              <a:buFont typeface="Calibri"/>
              <a:buNone/>
            </a:pPr>
            <a:r>
              <a:rPr b="1" i="0" lang="en-US" sz="2000" u="none" cap="none" strike="noStrike">
                <a:solidFill>
                  <a:srgbClr val="AED6F1"/>
                </a:solidFill>
                <a:latin typeface="Calibri"/>
                <a:ea typeface="Calibri"/>
                <a:cs typeface="Calibri"/>
                <a:sym typeface="Calibri"/>
              </a:rPr>
              <a:t>02</a:t>
            </a:r>
            <a:endParaRPr b="0" i="0" sz="2000" u="none" cap="none" strike="noStrike">
              <a:solidFill>
                <a:schemeClr val="dk1"/>
              </a:solidFill>
              <a:latin typeface="Calibri"/>
              <a:ea typeface="Calibri"/>
              <a:cs typeface="Calibri"/>
              <a:sym typeface="Calibri"/>
            </a:endParaRPr>
          </a:p>
        </p:txBody>
      </p:sp>
      <p:sp>
        <p:nvSpPr>
          <p:cNvPr id="307" name="Google Shape;307;g3c5d1c309b5_8_182"/>
          <p:cNvSpPr/>
          <p:nvPr/>
        </p:nvSpPr>
        <p:spPr>
          <a:xfrm>
            <a:off x="1267968" y="3145536"/>
            <a:ext cx="1024128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Encrypted archives — no password guessing</a:t>
            </a:r>
            <a:endParaRPr b="0" i="0" sz="1600" u="none" cap="none" strike="noStrike">
              <a:solidFill>
                <a:schemeClr val="dk1"/>
              </a:solidFill>
              <a:latin typeface="Calibri"/>
              <a:ea typeface="Calibri"/>
              <a:cs typeface="Calibri"/>
              <a:sym typeface="Calibri"/>
            </a:endParaRPr>
          </a:p>
        </p:txBody>
      </p:sp>
      <p:sp>
        <p:nvSpPr>
          <p:cNvPr id="308" name="Google Shape;308;g3c5d1c309b5_8_182"/>
          <p:cNvSpPr/>
          <p:nvPr/>
        </p:nvSpPr>
        <p:spPr>
          <a:xfrm>
            <a:off x="1267968" y="3560064"/>
            <a:ext cx="597408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Why: Malware researchers use standard passwords like 'infected'. But our threat model is a sophisticated attacker targeting military drones — they would never use such passwords.</a:t>
            </a:r>
            <a:endParaRPr b="0" i="0" sz="1300" u="none" cap="none" strike="noStrike">
              <a:solidFill>
                <a:schemeClr val="dk1"/>
              </a:solidFill>
              <a:latin typeface="Calibri"/>
              <a:ea typeface="Calibri"/>
              <a:cs typeface="Calibri"/>
              <a:sym typeface="Calibri"/>
            </a:endParaRPr>
          </a:p>
        </p:txBody>
      </p:sp>
      <p:sp>
        <p:nvSpPr>
          <p:cNvPr id="309" name="Google Shape;309;g3c5d1c309b5_8_182"/>
          <p:cNvSpPr/>
          <p:nvPr/>
        </p:nvSpPr>
        <p:spPr>
          <a:xfrm>
            <a:off x="7437120" y="3145536"/>
            <a:ext cx="18288" cy="999744"/>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c5d1c309b5_8_182"/>
          <p:cNvSpPr/>
          <p:nvPr/>
        </p:nvSpPr>
        <p:spPr>
          <a:xfrm>
            <a:off x="7559040" y="3145536"/>
            <a:ext cx="3962400" cy="999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300"/>
              <a:buFont typeface="Calibri"/>
              <a:buNone/>
            </a:pPr>
            <a:r>
              <a:rPr b="0" i="0" lang="en-US" sz="1300" u="none" cap="none" strike="noStrike">
                <a:solidFill>
                  <a:srgbClr val="5D8AA8"/>
                </a:solidFill>
                <a:latin typeface="Calibri"/>
                <a:ea typeface="Calibri"/>
                <a:cs typeface="Calibri"/>
                <a:sym typeface="Calibri"/>
              </a:rPr>
              <a:t>Impact: An encrypted archive with no declared key is treated as suspicious (+25 points) rather than wasting time on password attempts.</a:t>
            </a:r>
            <a:endParaRPr b="0" i="0" sz="1300" u="none" cap="none" strike="noStrike">
              <a:solidFill>
                <a:schemeClr val="dk1"/>
              </a:solidFill>
              <a:latin typeface="Calibri"/>
              <a:ea typeface="Calibri"/>
              <a:cs typeface="Calibri"/>
              <a:sym typeface="Calibri"/>
            </a:endParaRPr>
          </a:p>
        </p:txBody>
      </p:sp>
      <p:sp>
        <p:nvSpPr>
          <p:cNvPr id="311" name="Google Shape;311;g3c5d1c309b5_8_182"/>
          <p:cNvSpPr/>
          <p:nvPr/>
        </p:nvSpPr>
        <p:spPr>
          <a:xfrm>
            <a:off x="487680" y="4413504"/>
            <a:ext cx="11216640" cy="1219200"/>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3c5d1c309b5_8_182"/>
          <p:cNvSpPr/>
          <p:nvPr/>
        </p:nvSpPr>
        <p:spPr>
          <a:xfrm>
            <a:off x="487680" y="4413504"/>
            <a:ext cx="633984" cy="12192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c5d1c309b5_8_182"/>
          <p:cNvSpPr/>
          <p:nvPr/>
        </p:nvSpPr>
        <p:spPr>
          <a:xfrm>
            <a:off x="487680" y="4413504"/>
            <a:ext cx="633984" cy="121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2000"/>
              <a:buFont typeface="Calibri"/>
              <a:buNone/>
            </a:pPr>
            <a:r>
              <a:rPr b="1" i="0" lang="en-US" sz="2000" u="none" cap="none" strike="noStrike">
                <a:solidFill>
                  <a:srgbClr val="AED6F1"/>
                </a:solidFill>
                <a:latin typeface="Calibri"/>
                <a:ea typeface="Calibri"/>
                <a:cs typeface="Calibri"/>
                <a:sym typeface="Calibri"/>
              </a:rPr>
              <a:t>03</a:t>
            </a:r>
            <a:endParaRPr b="0" i="0" sz="2000" u="none" cap="none" strike="noStrike">
              <a:solidFill>
                <a:schemeClr val="dk1"/>
              </a:solidFill>
              <a:latin typeface="Calibri"/>
              <a:ea typeface="Calibri"/>
              <a:cs typeface="Calibri"/>
              <a:sym typeface="Calibri"/>
            </a:endParaRPr>
          </a:p>
        </p:txBody>
      </p:sp>
      <p:sp>
        <p:nvSpPr>
          <p:cNvPr id="314" name="Google Shape;314;g3c5d1c309b5_8_182"/>
          <p:cNvSpPr/>
          <p:nvPr/>
        </p:nvSpPr>
        <p:spPr>
          <a:xfrm>
            <a:off x="1267968" y="4511040"/>
            <a:ext cx="1024128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Kernel-level monitoring via /proc</a:t>
            </a:r>
            <a:endParaRPr b="0" i="0" sz="1600" u="none" cap="none" strike="noStrike">
              <a:solidFill>
                <a:schemeClr val="dk1"/>
              </a:solidFill>
              <a:latin typeface="Calibri"/>
              <a:ea typeface="Calibri"/>
              <a:cs typeface="Calibri"/>
              <a:sym typeface="Calibri"/>
            </a:endParaRPr>
          </a:p>
        </p:txBody>
      </p:sp>
      <p:sp>
        <p:nvSpPr>
          <p:cNvPr id="315" name="Google Shape;315;g3c5d1c309b5_8_182"/>
          <p:cNvSpPr/>
          <p:nvPr/>
        </p:nvSpPr>
        <p:spPr>
          <a:xfrm>
            <a:off x="1267968" y="4925568"/>
            <a:ext cx="597408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Why: The Linux /proc filesystem exposes the kernel's internal state as readable files. It cannot be manipulated by the process being monitored.</a:t>
            </a:r>
            <a:endParaRPr b="0" i="0" sz="1300" u="none" cap="none" strike="noStrike">
              <a:solidFill>
                <a:schemeClr val="dk1"/>
              </a:solidFill>
              <a:latin typeface="Calibri"/>
              <a:ea typeface="Calibri"/>
              <a:cs typeface="Calibri"/>
              <a:sym typeface="Calibri"/>
            </a:endParaRPr>
          </a:p>
        </p:txBody>
      </p:sp>
      <p:sp>
        <p:nvSpPr>
          <p:cNvPr id="316" name="Google Shape;316;g3c5d1c309b5_8_182"/>
          <p:cNvSpPr/>
          <p:nvPr/>
        </p:nvSpPr>
        <p:spPr>
          <a:xfrm>
            <a:off x="7437120" y="4511040"/>
            <a:ext cx="18288" cy="999744"/>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3c5d1c309b5_8_182"/>
          <p:cNvSpPr/>
          <p:nvPr/>
        </p:nvSpPr>
        <p:spPr>
          <a:xfrm>
            <a:off x="7559040" y="4511040"/>
            <a:ext cx="3962400" cy="999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300"/>
              <a:buFont typeface="Calibri"/>
              <a:buNone/>
            </a:pPr>
            <a:r>
              <a:rPr b="0" i="0" lang="en-US" sz="1300" u="none" cap="none" strike="noStrike">
                <a:solidFill>
                  <a:srgbClr val="5D8AA8"/>
                </a:solidFill>
                <a:latin typeface="Calibri"/>
                <a:ea typeface="Calibri"/>
                <a:cs typeface="Calibri"/>
                <a:sym typeface="Calibri"/>
              </a:rPr>
              <a:t>Impact: Monitoring is reliable, lightweight, and cannot be spoofed — unlike user-space hooks that malware can bypass.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g3c5d1c309b5_8_210"/>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c5d1c309b5_8_210"/>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Behaviour Monitoring — What We Watch</a:t>
            </a:r>
            <a:endParaRPr b="0" i="0" sz="2700" u="none" cap="none" strike="noStrike">
              <a:solidFill>
                <a:schemeClr val="dk1"/>
              </a:solidFill>
              <a:latin typeface="Calibri"/>
              <a:ea typeface="Calibri"/>
              <a:cs typeface="Calibri"/>
              <a:sym typeface="Calibri"/>
            </a:endParaRPr>
          </a:p>
        </p:txBody>
      </p:sp>
      <p:sp>
        <p:nvSpPr>
          <p:cNvPr id="325" name="Google Shape;325;g3c5d1c309b5_8_210"/>
          <p:cNvSpPr/>
          <p:nvPr/>
        </p:nvSpPr>
        <p:spPr>
          <a:xfrm>
            <a:off x="548640" y="1036320"/>
            <a:ext cx="1109472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While the suspicious file runs, four things are monitored simultaneously in real time.</a:t>
            </a:r>
            <a:endParaRPr b="0" i="0" sz="1700" u="none" cap="none" strike="noStrike">
              <a:solidFill>
                <a:schemeClr val="dk1"/>
              </a:solidFill>
              <a:latin typeface="Calibri"/>
              <a:ea typeface="Calibri"/>
              <a:cs typeface="Calibri"/>
              <a:sym typeface="Calibri"/>
            </a:endParaRPr>
          </a:p>
        </p:txBody>
      </p:sp>
      <p:sp>
        <p:nvSpPr>
          <p:cNvPr id="326" name="Google Shape;326;g3c5d1c309b5_8_210"/>
          <p:cNvSpPr/>
          <p:nvPr/>
        </p:nvSpPr>
        <p:spPr>
          <a:xfrm>
            <a:off x="341376" y="1645920"/>
            <a:ext cx="2682240" cy="4450080"/>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3c5d1c309b5_8_210"/>
          <p:cNvSpPr/>
          <p:nvPr/>
        </p:nvSpPr>
        <p:spPr>
          <a:xfrm>
            <a:off x="341376" y="1645920"/>
            <a:ext cx="2682240" cy="7924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g3c5d1c309b5_8_210"/>
          <p:cNvSpPr/>
          <p:nvPr/>
        </p:nvSpPr>
        <p:spPr>
          <a:xfrm>
            <a:off x="463296" y="1645920"/>
            <a:ext cx="2438400" cy="792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  Files</a:t>
            </a:r>
            <a:endParaRPr b="0" i="0" sz="1900" u="none" cap="none" strike="noStrike">
              <a:solidFill>
                <a:schemeClr val="dk1"/>
              </a:solidFill>
              <a:latin typeface="Calibri"/>
              <a:ea typeface="Calibri"/>
              <a:cs typeface="Calibri"/>
              <a:sym typeface="Calibri"/>
            </a:endParaRPr>
          </a:p>
        </p:txBody>
      </p:sp>
      <p:sp>
        <p:nvSpPr>
          <p:cNvPr id="329" name="Google Shape;329;g3c5d1c309b5_8_210"/>
          <p:cNvSpPr/>
          <p:nvPr/>
        </p:nvSpPr>
        <p:spPr>
          <a:xfrm>
            <a:off x="487680" y="2560320"/>
            <a:ext cx="2389632" cy="877824"/>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3c5d1c309b5_8_210"/>
          <p:cNvSpPr/>
          <p:nvPr/>
        </p:nvSpPr>
        <p:spPr>
          <a:xfrm>
            <a:off x="560832" y="2560320"/>
            <a:ext cx="2243328" cy="8778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0" i="1" lang="en-US" sz="1400" u="none" cap="none" strike="noStrike">
                <a:solidFill>
                  <a:srgbClr val="1B3A5C"/>
                </a:solidFill>
                <a:latin typeface="Calibri"/>
                <a:ea typeface="Calibri"/>
                <a:cs typeface="Calibri"/>
                <a:sym typeface="Calibri"/>
              </a:rPr>
              <a:t>Is it writing or deleting files?</a:t>
            </a:r>
            <a:endParaRPr b="0" i="0" sz="1400" u="none" cap="none" strike="noStrike">
              <a:solidFill>
                <a:schemeClr val="dk1"/>
              </a:solidFill>
              <a:latin typeface="Calibri"/>
              <a:ea typeface="Calibri"/>
              <a:cs typeface="Calibri"/>
              <a:sym typeface="Calibri"/>
            </a:endParaRPr>
          </a:p>
        </p:txBody>
      </p:sp>
      <p:sp>
        <p:nvSpPr>
          <p:cNvPr id="331" name="Google Shape;331;g3c5d1c309b5_8_210"/>
          <p:cNvSpPr/>
          <p:nvPr/>
        </p:nvSpPr>
        <p:spPr>
          <a:xfrm>
            <a:off x="585216" y="3816099"/>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g3c5d1c309b5_8_210"/>
          <p:cNvSpPr/>
          <p:nvPr/>
        </p:nvSpPr>
        <p:spPr>
          <a:xfrm>
            <a:off x="780288" y="3560064"/>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Dropped a hidden executable</a:t>
            </a:r>
            <a:endParaRPr b="0" i="0" sz="1300" u="none" cap="none" strike="noStrike">
              <a:solidFill>
                <a:schemeClr val="dk1"/>
              </a:solidFill>
              <a:latin typeface="Calibri"/>
              <a:ea typeface="Calibri"/>
              <a:cs typeface="Calibri"/>
              <a:sym typeface="Calibri"/>
            </a:endParaRPr>
          </a:p>
        </p:txBody>
      </p:sp>
      <p:sp>
        <p:nvSpPr>
          <p:cNvPr id="333" name="Google Shape;333;g3c5d1c309b5_8_210"/>
          <p:cNvSpPr/>
          <p:nvPr/>
        </p:nvSpPr>
        <p:spPr>
          <a:xfrm>
            <a:off x="585216" y="4480564"/>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3c5d1c309b5_8_210"/>
          <p:cNvSpPr/>
          <p:nvPr/>
        </p:nvSpPr>
        <p:spPr>
          <a:xfrm>
            <a:off x="780288" y="4242816"/>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Accessed credential files</a:t>
            </a:r>
            <a:endParaRPr b="0" i="0" sz="1300" u="none" cap="none" strike="noStrike">
              <a:solidFill>
                <a:schemeClr val="dk1"/>
              </a:solidFill>
              <a:latin typeface="Calibri"/>
              <a:ea typeface="Calibri"/>
              <a:cs typeface="Calibri"/>
              <a:sym typeface="Calibri"/>
            </a:endParaRPr>
          </a:p>
        </p:txBody>
      </p:sp>
      <p:sp>
        <p:nvSpPr>
          <p:cNvPr id="335" name="Google Shape;335;g3c5d1c309b5_8_210"/>
          <p:cNvSpPr/>
          <p:nvPr/>
        </p:nvSpPr>
        <p:spPr>
          <a:xfrm>
            <a:off x="585254" y="5145053"/>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3c5d1c309b5_8_210"/>
          <p:cNvSpPr/>
          <p:nvPr/>
        </p:nvSpPr>
        <p:spPr>
          <a:xfrm>
            <a:off x="780288" y="4925568"/>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Modified startup scripts</a:t>
            </a:r>
            <a:endParaRPr b="0" i="0" sz="1300" u="none" cap="none" strike="noStrike">
              <a:solidFill>
                <a:schemeClr val="dk1"/>
              </a:solidFill>
              <a:latin typeface="Calibri"/>
              <a:ea typeface="Calibri"/>
              <a:cs typeface="Calibri"/>
              <a:sym typeface="Calibri"/>
            </a:endParaRPr>
          </a:p>
        </p:txBody>
      </p:sp>
      <p:sp>
        <p:nvSpPr>
          <p:cNvPr id="337" name="Google Shape;337;g3c5d1c309b5_8_210"/>
          <p:cNvSpPr/>
          <p:nvPr/>
        </p:nvSpPr>
        <p:spPr>
          <a:xfrm>
            <a:off x="3157728" y="1645920"/>
            <a:ext cx="2682240" cy="4450080"/>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3c5d1c309b5_8_210"/>
          <p:cNvSpPr/>
          <p:nvPr/>
        </p:nvSpPr>
        <p:spPr>
          <a:xfrm>
            <a:off x="3157728" y="1645920"/>
            <a:ext cx="2682240" cy="7924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g3c5d1c309b5_8_210"/>
          <p:cNvSpPr/>
          <p:nvPr/>
        </p:nvSpPr>
        <p:spPr>
          <a:xfrm>
            <a:off x="3279648" y="1645920"/>
            <a:ext cx="2438400" cy="792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  Network</a:t>
            </a:r>
            <a:endParaRPr b="0" i="0" sz="1900" u="none" cap="none" strike="noStrike">
              <a:solidFill>
                <a:schemeClr val="dk1"/>
              </a:solidFill>
              <a:latin typeface="Calibri"/>
              <a:ea typeface="Calibri"/>
              <a:cs typeface="Calibri"/>
              <a:sym typeface="Calibri"/>
            </a:endParaRPr>
          </a:p>
        </p:txBody>
      </p:sp>
      <p:sp>
        <p:nvSpPr>
          <p:cNvPr id="340" name="Google Shape;340;g3c5d1c309b5_8_210"/>
          <p:cNvSpPr/>
          <p:nvPr/>
        </p:nvSpPr>
        <p:spPr>
          <a:xfrm>
            <a:off x="3304032" y="2560320"/>
            <a:ext cx="2389632" cy="877824"/>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g3c5d1c309b5_8_210"/>
          <p:cNvSpPr/>
          <p:nvPr/>
        </p:nvSpPr>
        <p:spPr>
          <a:xfrm>
            <a:off x="3377184" y="2560320"/>
            <a:ext cx="2243328" cy="8778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0" i="1" lang="en-US" sz="1400" u="none" cap="none" strike="noStrike">
                <a:solidFill>
                  <a:srgbClr val="1B3A5C"/>
                </a:solidFill>
                <a:latin typeface="Calibri"/>
                <a:ea typeface="Calibri"/>
                <a:cs typeface="Calibri"/>
                <a:sym typeface="Calibri"/>
              </a:rPr>
              <a:t>Is it trying to connect to the internet?</a:t>
            </a:r>
            <a:endParaRPr b="0" i="0" sz="1400" u="none" cap="none" strike="noStrike">
              <a:solidFill>
                <a:schemeClr val="dk1"/>
              </a:solidFill>
              <a:latin typeface="Calibri"/>
              <a:ea typeface="Calibri"/>
              <a:cs typeface="Calibri"/>
              <a:sym typeface="Calibri"/>
            </a:endParaRPr>
          </a:p>
        </p:txBody>
      </p:sp>
      <p:sp>
        <p:nvSpPr>
          <p:cNvPr id="342" name="Google Shape;342;g3c5d1c309b5_8_210"/>
          <p:cNvSpPr/>
          <p:nvPr/>
        </p:nvSpPr>
        <p:spPr>
          <a:xfrm>
            <a:off x="3401568" y="3730749"/>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3c5d1c309b5_8_210"/>
          <p:cNvSpPr/>
          <p:nvPr/>
        </p:nvSpPr>
        <p:spPr>
          <a:xfrm>
            <a:off x="3596640" y="3560064"/>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Attempted outbound connection</a:t>
            </a:r>
            <a:endParaRPr b="0" i="0" sz="1300" u="none" cap="none" strike="noStrike">
              <a:solidFill>
                <a:schemeClr val="dk1"/>
              </a:solidFill>
              <a:latin typeface="Calibri"/>
              <a:ea typeface="Calibri"/>
              <a:cs typeface="Calibri"/>
              <a:sym typeface="Calibri"/>
            </a:endParaRPr>
          </a:p>
        </p:txBody>
      </p:sp>
      <p:sp>
        <p:nvSpPr>
          <p:cNvPr id="344" name="Google Shape;344;g3c5d1c309b5_8_210"/>
          <p:cNvSpPr/>
          <p:nvPr/>
        </p:nvSpPr>
        <p:spPr>
          <a:xfrm>
            <a:off x="3401568" y="4358676"/>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3c5d1c309b5_8_210"/>
          <p:cNvSpPr/>
          <p:nvPr/>
        </p:nvSpPr>
        <p:spPr>
          <a:xfrm>
            <a:off x="3596640" y="4242816"/>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Called back to an external server</a:t>
            </a:r>
            <a:endParaRPr b="0" i="0" sz="1300" u="none" cap="none" strike="noStrike">
              <a:solidFill>
                <a:schemeClr val="dk1"/>
              </a:solidFill>
              <a:latin typeface="Calibri"/>
              <a:ea typeface="Calibri"/>
              <a:cs typeface="Calibri"/>
              <a:sym typeface="Calibri"/>
            </a:endParaRPr>
          </a:p>
        </p:txBody>
      </p:sp>
      <p:sp>
        <p:nvSpPr>
          <p:cNvPr id="346" name="Google Shape;346;g3c5d1c309b5_8_210"/>
          <p:cNvSpPr/>
          <p:nvPr/>
        </p:nvSpPr>
        <p:spPr>
          <a:xfrm>
            <a:off x="3401618" y="5084078"/>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3c5d1c309b5_8_210"/>
          <p:cNvSpPr/>
          <p:nvPr/>
        </p:nvSpPr>
        <p:spPr>
          <a:xfrm>
            <a:off x="3596640" y="4925568"/>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Even failed attempts are recorded</a:t>
            </a:r>
            <a:endParaRPr b="0" i="0" sz="1300" u="none" cap="none" strike="noStrike">
              <a:solidFill>
                <a:schemeClr val="dk1"/>
              </a:solidFill>
              <a:latin typeface="Calibri"/>
              <a:ea typeface="Calibri"/>
              <a:cs typeface="Calibri"/>
              <a:sym typeface="Calibri"/>
            </a:endParaRPr>
          </a:p>
        </p:txBody>
      </p:sp>
      <p:sp>
        <p:nvSpPr>
          <p:cNvPr id="348" name="Google Shape;348;g3c5d1c309b5_8_210"/>
          <p:cNvSpPr/>
          <p:nvPr/>
        </p:nvSpPr>
        <p:spPr>
          <a:xfrm>
            <a:off x="5974080" y="1645920"/>
            <a:ext cx="2682240" cy="4450080"/>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g3c5d1c309b5_8_210"/>
          <p:cNvSpPr/>
          <p:nvPr/>
        </p:nvSpPr>
        <p:spPr>
          <a:xfrm>
            <a:off x="5974080" y="1645920"/>
            <a:ext cx="2682240" cy="7924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3c5d1c309b5_8_210"/>
          <p:cNvSpPr/>
          <p:nvPr/>
        </p:nvSpPr>
        <p:spPr>
          <a:xfrm>
            <a:off x="6096000" y="1645920"/>
            <a:ext cx="2438400" cy="792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  Processes</a:t>
            </a:r>
            <a:endParaRPr b="0" i="0" sz="1900" u="none" cap="none" strike="noStrike">
              <a:solidFill>
                <a:schemeClr val="dk1"/>
              </a:solidFill>
              <a:latin typeface="Calibri"/>
              <a:ea typeface="Calibri"/>
              <a:cs typeface="Calibri"/>
              <a:sym typeface="Calibri"/>
            </a:endParaRPr>
          </a:p>
        </p:txBody>
      </p:sp>
      <p:sp>
        <p:nvSpPr>
          <p:cNvPr id="351" name="Google Shape;351;g3c5d1c309b5_8_210"/>
          <p:cNvSpPr/>
          <p:nvPr/>
        </p:nvSpPr>
        <p:spPr>
          <a:xfrm>
            <a:off x="6120384" y="2560320"/>
            <a:ext cx="2389632" cy="877824"/>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3c5d1c309b5_8_210"/>
          <p:cNvSpPr/>
          <p:nvPr/>
        </p:nvSpPr>
        <p:spPr>
          <a:xfrm>
            <a:off x="6193536" y="2560320"/>
            <a:ext cx="2243328" cy="8778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0" i="1" lang="en-US" sz="1400" u="none" cap="none" strike="noStrike">
                <a:solidFill>
                  <a:srgbClr val="1B3A5C"/>
                </a:solidFill>
                <a:latin typeface="Calibri"/>
                <a:ea typeface="Calibri"/>
                <a:cs typeface="Calibri"/>
                <a:sym typeface="Calibri"/>
              </a:rPr>
              <a:t>Is it launching other programs?</a:t>
            </a:r>
            <a:endParaRPr b="0" i="0" sz="1400" u="none" cap="none" strike="noStrike">
              <a:solidFill>
                <a:schemeClr val="dk1"/>
              </a:solidFill>
              <a:latin typeface="Calibri"/>
              <a:ea typeface="Calibri"/>
              <a:cs typeface="Calibri"/>
              <a:sym typeface="Calibri"/>
            </a:endParaRPr>
          </a:p>
        </p:txBody>
      </p:sp>
      <p:sp>
        <p:nvSpPr>
          <p:cNvPr id="353" name="Google Shape;353;g3c5d1c309b5_8_210"/>
          <p:cNvSpPr/>
          <p:nvPr/>
        </p:nvSpPr>
        <p:spPr>
          <a:xfrm>
            <a:off x="6217920" y="3816099"/>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g3c5d1c309b5_8_210"/>
          <p:cNvSpPr/>
          <p:nvPr/>
        </p:nvSpPr>
        <p:spPr>
          <a:xfrm>
            <a:off x="6412992" y="3560064"/>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Opened a terminal or shell</a:t>
            </a:r>
            <a:endParaRPr b="0" i="0" sz="1300" u="none" cap="none" strike="noStrike">
              <a:solidFill>
                <a:schemeClr val="dk1"/>
              </a:solidFill>
              <a:latin typeface="Calibri"/>
              <a:ea typeface="Calibri"/>
              <a:cs typeface="Calibri"/>
              <a:sym typeface="Calibri"/>
            </a:endParaRPr>
          </a:p>
        </p:txBody>
      </p:sp>
      <p:sp>
        <p:nvSpPr>
          <p:cNvPr id="355" name="Google Shape;355;g3c5d1c309b5_8_210"/>
          <p:cNvSpPr/>
          <p:nvPr/>
        </p:nvSpPr>
        <p:spPr>
          <a:xfrm>
            <a:off x="6217920" y="4474476"/>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3c5d1c309b5_8_210"/>
          <p:cNvSpPr/>
          <p:nvPr/>
        </p:nvSpPr>
        <p:spPr>
          <a:xfrm>
            <a:off x="6412992" y="4242816"/>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Started a download tool</a:t>
            </a:r>
            <a:endParaRPr b="0" i="0" sz="1300" u="none" cap="none" strike="noStrike">
              <a:solidFill>
                <a:schemeClr val="dk1"/>
              </a:solidFill>
              <a:latin typeface="Calibri"/>
              <a:ea typeface="Calibri"/>
              <a:cs typeface="Calibri"/>
              <a:sym typeface="Calibri"/>
            </a:endParaRPr>
          </a:p>
        </p:txBody>
      </p:sp>
      <p:sp>
        <p:nvSpPr>
          <p:cNvPr id="357" name="Google Shape;357;g3c5d1c309b5_8_210"/>
          <p:cNvSpPr/>
          <p:nvPr/>
        </p:nvSpPr>
        <p:spPr>
          <a:xfrm>
            <a:off x="6217995" y="5132853"/>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c5d1c309b5_8_210"/>
          <p:cNvSpPr/>
          <p:nvPr/>
        </p:nvSpPr>
        <p:spPr>
          <a:xfrm>
            <a:off x="6412992" y="4925568"/>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Created a copy of itself</a:t>
            </a:r>
            <a:endParaRPr b="0" i="0" sz="1300" u="none" cap="none" strike="noStrike">
              <a:solidFill>
                <a:schemeClr val="dk1"/>
              </a:solidFill>
              <a:latin typeface="Calibri"/>
              <a:ea typeface="Calibri"/>
              <a:cs typeface="Calibri"/>
              <a:sym typeface="Calibri"/>
            </a:endParaRPr>
          </a:p>
        </p:txBody>
      </p:sp>
      <p:sp>
        <p:nvSpPr>
          <p:cNvPr id="359" name="Google Shape;359;g3c5d1c309b5_8_210"/>
          <p:cNvSpPr/>
          <p:nvPr/>
        </p:nvSpPr>
        <p:spPr>
          <a:xfrm>
            <a:off x="8790432" y="1645920"/>
            <a:ext cx="2682300" cy="4450200"/>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3c5d1c309b5_8_210"/>
          <p:cNvSpPr/>
          <p:nvPr/>
        </p:nvSpPr>
        <p:spPr>
          <a:xfrm>
            <a:off x="8790432" y="1645920"/>
            <a:ext cx="2682240" cy="7924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3c5d1c309b5_8_210"/>
          <p:cNvSpPr/>
          <p:nvPr/>
        </p:nvSpPr>
        <p:spPr>
          <a:xfrm>
            <a:off x="8912352" y="1645920"/>
            <a:ext cx="2438400" cy="792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  Permissions</a:t>
            </a:r>
            <a:endParaRPr b="0" i="0" sz="1900" u="none" cap="none" strike="noStrike">
              <a:solidFill>
                <a:schemeClr val="dk1"/>
              </a:solidFill>
              <a:latin typeface="Calibri"/>
              <a:ea typeface="Calibri"/>
              <a:cs typeface="Calibri"/>
              <a:sym typeface="Calibri"/>
            </a:endParaRPr>
          </a:p>
        </p:txBody>
      </p:sp>
      <p:sp>
        <p:nvSpPr>
          <p:cNvPr id="362" name="Google Shape;362;g3c5d1c309b5_8_210"/>
          <p:cNvSpPr/>
          <p:nvPr/>
        </p:nvSpPr>
        <p:spPr>
          <a:xfrm>
            <a:off x="8936736" y="2560320"/>
            <a:ext cx="2389632" cy="877824"/>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3c5d1c309b5_8_210"/>
          <p:cNvSpPr/>
          <p:nvPr/>
        </p:nvSpPr>
        <p:spPr>
          <a:xfrm>
            <a:off x="9009888" y="2560320"/>
            <a:ext cx="2243328" cy="8778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0" i="1" lang="en-US" sz="1400" u="none" cap="none" strike="noStrike">
                <a:solidFill>
                  <a:srgbClr val="1B3A5C"/>
                </a:solidFill>
                <a:latin typeface="Calibri"/>
                <a:ea typeface="Calibri"/>
                <a:cs typeface="Calibri"/>
                <a:sym typeface="Calibri"/>
              </a:rPr>
              <a:t>Is it trying to gain more access?</a:t>
            </a:r>
            <a:endParaRPr b="0" i="0" sz="1400" u="none" cap="none" strike="noStrike">
              <a:solidFill>
                <a:schemeClr val="dk1"/>
              </a:solidFill>
              <a:latin typeface="Calibri"/>
              <a:ea typeface="Calibri"/>
              <a:cs typeface="Calibri"/>
              <a:sym typeface="Calibri"/>
            </a:endParaRPr>
          </a:p>
        </p:txBody>
      </p:sp>
      <p:sp>
        <p:nvSpPr>
          <p:cNvPr id="364" name="Google Shape;364;g3c5d1c309b5_8_210"/>
          <p:cNvSpPr/>
          <p:nvPr/>
        </p:nvSpPr>
        <p:spPr>
          <a:xfrm>
            <a:off x="9034272" y="3730787"/>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g3c5d1c309b5_8_210"/>
          <p:cNvSpPr/>
          <p:nvPr/>
        </p:nvSpPr>
        <p:spPr>
          <a:xfrm>
            <a:off x="9229344" y="3560064"/>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Attempted to become admin/root</a:t>
            </a:r>
            <a:endParaRPr b="0" i="0" sz="1300" u="none" cap="none" strike="noStrike">
              <a:solidFill>
                <a:schemeClr val="dk1"/>
              </a:solidFill>
              <a:latin typeface="Calibri"/>
              <a:ea typeface="Calibri"/>
              <a:cs typeface="Calibri"/>
              <a:sym typeface="Calibri"/>
            </a:endParaRPr>
          </a:p>
        </p:txBody>
      </p:sp>
      <p:sp>
        <p:nvSpPr>
          <p:cNvPr id="366" name="Google Shape;366;g3c5d1c309b5_8_210"/>
          <p:cNvSpPr/>
          <p:nvPr/>
        </p:nvSpPr>
        <p:spPr>
          <a:xfrm>
            <a:off x="9034272" y="4474476"/>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g3c5d1c309b5_8_210"/>
          <p:cNvSpPr/>
          <p:nvPr/>
        </p:nvSpPr>
        <p:spPr>
          <a:xfrm>
            <a:off x="9229344" y="4242816"/>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Changed its own access level</a:t>
            </a:r>
            <a:endParaRPr b="0" i="0" sz="1300" u="none" cap="none" strike="noStrike">
              <a:solidFill>
                <a:schemeClr val="dk1"/>
              </a:solidFill>
              <a:latin typeface="Calibri"/>
              <a:ea typeface="Calibri"/>
              <a:cs typeface="Calibri"/>
              <a:sym typeface="Calibri"/>
            </a:endParaRPr>
          </a:p>
        </p:txBody>
      </p:sp>
      <p:sp>
        <p:nvSpPr>
          <p:cNvPr id="368" name="Google Shape;368;g3c5d1c309b5_8_210"/>
          <p:cNvSpPr/>
          <p:nvPr/>
        </p:nvSpPr>
        <p:spPr>
          <a:xfrm>
            <a:off x="9034372" y="5132953"/>
            <a:ext cx="109800" cy="10980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g3c5d1c309b5_8_210"/>
          <p:cNvSpPr/>
          <p:nvPr/>
        </p:nvSpPr>
        <p:spPr>
          <a:xfrm>
            <a:off x="9229344" y="4925568"/>
            <a:ext cx="2097024"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Injected into another process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374" name="Shape 374"/>
        <p:cNvGrpSpPr/>
        <p:nvPr/>
      </p:nvGrpSpPr>
      <p:grpSpPr>
        <a:xfrm>
          <a:off x="0" y="0"/>
          <a:ext cx="0" cy="0"/>
          <a:chOff x="0" y="0"/>
          <a:chExt cx="0" cy="0"/>
        </a:xfrm>
      </p:grpSpPr>
      <p:sp>
        <p:nvSpPr>
          <p:cNvPr id="375" name="Google Shape;375;g3dd64fcdd29_2_10"/>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dd64fcdd29_2_10"/>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Recap: Meeting 1 + Which Sandbox Did We Choose?</a:t>
            </a:r>
            <a:endParaRPr b="0" i="0" sz="2700" u="none" cap="none" strike="noStrike">
              <a:solidFill>
                <a:schemeClr val="dk1"/>
              </a:solidFill>
              <a:latin typeface="Calibri"/>
              <a:ea typeface="Calibri"/>
              <a:cs typeface="Calibri"/>
              <a:sym typeface="Calibri"/>
            </a:endParaRPr>
          </a:p>
        </p:txBody>
      </p:sp>
      <p:sp>
        <p:nvSpPr>
          <p:cNvPr id="377" name="Google Shape;377;g3dd64fcdd29_2_10"/>
          <p:cNvSpPr/>
          <p:nvPr/>
        </p:nvSpPr>
        <p:spPr>
          <a:xfrm>
            <a:off x="487680" y="1036320"/>
            <a:ext cx="548640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From Meeting 1:</a:t>
            </a:r>
            <a:endParaRPr b="0" i="0" sz="1500" u="none" cap="none" strike="noStrike">
              <a:solidFill>
                <a:schemeClr val="dk1"/>
              </a:solidFill>
              <a:latin typeface="Calibri"/>
              <a:ea typeface="Calibri"/>
              <a:cs typeface="Calibri"/>
              <a:sym typeface="Calibri"/>
            </a:endParaRPr>
          </a:p>
        </p:txBody>
      </p:sp>
      <p:sp>
        <p:nvSpPr>
          <p:cNvPr id="378" name="Google Shape;378;g3dd64fcdd29_2_10"/>
          <p:cNvSpPr/>
          <p:nvPr/>
        </p:nvSpPr>
        <p:spPr>
          <a:xfrm>
            <a:off x="548640" y="1536192"/>
            <a:ext cx="121920" cy="1219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3dd64fcdd29_2_10"/>
          <p:cNvSpPr/>
          <p:nvPr/>
        </p:nvSpPr>
        <p:spPr>
          <a:xfrm>
            <a:off x="792480" y="1463040"/>
            <a:ext cx="51206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Sandbox is Layer 3 — HIGH threat score files only</a:t>
            </a:r>
            <a:endParaRPr b="0" i="0" sz="1400" u="none" cap="none" strike="noStrike">
              <a:solidFill>
                <a:schemeClr val="dk1"/>
              </a:solidFill>
              <a:latin typeface="Calibri"/>
              <a:ea typeface="Calibri"/>
              <a:cs typeface="Calibri"/>
              <a:sym typeface="Calibri"/>
            </a:endParaRPr>
          </a:p>
        </p:txBody>
      </p:sp>
      <p:sp>
        <p:nvSpPr>
          <p:cNvPr id="380" name="Google Shape;380;g3dd64fcdd29_2_10"/>
          <p:cNvSpPr/>
          <p:nvPr/>
        </p:nvSpPr>
        <p:spPr>
          <a:xfrm>
            <a:off x="548640" y="2121408"/>
            <a:ext cx="121920" cy="1219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3dd64fcdd29_2_10"/>
          <p:cNvSpPr/>
          <p:nvPr/>
        </p:nvSpPr>
        <p:spPr>
          <a:xfrm>
            <a:off x="792480" y="2048256"/>
            <a:ext cx="51206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Executes the file and monitors behavior — not static analysis</a:t>
            </a:r>
            <a:endParaRPr b="0" i="0" sz="1400" u="none" cap="none" strike="noStrike">
              <a:solidFill>
                <a:schemeClr val="dk1"/>
              </a:solidFill>
              <a:latin typeface="Calibri"/>
              <a:ea typeface="Calibri"/>
              <a:cs typeface="Calibri"/>
              <a:sym typeface="Calibri"/>
            </a:endParaRPr>
          </a:p>
        </p:txBody>
      </p:sp>
      <p:sp>
        <p:nvSpPr>
          <p:cNvPr id="382" name="Google Shape;382;g3dd64fcdd29_2_10"/>
          <p:cNvSpPr/>
          <p:nvPr/>
        </p:nvSpPr>
        <p:spPr>
          <a:xfrm>
            <a:off x="548640" y="2706624"/>
            <a:ext cx="121920" cy="1219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3dd64fcdd29_2_10"/>
          <p:cNvSpPr/>
          <p:nvPr/>
        </p:nvSpPr>
        <p:spPr>
          <a:xfrm>
            <a:off x="792480" y="2633472"/>
            <a:ext cx="51206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8 internal stages: routing → execution → monitoring → verdict</a:t>
            </a:r>
            <a:endParaRPr b="0" i="0" sz="1400" u="none" cap="none" strike="noStrike">
              <a:solidFill>
                <a:schemeClr val="dk1"/>
              </a:solidFill>
              <a:latin typeface="Calibri"/>
              <a:ea typeface="Calibri"/>
              <a:cs typeface="Calibri"/>
              <a:sym typeface="Calibri"/>
            </a:endParaRPr>
          </a:p>
        </p:txBody>
      </p:sp>
      <p:sp>
        <p:nvSpPr>
          <p:cNvPr id="384" name="Google Shape;384;g3dd64fcdd29_2_10"/>
          <p:cNvSpPr/>
          <p:nvPr/>
        </p:nvSpPr>
        <p:spPr>
          <a:xfrm>
            <a:off x="548640" y="3291840"/>
            <a:ext cx="121920" cy="1219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3dd64fcdd29_2_10"/>
          <p:cNvSpPr/>
          <p:nvPr/>
        </p:nvSpPr>
        <p:spPr>
          <a:xfrm>
            <a:off x="792480" y="3218688"/>
            <a:ext cx="512064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Early results confirmed across 4 test scenarios</a:t>
            </a:r>
            <a:endParaRPr b="0" i="0" sz="1400" u="none" cap="none" strike="noStrike">
              <a:solidFill>
                <a:schemeClr val="dk1"/>
              </a:solidFill>
              <a:latin typeface="Calibri"/>
              <a:ea typeface="Calibri"/>
              <a:cs typeface="Calibri"/>
              <a:sym typeface="Calibri"/>
            </a:endParaRPr>
          </a:p>
        </p:txBody>
      </p:sp>
      <p:sp>
        <p:nvSpPr>
          <p:cNvPr id="386" name="Google Shape;386;g3dd64fcdd29_2_10"/>
          <p:cNvSpPr/>
          <p:nvPr/>
        </p:nvSpPr>
        <p:spPr>
          <a:xfrm>
            <a:off x="6217920" y="1036320"/>
            <a:ext cx="5486400" cy="4389120"/>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3dd64fcdd29_2_10"/>
          <p:cNvSpPr/>
          <p:nvPr/>
        </p:nvSpPr>
        <p:spPr>
          <a:xfrm>
            <a:off x="6217920" y="1036320"/>
            <a:ext cx="5486400" cy="51206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3dd64fcdd29_2_10"/>
          <p:cNvSpPr/>
          <p:nvPr/>
        </p:nvSpPr>
        <p:spPr>
          <a:xfrm>
            <a:off x="6364224" y="1036320"/>
            <a:ext cx="521817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sandbox did we use?</a:t>
            </a:r>
            <a:endParaRPr b="0" i="0" sz="1500" u="none" cap="none" strike="noStrike">
              <a:solidFill>
                <a:schemeClr val="dk1"/>
              </a:solidFill>
              <a:latin typeface="Calibri"/>
              <a:ea typeface="Calibri"/>
              <a:cs typeface="Calibri"/>
              <a:sym typeface="Calibri"/>
            </a:endParaRPr>
          </a:p>
        </p:txBody>
      </p:sp>
      <p:sp>
        <p:nvSpPr>
          <p:cNvPr id="389" name="Google Shape;389;g3dd64fcdd29_2_10"/>
          <p:cNvSpPr/>
          <p:nvPr/>
        </p:nvSpPr>
        <p:spPr>
          <a:xfrm>
            <a:off x="6278880" y="1706880"/>
            <a:ext cx="5364480" cy="65836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dd64fcdd29_2_10"/>
          <p:cNvSpPr/>
          <p:nvPr/>
        </p:nvSpPr>
        <p:spPr>
          <a:xfrm>
            <a:off x="6437376" y="1755648"/>
            <a:ext cx="176784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Cuckoo Sandbox</a:t>
            </a:r>
            <a:endParaRPr b="0" i="0" sz="1300" u="none" cap="none" strike="noStrike">
              <a:solidFill>
                <a:schemeClr val="dk1"/>
              </a:solidFill>
              <a:latin typeface="Calibri"/>
              <a:ea typeface="Calibri"/>
              <a:cs typeface="Calibri"/>
              <a:sym typeface="Calibri"/>
            </a:endParaRPr>
          </a:p>
        </p:txBody>
      </p:sp>
      <p:sp>
        <p:nvSpPr>
          <p:cNvPr id="391" name="Google Shape;391;g3dd64fcdd29_2_10"/>
          <p:cNvSpPr/>
          <p:nvPr/>
        </p:nvSpPr>
        <p:spPr>
          <a:xfrm>
            <a:off x="6437376" y="2023872"/>
            <a:ext cx="1767840" cy="243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Open source, VM-based</a:t>
            </a:r>
            <a:endParaRPr b="0" i="0" sz="1100" u="none" cap="none" strike="noStrike">
              <a:solidFill>
                <a:schemeClr val="dk1"/>
              </a:solidFill>
              <a:latin typeface="Calibri"/>
              <a:ea typeface="Calibri"/>
              <a:cs typeface="Calibri"/>
              <a:sym typeface="Calibri"/>
            </a:endParaRPr>
          </a:p>
        </p:txBody>
      </p:sp>
      <p:sp>
        <p:nvSpPr>
          <p:cNvPr id="392" name="Google Shape;392;g3dd64fcdd29_2_10"/>
          <p:cNvSpPr/>
          <p:nvPr/>
        </p:nvSpPr>
        <p:spPr>
          <a:xfrm>
            <a:off x="8314944" y="1755648"/>
            <a:ext cx="3169920"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Requires dedicated VMs (10–30s startup each). Not maintainable on edge node. Last major update 2016.</a:t>
            </a:r>
            <a:endParaRPr b="0" i="0" sz="1100" u="none" cap="none" strike="noStrike">
              <a:solidFill>
                <a:schemeClr val="dk1"/>
              </a:solidFill>
              <a:latin typeface="Calibri"/>
              <a:ea typeface="Calibri"/>
              <a:cs typeface="Calibri"/>
              <a:sym typeface="Calibri"/>
            </a:endParaRPr>
          </a:p>
        </p:txBody>
      </p:sp>
      <p:sp>
        <p:nvSpPr>
          <p:cNvPr id="393" name="Google Shape;393;g3dd64fcdd29_2_10"/>
          <p:cNvSpPr/>
          <p:nvPr/>
        </p:nvSpPr>
        <p:spPr>
          <a:xfrm>
            <a:off x="6278880" y="2438400"/>
            <a:ext cx="5364480" cy="65836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3dd64fcdd29_2_10"/>
          <p:cNvSpPr/>
          <p:nvPr/>
        </p:nvSpPr>
        <p:spPr>
          <a:xfrm>
            <a:off x="6437376" y="2487168"/>
            <a:ext cx="176784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DRAKVUF</a:t>
            </a:r>
            <a:endParaRPr b="0" i="0" sz="1300" u="none" cap="none" strike="noStrike">
              <a:solidFill>
                <a:schemeClr val="dk1"/>
              </a:solidFill>
              <a:latin typeface="Calibri"/>
              <a:ea typeface="Calibri"/>
              <a:cs typeface="Calibri"/>
              <a:sym typeface="Calibri"/>
            </a:endParaRPr>
          </a:p>
        </p:txBody>
      </p:sp>
      <p:sp>
        <p:nvSpPr>
          <p:cNvPr id="395" name="Google Shape;395;g3dd64fcdd29_2_10"/>
          <p:cNvSpPr/>
          <p:nvPr/>
        </p:nvSpPr>
        <p:spPr>
          <a:xfrm>
            <a:off x="6437376" y="2755392"/>
            <a:ext cx="1767840" cy="243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Hypervisor / VMI-based</a:t>
            </a:r>
            <a:endParaRPr b="0" i="0" sz="1100" u="none" cap="none" strike="noStrike">
              <a:solidFill>
                <a:schemeClr val="dk1"/>
              </a:solidFill>
              <a:latin typeface="Calibri"/>
              <a:ea typeface="Calibri"/>
              <a:cs typeface="Calibri"/>
              <a:sym typeface="Calibri"/>
            </a:endParaRPr>
          </a:p>
        </p:txBody>
      </p:sp>
      <p:sp>
        <p:nvSpPr>
          <p:cNvPr id="396" name="Google Shape;396;g3dd64fcdd29_2_10"/>
          <p:cNvSpPr/>
          <p:nvPr/>
        </p:nvSpPr>
        <p:spPr>
          <a:xfrm>
            <a:off x="8314944" y="2487168"/>
            <a:ext cx="3169920"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Requires Intel VT-x + EPT hardware. Xen hypervisor dependency. Complex setup, not edge-deployable.</a:t>
            </a:r>
            <a:endParaRPr b="0" i="0" sz="1100" u="none" cap="none" strike="noStrike">
              <a:solidFill>
                <a:schemeClr val="dk1"/>
              </a:solidFill>
              <a:latin typeface="Calibri"/>
              <a:ea typeface="Calibri"/>
              <a:cs typeface="Calibri"/>
              <a:sym typeface="Calibri"/>
            </a:endParaRPr>
          </a:p>
        </p:txBody>
      </p:sp>
      <p:sp>
        <p:nvSpPr>
          <p:cNvPr id="397" name="Google Shape;397;g3dd64fcdd29_2_10"/>
          <p:cNvSpPr/>
          <p:nvPr/>
        </p:nvSpPr>
        <p:spPr>
          <a:xfrm>
            <a:off x="6278880" y="3169920"/>
            <a:ext cx="5364480" cy="65836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3dd64fcdd29_2_10"/>
          <p:cNvSpPr/>
          <p:nvPr/>
        </p:nvSpPr>
        <p:spPr>
          <a:xfrm>
            <a:off x="6437376" y="3218688"/>
            <a:ext cx="176784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ANY.RUN</a:t>
            </a:r>
            <a:endParaRPr b="0" i="0" sz="1300" u="none" cap="none" strike="noStrike">
              <a:solidFill>
                <a:schemeClr val="dk1"/>
              </a:solidFill>
              <a:latin typeface="Calibri"/>
              <a:ea typeface="Calibri"/>
              <a:cs typeface="Calibri"/>
              <a:sym typeface="Calibri"/>
            </a:endParaRPr>
          </a:p>
        </p:txBody>
      </p:sp>
      <p:sp>
        <p:nvSpPr>
          <p:cNvPr id="399" name="Google Shape;399;g3dd64fcdd29_2_10"/>
          <p:cNvSpPr/>
          <p:nvPr/>
        </p:nvSpPr>
        <p:spPr>
          <a:xfrm>
            <a:off x="6437376" y="3486912"/>
            <a:ext cx="1767840" cy="243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Cloud / Interactive</a:t>
            </a:r>
            <a:endParaRPr b="0" i="0" sz="1100" u="none" cap="none" strike="noStrike">
              <a:solidFill>
                <a:schemeClr val="dk1"/>
              </a:solidFill>
              <a:latin typeface="Calibri"/>
              <a:ea typeface="Calibri"/>
              <a:cs typeface="Calibri"/>
              <a:sym typeface="Calibri"/>
            </a:endParaRPr>
          </a:p>
        </p:txBody>
      </p:sp>
      <p:sp>
        <p:nvSpPr>
          <p:cNvPr id="400" name="Google Shape;400;g3dd64fcdd29_2_10"/>
          <p:cNvSpPr/>
          <p:nvPr/>
        </p:nvSpPr>
        <p:spPr>
          <a:xfrm>
            <a:off x="8314944" y="3218688"/>
            <a:ext cx="3169920"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Cloud-only, no offline/edge deployment. Data privacy concern for classified drone feeds.</a:t>
            </a:r>
            <a:endParaRPr b="0" i="0" sz="1100" u="none" cap="none" strike="noStrike">
              <a:solidFill>
                <a:schemeClr val="dk1"/>
              </a:solidFill>
              <a:latin typeface="Calibri"/>
              <a:ea typeface="Calibri"/>
              <a:cs typeface="Calibri"/>
              <a:sym typeface="Calibri"/>
            </a:endParaRPr>
          </a:p>
        </p:txBody>
      </p:sp>
      <p:sp>
        <p:nvSpPr>
          <p:cNvPr id="401" name="Google Shape;401;g3dd64fcdd29_2_10"/>
          <p:cNvSpPr/>
          <p:nvPr/>
        </p:nvSpPr>
        <p:spPr>
          <a:xfrm>
            <a:off x="6278880" y="3901440"/>
            <a:ext cx="5364480" cy="65836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3dd64fcdd29_2_10"/>
          <p:cNvSpPr/>
          <p:nvPr/>
        </p:nvSpPr>
        <p:spPr>
          <a:xfrm>
            <a:off x="6437376" y="3950208"/>
            <a:ext cx="1767840" cy="268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Joe Sandbox</a:t>
            </a:r>
            <a:endParaRPr b="0" i="0" sz="1300" u="none" cap="none" strike="noStrike">
              <a:solidFill>
                <a:schemeClr val="dk1"/>
              </a:solidFill>
              <a:latin typeface="Calibri"/>
              <a:ea typeface="Calibri"/>
              <a:cs typeface="Calibri"/>
              <a:sym typeface="Calibri"/>
            </a:endParaRPr>
          </a:p>
        </p:txBody>
      </p:sp>
      <p:sp>
        <p:nvSpPr>
          <p:cNvPr id="403" name="Google Shape;403;g3dd64fcdd29_2_10"/>
          <p:cNvSpPr/>
          <p:nvPr/>
        </p:nvSpPr>
        <p:spPr>
          <a:xfrm>
            <a:off x="6437376" y="4218432"/>
            <a:ext cx="1767840" cy="243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Commercial / Enterprise</a:t>
            </a:r>
            <a:endParaRPr b="0" i="0" sz="1100" u="none" cap="none" strike="noStrike">
              <a:solidFill>
                <a:schemeClr val="dk1"/>
              </a:solidFill>
              <a:latin typeface="Calibri"/>
              <a:ea typeface="Calibri"/>
              <a:cs typeface="Calibri"/>
              <a:sym typeface="Calibri"/>
            </a:endParaRPr>
          </a:p>
        </p:txBody>
      </p:sp>
      <p:sp>
        <p:nvSpPr>
          <p:cNvPr id="404" name="Google Shape;404;g3dd64fcdd29_2_10"/>
          <p:cNvSpPr/>
          <p:nvPr/>
        </p:nvSpPr>
        <p:spPr>
          <a:xfrm>
            <a:off x="8314944" y="3950208"/>
            <a:ext cx="3169920"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Expensive, closed-source, general-purpose. No integration with our custom Estimator module.</a:t>
            </a:r>
            <a:endParaRPr b="0" i="0" sz="1100" u="none" cap="none" strike="noStrike">
              <a:solidFill>
                <a:schemeClr val="dk1"/>
              </a:solidFill>
              <a:latin typeface="Calibri"/>
              <a:ea typeface="Calibri"/>
              <a:cs typeface="Calibri"/>
              <a:sym typeface="Calibri"/>
            </a:endParaRPr>
          </a:p>
        </p:txBody>
      </p:sp>
      <p:sp>
        <p:nvSpPr>
          <p:cNvPr id="405" name="Google Shape;405;g3dd64fcdd29_2_10"/>
          <p:cNvSpPr/>
          <p:nvPr/>
        </p:nvSpPr>
        <p:spPr>
          <a:xfrm>
            <a:off x="6217920" y="4657344"/>
            <a:ext cx="5486400" cy="633984"/>
          </a:xfrm>
          <a:prstGeom prst="rect">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g3dd64fcdd29_2_10"/>
          <p:cNvSpPr/>
          <p:nvPr/>
        </p:nvSpPr>
        <p:spPr>
          <a:xfrm>
            <a:off x="6364224" y="4657344"/>
            <a:ext cx="5242560" cy="6339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Decision: Build a purpose-built, lightweight sandbox using native Linux kernel mechanisms.</a:t>
            </a:r>
            <a:endParaRPr b="0" i="0" sz="1300" u="none" cap="none" strike="noStrike">
              <a:solidFill>
                <a:schemeClr val="dk1"/>
              </a:solidFill>
              <a:latin typeface="Calibri"/>
              <a:ea typeface="Calibri"/>
              <a:cs typeface="Calibri"/>
              <a:sym typeface="Calibri"/>
            </a:endParaRPr>
          </a:p>
        </p:txBody>
      </p:sp>
      <p:sp>
        <p:nvSpPr>
          <p:cNvPr id="407" name="Google Shape;407;g3dd64fcdd29_2_10"/>
          <p:cNvSpPr/>
          <p:nvPr/>
        </p:nvSpPr>
        <p:spPr>
          <a:xfrm>
            <a:off x="487680" y="5547360"/>
            <a:ext cx="11216640"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3dd64fcdd29_2_10"/>
          <p:cNvSpPr/>
          <p:nvPr/>
        </p:nvSpPr>
        <p:spPr>
          <a:xfrm>
            <a:off x="585216" y="5547360"/>
            <a:ext cx="109728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 Sandbox comparison: Melvin &amp; Kathrine (2021) Drakvuf vs Cuckoo — Springer. doi.org/10.1007/978-981-15-5285-4_27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g3dd64fcdd29_2_48"/>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g3dd64fcdd29_2_48"/>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The 8-Stage Pipeline — Today's Map</a:t>
            </a:r>
            <a:endParaRPr b="0" i="0" sz="2700" u="none" cap="none" strike="noStrike">
              <a:solidFill>
                <a:schemeClr val="dk1"/>
              </a:solidFill>
              <a:latin typeface="Calibri"/>
              <a:ea typeface="Calibri"/>
              <a:cs typeface="Calibri"/>
              <a:sym typeface="Calibri"/>
            </a:endParaRPr>
          </a:p>
        </p:txBody>
      </p:sp>
      <p:sp>
        <p:nvSpPr>
          <p:cNvPr id="416" name="Google Shape;416;g3dd64fcdd29_2_48"/>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We will go through each stage in order. Keep this map in mind throughout the session.</a:t>
            </a:r>
            <a:endParaRPr b="0" i="0" sz="1700" u="none" cap="none" strike="noStrike">
              <a:solidFill>
                <a:schemeClr val="dk1"/>
              </a:solidFill>
              <a:latin typeface="Calibri"/>
              <a:ea typeface="Calibri"/>
              <a:cs typeface="Calibri"/>
              <a:sym typeface="Calibri"/>
            </a:endParaRPr>
          </a:p>
        </p:txBody>
      </p:sp>
      <p:sp>
        <p:nvSpPr>
          <p:cNvPr id="417" name="Google Shape;417;g3dd64fcdd29_2_48"/>
          <p:cNvSpPr/>
          <p:nvPr/>
        </p:nvSpPr>
        <p:spPr>
          <a:xfrm>
            <a:off x="426720" y="1731264"/>
            <a:ext cx="2682240" cy="1889760"/>
          </a:xfrm>
          <a:prstGeom prst="rect">
            <a:avLst/>
          </a:prstGeom>
          <a:solidFill>
            <a:srgbClr val="EAF4FB"/>
          </a:solidFill>
          <a:ln cap="flat" cmpd="sng" w="127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3dd64fcdd29_2_48"/>
          <p:cNvSpPr/>
          <p:nvPr/>
        </p:nvSpPr>
        <p:spPr>
          <a:xfrm>
            <a:off x="1426464" y="1853184"/>
            <a:ext cx="682752" cy="682752"/>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g3dd64fcdd29_2_48"/>
          <p:cNvSpPr/>
          <p:nvPr/>
        </p:nvSpPr>
        <p:spPr>
          <a:xfrm>
            <a:off x="1426464" y="1853184"/>
            <a:ext cx="682752"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1</a:t>
            </a:r>
            <a:endParaRPr b="0" i="0" sz="1900" u="none" cap="none" strike="noStrike">
              <a:solidFill>
                <a:schemeClr val="dk1"/>
              </a:solidFill>
              <a:latin typeface="Calibri"/>
              <a:ea typeface="Calibri"/>
              <a:cs typeface="Calibri"/>
              <a:sym typeface="Calibri"/>
            </a:endParaRPr>
          </a:p>
        </p:txBody>
      </p:sp>
      <p:sp>
        <p:nvSpPr>
          <p:cNvPr id="420" name="Google Shape;420;g3dd64fcdd29_2_48"/>
          <p:cNvSpPr/>
          <p:nvPr/>
        </p:nvSpPr>
        <p:spPr>
          <a:xfrm>
            <a:off x="548640" y="2645664"/>
            <a:ext cx="2438400"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File Router</a:t>
            </a:r>
            <a:endParaRPr b="0" i="0" sz="1500" u="none" cap="none" strike="noStrike">
              <a:solidFill>
                <a:schemeClr val="dk1"/>
              </a:solidFill>
              <a:latin typeface="Calibri"/>
              <a:ea typeface="Calibri"/>
              <a:cs typeface="Calibri"/>
              <a:sym typeface="Calibri"/>
            </a:endParaRPr>
          </a:p>
        </p:txBody>
      </p:sp>
      <p:sp>
        <p:nvSpPr>
          <p:cNvPr id="421" name="Google Shape;421;g3dd64fcdd29_2_48"/>
          <p:cNvSpPr/>
          <p:nvPr/>
        </p:nvSpPr>
        <p:spPr>
          <a:xfrm>
            <a:off x="548640" y="3194304"/>
            <a:ext cx="243840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magic bytes</a:t>
            </a:r>
            <a:endParaRPr b="0" i="0" sz="1100" u="none" cap="none" strike="noStrike">
              <a:solidFill>
                <a:schemeClr val="dk1"/>
              </a:solidFill>
              <a:latin typeface="Calibri"/>
              <a:ea typeface="Calibri"/>
              <a:cs typeface="Calibri"/>
              <a:sym typeface="Calibri"/>
            </a:endParaRPr>
          </a:p>
        </p:txBody>
      </p:sp>
      <p:sp>
        <p:nvSpPr>
          <p:cNvPr id="422" name="Google Shape;422;g3dd64fcdd29_2_48"/>
          <p:cNvSpPr/>
          <p:nvPr/>
        </p:nvSpPr>
        <p:spPr>
          <a:xfrm>
            <a:off x="3133344" y="2401824"/>
            <a:ext cx="146304"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900"/>
              <a:buFont typeface="Calibri"/>
              <a:buNone/>
            </a:pPr>
            <a:r>
              <a:rPr b="0" i="0" lang="en-US" sz="1900" u="none" cap="none" strike="noStrike">
                <a:solidFill>
                  <a:srgbClr val="2471A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23" name="Google Shape;423;g3dd64fcdd29_2_48"/>
          <p:cNvSpPr/>
          <p:nvPr/>
        </p:nvSpPr>
        <p:spPr>
          <a:xfrm>
            <a:off x="3291840" y="1731264"/>
            <a:ext cx="2682240" cy="1889760"/>
          </a:xfrm>
          <a:prstGeom prst="rect">
            <a:avLst/>
          </a:prstGeom>
          <a:solidFill>
            <a:srgbClr val="EAF4FB"/>
          </a:solidFill>
          <a:ln cap="flat" cmpd="sng" w="127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3dd64fcdd29_2_48"/>
          <p:cNvSpPr/>
          <p:nvPr/>
        </p:nvSpPr>
        <p:spPr>
          <a:xfrm>
            <a:off x="4291584" y="1853184"/>
            <a:ext cx="682752" cy="682752"/>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3dd64fcdd29_2_48"/>
          <p:cNvSpPr/>
          <p:nvPr/>
        </p:nvSpPr>
        <p:spPr>
          <a:xfrm>
            <a:off x="4291584" y="1853184"/>
            <a:ext cx="682752"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2</a:t>
            </a:r>
            <a:endParaRPr b="0" i="0" sz="1900" u="none" cap="none" strike="noStrike">
              <a:solidFill>
                <a:schemeClr val="dk1"/>
              </a:solidFill>
              <a:latin typeface="Calibri"/>
              <a:ea typeface="Calibri"/>
              <a:cs typeface="Calibri"/>
              <a:sym typeface="Calibri"/>
            </a:endParaRPr>
          </a:p>
        </p:txBody>
      </p:sp>
      <p:sp>
        <p:nvSpPr>
          <p:cNvPr id="426" name="Google Shape;426;g3dd64fcdd29_2_48"/>
          <p:cNvSpPr/>
          <p:nvPr/>
        </p:nvSpPr>
        <p:spPr>
          <a:xfrm>
            <a:off x="3413760" y="2645664"/>
            <a:ext cx="2438400"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Archive Handler</a:t>
            </a:r>
            <a:endParaRPr b="0" i="0" sz="1500" u="none" cap="none" strike="noStrike">
              <a:solidFill>
                <a:schemeClr val="dk1"/>
              </a:solidFill>
              <a:latin typeface="Calibri"/>
              <a:ea typeface="Calibri"/>
              <a:cs typeface="Calibri"/>
              <a:sym typeface="Calibri"/>
            </a:endParaRPr>
          </a:p>
        </p:txBody>
      </p:sp>
      <p:sp>
        <p:nvSpPr>
          <p:cNvPr id="427" name="Google Shape;427;g3dd64fcdd29_2_48"/>
          <p:cNvSpPr/>
          <p:nvPr/>
        </p:nvSpPr>
        <p:spPr>
          <a:xfrm>
            <a:off x="3413760" y="3194304"/>
            <a:ext cx="243840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ZIP / encryption</a:t>
            </a:r>
            <a:endParaRPr b="0" i="0" sz="1100" u="none" cap="none" strike="noStrike">
              <a:solidFill>
                <a:schemeClr val="dk1"/>
              </a:solidFill>
              <a:latin typeface="Calibri"/>
              <a:ea typeface="Calibri"/>
              <a:cs typeface="Calibri"/>
              <a:sym typeface="Calibri"/>
            </a:endParaRPr>
          </a:p>
        </p:txBody>
      </p:sp>
      <p:sp>
        <p:nvSpPr>
          <p:cNvPr id="428" name="Google Shape;428;g3dd64fcdd29_2_48"/>
          <p:cNvSpPr/>
          <p:nvPr/>
        </p:nvSpPr>
        <p:spPr>
          <a:xfrm>
            <a:off x="5998464" y="2401824"/>
            <a:ext cx="146304"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900"/>
              <a:buFont typeface="Calibri"/>
              <a:buNone/>
            </a:pPr>
            <a:r>
              <a:rPr b="0" i="0" lang="en-US" sz="1900" u="none" cap="none" strike="noStrike">
                <a:solidFill>
                  <a:srgbClr val="2471A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29" name="Google Shape;429;g3dd64fcdd29_2_48"/>
          <p:cNvSpPr/>
          <p:nvPr/>
        </p:nvSpPr>
        <p:spPr>
          <a:xfrm>
            <a:off x="6156960" y="1731264"/>
            <a:ext cx="2682240" cy="1889760"/>
          </a:xfrm>
          <a:prstGeom prst="rect">
            <a:avLst/>
          </a:prstGeom>
          <a:solidFill>
            <a:srgbClr val="EAF4FB"/>
          </a:solidFill>
          <a:ln cap="flat" cmpd="sng" w="127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g3dd64fcdd29_2_48"/>
          <p:cNvSpPr/>
          <p:nvPr/>
        </p:nvSpPr>
        <p:spPr>
          <a:xfrm>
            <a:off x="7156704" y="1853184"/>
            <a:ext cx="682752" cy="682752"/>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g3dd64fcdd29_2_48"/>
          <p:cNvSpPr/>
          <p:nvPr/>
        </p:nvSpPr>
        <p:spPr>
          <a:xfrm>
            <a:off x="7156704" y="1853184"/>
            <a:ext cx="682752"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3</a:t>
            </a:r>
            <a:endParaRPr b="0" i="0" sz="1900" u="none" cap="none" strike="noStrike">
              <a:solidFill>
                <a:schemeClr val="dk1"/>
              </a:solidFill>
              <a:latin typeface="Calibri"/>
              <a:ea typeface="Calibri"/>
              <a:cs typeface="Calibri"/>
              <a:sym typeface="Calibri"/>
            </a:endParaRPr>
          </a:p>
        </p:txBody>
      </p:sp>
      <p:sp>
        <p:nvSpPr>
          <p:cNvPr id="432" name="Google Shape;432;g3dd64fcdd29_2_48"/>
          <p:cNvSpPr/>
          <p:nvPr/>
        </p:nvSpPr>
        <p:spPr>
          <a:xfrm>
            <a:off x="6278880" y="2645664"/>
            <a:ext cx="2438400"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Isolated Environment</a:t>
            </a:r>
            <a:endParaRPr b="0" i="0" sz="1500" u="none" cap="none" strike="noStrike">
              <a:solidFill>
                <a:schemeClr val="dk1"/>
              </a:solidFill>
              <a:latin typeface="Calibri"/>
              <a:ea typeface="Calibri"/>
              <a:cs typeface="Calibri"/>
              <a:sym typeface="Calibri"/>
            </a:endParaRPr>
          </a:p>
        </p:txBody>
      </p:sp>
      <p:sp>
        <p:nvSpPr>
          <p:cNvPr id="433" name="Google Shape;433;g3dd64fcdd29_2_48"/>
          <p:cNvSpPr/>
          <p:nvPr/>
        </p:nvSpPr>
        <p:spPr>
          <a:xfrm>
            <a:off x="6278880" y="3194304"/>
            <a:ext cx="243840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kernel limits</a:t>
            </a:r>
            <a:endParaRPr b="0" i="0" sz="1100" u="none" cap="none" strike="noStrike">
              <a:solidFill>
                <a:schemeClr val="dk1"/>
              </a:solidFill>
              <a:latin typeface="Calibri"/>
              <a:ea typeface="Calibri"/>
              <a:cs typeface="Calibri"/>
              <a:sym typeface="Calibri"/>
            </a:endParaRPr>
          </a:p>
        </p:txBody>
      </p:sp>
      <p:sp>
        <p:nvSpPr>
          <p:cNvPr id="434" name="Google Shape;434;g3dd64fcdd29_2_48"/>
          <p:cNvSpPr/>
          <p:nvPr/>
        </p:nvSpPr>
        <p:spPr>
          <a:xfrm>
            <a:off x="8863584" y="2401824"/>
            <a:ext cx="146304"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900"/>
              <a:buFont typeface="Calibri"/>
              <a:buNone/>
            </a:pPr>
            <a:r>
              <a:rPr b="0" i="0" lang="en-US" sz="1900" u="none" cap="none" strike="noStrike">
                <a:solidFill>
                  <a:srgbClr val="2471A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35" name="Google Shape;435;g3dd64fcdd29_2_48"/>
          <p:cNvSpPr/>
          <p:nvPr/>
        </p:nvSpPr>
        <p:spPr>
          <a:xfrm>
            <a:off x="9022080" y="1731264"/>
            <a:ext cx="2682240" cy="1889760"/>
          </a:xfrm>
          <a:prstGeom prst="rect">
            <a:avLst/>
          </a:prstGeom>
          <a:solidFill>
            <a:srgbClr val="1B3A5C"/>
          </a:solidFill>
          <a:ln cap="flat" cmpd="sng" w="25400">
            <a:solidFill>
              <a:srgbClr val="1B3A5C"/>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g3dd64fcdd29_2_48"/>
          <p:cNvSpPr/>
          <p:nvPr/>
        </p:nvSpPr>
        <p:spPr>
          <a:xfrm>
            <a:off x="10021824" y="1853184"/>
            <a:ext cx="682752" cy="682752"/>
          </a:xfrm>
          <a:prstGeom prst="ellipse">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g3dd64fcdd29_2_48"/>
          <p:cNvSpPr/>
          <p:nvPr/>
        </p:nvSpPr>
        <p:spPr>
          <a:xfrm>
            <a:off x="10021824" y="1853184"/>
            <a:ext cx="682752"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4</a:t>
            </a:r>
            <a:endParaRPr b="0" i="0" sz="1900" u="none" cap="none" strike="noStrike">
              <a:solidFill>
                <a:schemeClr val="dk1"/>
              </a:solidFill>
              <a:latin typeface="Calibri"/>
              <a:ea typeface="Calibri"/>
              <a:cs typeface="Calibri"/>
              <a:sym typeface="Calibri"/>
            </a:endParaRPr>
          </a:p>
        </p:txBody>
      </p:sp>
      <p:sp>
        <p:nvSpPr>
          <p:cNvPr id="438" name="Google Shape;438;g3dd64fcdd29_2_48"/>
          <p:cNvSpPr/>
          <p:nvPr/>
        </p:nvSpPr>
        <p:spPr>
          <a:xfrm>
            <a:off x="9144000" y="2645664"/>
            <a:ext cx="2438400"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Execute + 4 Monitors</a:t>
            </a:r>
            <a:endParaRPr b="0" i="0" sz="1500" u="none" cap="none" strike="noStrike">
              <a:solidFill>
                <a:schemeClr val="dk1"/>
              </a:solidFill>
              <a:latin typeface="Calibri"/>
              <a:ea typeface="Calibri"/>
              <a:cs typeface="Calibri"/>
              <a:sym typeface="Calibri"/>
            </a:endParaRPr>
          </a:p>
        </p:txBody>
      </p:sp>
      <p:sp>
        <p:nvSpPr>
          <p:cNvPr id="439" name="Google Shape;439;g3dd64fcdd29_2_48"/>
          <p:cNvSpPr/>
          <p:nvPr/>
        </p:nvSpPr>
        <p:spPr>
          <a:xfrm>
            <a:off x="9144000" y="3194304"/>
            <a:ext cx="243840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100"/>
              <a:buFont typeface="Calibri"/>
              <a:buNone/>
            </a:pPr>
            <a:r>
              <a:rPr b="0" i="0" lang="en-US" sz="1100" u="none" cap="none" strike="noStrike">
                <a:solidFill>
                  <a:srgbClr val="AED6F1"/>
                </a:solidFill>
                <a:latin typeface="Calibri"/>
                <a:ea typeface="Calibri"/>
                <a:cs typeface="Calibri"/>
                <a:sym typeface="Calibri"/>
              </a:rPr>
              <a:t>CORE — actual execution</a:t>
            </a:r>
            <a:endParaRPr b="0" i="0" sz="1100" u="none" cap="none" strike="noStrike">
              <a:solidFill>
                <a:schemeClr val="dk1"/>
              </a:solidFill>
              <a:latin typeface="Calibri"/>
              <a:ea typeface="Calibri"/>
              <a:cs typeface="Calibri"/>
              <a:sym typeface="Calibri"/>
            </a:endParaRPr>
          </a:p>
        </p:txBody>
      </p:sp>
      <p:sp>
        <p:nvSpPr>
          <p:cNvPr id="440" name="Google Shape;440;g3dd64fcdd29_2_48"/>
          <p:cNvSpPr/>
          <p:nvPr/>
        </p:nvSpPr>
        <p:spPr>
          <a:xfrm>
            <a:off x="426720" y="3828288"/>
            <a:ext cx="2682240" cy="1889760"/>
          </a:xfrm>
          <a:prstGeom prst="rect">
            <a:avLst/>
          </a:prstGeom>
          <a:solidFill>
            <a:srgbClr val="EAF4FB"/>
          </a:solidFill>
          <a:ln cap="flat" cmpd="sng" w="127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3dd64fcdd29_2_48"/>
          <p:cNvSpPr/>
          <p:nvPr/>
        </p:nvSpPr>
        <p:spPr>
          <a:xfrm>
            <a:off x="1426464" y="3950208"/>
            <a:ext cx="682752" cy="682752"/>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g3dd64fcdd29_2_48"/>
          <p:cNvSpPr/>
          <p:nvPr/>
        </p:nvSpPr>
        <p:spPr>
          <a:xfrm>
            <a:off x="1426464" y="3950208"/>
            <a:ext cx="682752"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5</a:t>
            </a:r>
            <a:endParaRPr b="0" i="0" sz="1900" u="none" cap="none" strike="noStrike">
              <a:solidFill>
                <a:schemeClr val="dk1"/>
              </a:solidFill>
              <a:latin typeface="Calibri"/>
              <a:ea typeface="Calibri"/>
              <a:cs typeface="Calibri"/>
              <a:sym typeface="Calibri"/>
            </a:endParaRPr>
          </a:p>
        </p:txBody>
      </p:sp>
      <p:sp>
        <p:nvSpPr>
          <p:cNvPr id="443" name="Google Shape;443;g3dd64fcdd29_2_48"/>
          <p:cNvSpPr/>
          <p:nvPr/>
        </p:nvSpPr>
        <p:spPr>
          <a:xfrm>
            <a:off x="548640" y="4742688"/>
            <a:ext cx="2438400"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Risk Scoring</a:t>
            </a:r>
            <a:endParaRPr b="0" i="0" sz="1500" u="none" cap="none" strike="noStrike">
              <a:solidFill>
                <a:schemeClr val="dk1"/>
              </a:solidFill>
              <a:latin typeface="Calibri"/>
              <a:ea typeface="Calibri"/>
              <a:cs typeface="Calibri"/>
              <a:sym typeface="Calibri"/>
            </a:endParaRPr>
          </a:p>
        </p:txBody>
      </p:sp>
      <p:sp>
        <p:nvSpPr>
          <p:cNvPr id="444" name="Google Shape;444;g3dd64fcdd29_2_48"/>
          <p:cNvSpPr/>
          <p:nvPr/>
        </p:nvSpPr>
        <p:spPr>
          <a:xfrm>
            <a:off x="548640" y="5291328"/>
            <a:ext cx="243840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event weights</a:t>
            </a:r>
            <a:endParaRPr b="0" i="0" sz="1100" u="none" cap="none" strike="noStrike">
              <a:solidFill>
                <a:schemeClr val="dk1"/>
              </a:solidFill>
              <a:latin typeface="Calibri"/>
              <a:ea typeface="Calibri"/>
              <a:cs typeface="Calibri"/>
              <a:sym typeface="Calibri"/>
            </a:endParaRPr>
          </a:p>
        </p:txBody>
      </p:sp>
      <p:sp>
        <p:nvSpPr>
          <p:cNvPr id="445" name="Google Shape;445;g3dd64fcdd29_2_48"/>
          <p:cNvSpPr/>
          <p:nvPr/>
        </p:nvSpPr>
        <p:spPr>
          <a:xfrm>
            <a:off x="3133344" y="4498848"/>
            <a:ext cx="146304"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900"/>
              <a:buFont typeface="Calibri"/>
              <a:buNone/>
            </a:pPr>
            <a:r>
              <a:rPr b="0" i="0" lang="en-US" sz="1900" u="none" cap="none" strike="noStrike">
                <a:solidFill>
                  <a:srgbClr val="2471A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46" name="Google Shape;446;g3dd64fcdd29_2_48"/>
          <p:cNvSpPr/>
          <p:nvPr/>
        </p:nvSpPr>
        <p:spPr>
          <a:xfrm>
            <a:off x="3291840" y="3828288"/>
            <a:ext cx="2682240" cy="1889760"/>
          </a:xfrm>
          <a:prstGeom prst="rect">
            <a:avLst/>
          </a:prstGeom>
          <a:solidFill>
            <a:srgbClr val="EAF4FB"/>
          </a:solidFill>
          <a:ln cap="flat" cmpd="sng" w="127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g3dd64fcdd29_2_48"/>
          <p:cNvSpPr/>
          <p:nvPr/>
        </p:nvSpPr>
        <p:spPr>
          <a:xfrm>
            <a:off x="4291584" y="3950208"/>
            <a:ext cx="682752" cy="682752"/>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g3dd64fcdd29_2_48"/>
          <p:cNvSpPr/>
          <p:nvPr/>
        </p:nvSpPr>
        <p:spPr>
          <a:xfrm>
            <a:off x="4291584" y="3950208"/>
            <a:ext cx="682752"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6</a:t>
            </a:r>
            <a:endParaRPr b="0" i="0" sz="1900" u="none" cap="none" strike="noStrike">
              <a:solidFill>
                <a:schemeClr val="dk1"/>
              </a:solidFill>
              <a:latin typeface="Calibri"/>
              <a:ea typeface="Calibri"/>
              <a:cs typeface="Calibri"/>
              <a:sym typeface="Calibri"/>
            </a:endParaRPr>
          </a:p>
        </p:txBody>
      </p:sp>
      <p:sp>
        <p:nvSpPr>
          <p:cNvPr id="449" name="Google Shape;449;g3dd64fcdd29_2_48"/>
          <p:cNvSpPr/>
          <p:nvPr/>
        </p:nvSpPr>
        <p:spPr>
          <a:xfrm>
            <a:off x="3413760" y="4742688"/>
            <a:ext cx="2438400"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IOC Correlation</a:t>
            </a:r>
            <a:endParaRPr b="0" i="0" sz="1500" u="none" cap="none" strike="noStrike">
              <a:solidFill>
                <a:schemeClr val="dk1"/>
              </a:solidFill>
              <a:latin typeface="Calibri"/>
              <a:ea typeface="Calibri"/>
              <a:cs typeface="Calibri"/>
              <a:sym typeface="Calibri"/>
            </a:endParaRPr>
          </a:p>
        </p:txBody>
      </p:sp>
      <p:sp>
        <p:nvSpPr>
          <p:cNvPr id="450" name="Google Shape;450;g3dd64fcdd29_2_48"/>
          <p:cNvSpPr/>
          <p:nvPr/>
        </p:nvSpPr>
        <p:spPr>
          <a:xfrm>
            <a:off x="3413760" y="5291328"/>
            <a:ext cx="243840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hash / IP / domain</a:t>
            </a:r>
            <a:endParaRPr b="0" i="0" sz="1100" u="none" cap="none" strike="noStrike">
              <a:solidFill>
                <a:schemeClr val="dk1"/>
              </a:solidFill>
              <a:latin typeface="Calibri"/>
              <a:ea typeface="Calibri"/>
              <a:cs typeface="Calibri"/>
              <a:sym typeface="Calibri"/>
            </a:endParaRPr>
          </a:p>
        </p:txBody>
      </p:sp>
      <p:sp>
        <p:nvSpPr>
          <p:cNvPr id="451" name="Google Shape;451;g3dd64fcdd29_2_48"/>
          <p:cNvSpPr/>
          <p:nvPr/>
        </p:nvSpPr>
        <p:spPr>
          <a:xfrm>
            <a:off x="5998464" y="4498848"/>
            <a:ext cx="146304"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900"/>
              <a:buFont typeface="Calibri"/>
              <a:buNone/>
            </a:pPr>
            <a:r>
              <a:rPr b="0" i="0" lang="en-US" sz="1900" u="none" cap="none" strike="noStrike">
                <a:solidFill>
                  <a:srgbClr val="2471A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52" name="Google Shape;452;g3dd64fcdd29_2_48"/>
          <p:cNvSpPr/>
          <p:nvPr/>
        </p:nvSpPr>
        <p:spPr>
          <a:xfrm>
            <a:off x="6156960" y="3828288"/>
            <a:ext cx="2682240" cy="1889760"/>
          </a:xfrm>
          <a:prstGeom prst="rect">
            <a:avLst/>
          </a:prstGeom>
          <a:solidFill>
            <a:srgbClr val="EAF4FB"/>
          </a:solidFill>
          <a:ln cap="flat" cmpd="sng" w="1270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g3dd64fcdd29_2_48"/>
          <p:cNvSpPr/>
          <p:nvPr/>
        </p:nvSpPr>
        <p:spPr>
          <a:xfrm>
            <a:off x="7156704" y="3950208"/>
            <a:ext cx="682752" cy="682752"/>
          </a:xfrm>
          <a:prstGeom prst="ellipse">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g3dd64fcdd29_2_48"/>
          <p:cNvSpPr/>
          <p:nvPr/>
        </p:nvSpPr>
        <p:spPr>
          <a:xfrm>
            <a:off x="7156704" y="3950208"/>
            <a:ext cx="682752"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7</a:t>
            </a:r>
            <a:endParaRPr b="0" i="0" sz="1900" u="none" cap="none" strike="noStrike">
              <a:solidFill>
                <a:schemeClr val="dk1"/>
              </a:solidFill>
              <a:latin typeface="Calibri"/>
              <a:ea typeface="Calibri"/>
              <a:cs typeface="Calibri"/>
              <a:sym typeface="Calibri"/>
            </a:endParaRPr>
          </a:p>
        </p:txBody>
      </p:sp>
      <p:sp>
        <p:nvSpPr>
          <p:cNvPr id="455" name="Google Shape;455;g3dd64fcdd29_2_48"/>
          <p:cNvSpPr/>
          <p:nvPr/>
        </p:nvSpPr>
        <p:spPr>
          <a:xfrm>
            <a:off x="6278880" y="4742688"/>
            <a:ext cx="2438400"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Verdict</a:t>
            </a:r>
            <a:endParaRPr b="0" i="0" sz="1500" u="none" cap="none" strike="noStrike">
              <a:solidFill>
                <a:schemeClr val="dk1"/>
              </a:solidFill>
              <a:latin typeface="Calibri"/>
              <a:ea typeface="Calibri"/>
              <a:cs typeface="Calibri"/>
              <a:sym typeface="Calibri"/>
            </a:endParaRPr>
          </a:p>
        </p:txBody>
      </p:sp>
      <p:sp>
        <p:nvSpPr>
          <p:cNvPr id="456" name="Google Shape;456;g3dd64fcdd29_2_48"/>
          <p:cNvSpPr/>
          <p:nvPr/>
        </p:nvSpPr>
        <p:spPr>
          <a:xfrm>
            <a:off x="6278880" y="5291328"/>
            <a:ext cx="243840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CLEAN / SUSPICIOUS / MALICIOUS</a:t>
            </a:r>
            <a:endParaRPr b="0" i="0" sz="1100" u="none" cap="none" strike="noStrike">
              <a:solidFill>
                <a:schemeClr val="dk1"/>
              </a:solidFill>
              <a:latin typeface="Calibri"/>
              <a:ea typeface="Calibri"/>
              <a:cs typeface="Calibri"/>
              <a:sym typeface="Calibri"/>
            </a:endParaRPr>
          </a:p>
        </p:txBody>
      </p:sp>
      <p:sp>
        <p:nvSpPr>
          <p:cNvPr id="457" name="Google Shape;457;g3dd64fcdd29_2_48"/>
          <p:cNvSpPr/>
          <p:nvPr/>
        </p:nvSpPr>
        <p:spPr>
          <a:xfrm>
            <a:off x="8863584" y="4498848"/>
            <a:ext cx="146304"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900"/>
              <a:buFont typeface="Calibri"/>
              <a:buNone/>
            </a:pPr>
            <a:r>
              <a:rPr b="0" i="0" lang="en-US" sz="1900" u="none" cap="none" strike="noStrike">
                <a:solidFill>
                  <a:srgbClr val="2471A3"/>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58" name="Google Shape;458;g3dd64fcdd29_2_48"/>
          <p:cNvSpPr/>
          <p:nvPr/>
        </p:nvSpPr>
        <p:spPr>
          <a:xfrm>
            <a:off x="9022080" y="3828288"/>
            <a:ext cx="2682240" cy="1889760"/>
          </a:xfrm>
          <a:prstGeom prst="rect">
            <a:avLst/>
          </a:prstGeom>
          <a:solidFill>
            <a:srgbClr val="EAF4FB"/>
          </a:solidFill>
          <a:ln cap="flat" cmpd="sng" w="1270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g3dd64fcdd29_2_48"/>
          <p:cNvSpPr/>
          <p:nvPr/>
        </p:nvSpPr>
        <p:spPr>
          <a:xfrm>
            <a:off x="10021824" y="3950208"/>
            <a:ext cx="682752" cy="682752"/>
          </a:xfrm>
          <a:prstGeom prst="ellipse">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3dd64fcdd29_2_48"/>
          <p:cNvSpPr/>
          <p:nvPr/>
        </p:nvSpPr>
        <p:spPr>
          <a:xfrm>
            <a:off x="10021824" y="3950208"/>
            <a:ext cx="682752" cy="6827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8</a:t>
            </a:r>
            <a:endParaRPr b="0" i="0" sz="1900" u="none" cap="none" strike="noStrike">
              <a:solidFill>
                <a:schemeClr val="dk1"/>
              </a:solidFill>
              <a:latin typeface="Calibri"/>
              <a:ea typeface="Calibri"/>
              <a:cs typeface="Calibri"/>
              <a:sym typeface="Calibri"/>
            </a:endParaRPr>
          </a:p>
        </p:txBody>
      </p:sp>
      <p:sp>
        <p:nvSpPr>
          <p:cNvPr id="461" name="Google Shape;461;g3dd64fcdd29_2_48"/>
          <p:cNvSpPr/>
          <p:nvPr/>
        </p:nvSpPr>
        <p:spPr>
          <a:xfrm>
            <a:off x="9144000" y="4742688"/>
            <a:ext cx="2438400"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Feedback Loop</a:t>
            </a:r>
            <a:endParaRPr b="0" i="0" sz="1500" u="none" cap="none" strike="noStrike">
              <a:solidFill>
                <a:schemeClr val="dk1"/>
              </a:solidFill>
              <a:latin typeface="Calibri"/>
              <a:ea typeface="Calibri"/>
              <a:cs typeface="Calibri"/>
              <a:sym typeface="Calibri"/>
            </a:endParaRPr>
          </a:p>
        </p:txBody>
      </p:sp>
      <p:sp>
        <p:nvSpPr>
          <p:cNvPr id="462" name="Google Shape;462;g3dd64fcdd29_2_48"/>
          <p:cNvSpPr/>
          <p:nvPr/>
        </p:nvSpPr>
        <p:spPr>
          <a:xfrm>
            <a:off x="9144000" y="5291328"/>
            <a:ext cx="243840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stubs — connects to other modules</a:t>
            </a:r>
            <a:endParaRPr b="0" i="0" sz="1100" u="none" cap="none" strike="noStrike">
              <a:solidFill>
                <a:schemeClr val="dk1"/>
              </a:solidFill>
              <a:latin typeface="Calibri"/>
              <a:ea typeface="Calibri"/>
              <a:cs typeface="Calibri"/>
              <a:sym typeface="Calibri"/>
            </a:endParaRPr>
          </a:p>
        </p:txBody>
      </p:sp>
      <p:sp>
        <p:nvSpPr>
          <p:cNvPr id="463" name="Google Shape;463;g3dd64fcdd29_2_48"/>
          <p:cNvSpPr/>
          <p:nvPr/>
        </p:nvSpPr>
        <p:spPr>
          <a:xfrm>
            <a:off x="11460480" y="3291840"/>
            <a:ext cx="36576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400"/>
              <a:buFont typeface="Calibri"/>
              <a:buNone/>
            </a:pPr>
            <a:r>
              <a:rPr b="0" i="0" lang="en-US" sz="2400" u="none" cap="none" strike="noStrike">
                <a:solidFill>
                  <a:srgbClr val="2471A3"/>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468" name="Shape 468"/>
        <p:cNvGrpSpPr/>
        <p:nvPr/>
      </p:nvGrpSpPr>
      <p:grpSpPr>
        <a:xfrm>
          <a:off x="0" y="0"/>
          <a:ext cx="0" cy="0"/>
          <a:chOff x="0" y="0"/>
          <a:chExt cx="0" cy="0"/>
        </a:xfrm>
      </p:grpSpPr>
      <p:sp>
        <p:nvSpPr>
          <p:cNvPr id="469" name="Google Shape;469;g386fa9f7404_4_0"/>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386fa9f7404_4_0"/>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1 — File Router: Magic Bytes</a:t>
            </a:r>
            <a:endParaRPr b="0" i="0" sz="2700" u="none" cap="none" strike="noStrike">
              <a:solidFill>
                <a:schemeClr val="dk1"/>
              </a:solidFill>
              <a:latin typeface="Calibri"/>
              <a:ea typeface="Calibri"/>
              <a:cs typeface="Calibri"/>
              <a:sym typeface="Calibri"/>
            </a:endParaRPr>
          </a:p>
        </p:txBody>
      </p:sp>
      <p:sp>
        <p:nvSpPr>
          <p:cNvPr id="471" name="Google Shape;471;g386fa9f7404_4_0"/>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3</a:t>
            </a:r>
            <a:endParaRPr b="0" i="0" sz="1100" u="none" cap="none" strike="noStrike">
              <a:solidFill>
                <a:schemeClr val="dk1"/>
              </a:solidFill>
              <a:latin typeface="Calibri"/>
              <a:ea typeface="Calibri"/>
              <a:cs typeface="Calibri"/>
              <a:sym typeface="Calibri"/>
            </a:endParaRPr>
          </a:p>
        </p:txBody>
      </p:sp>
      <p:sp>
        <p:nvSpPr>
          <p:cNvPr id="472" name="Google Shape;472;g386fa9f7404_4_0"/>
          <p:cNvSpPr/>
          <p:nvPr/>
        </p:nvSpPr>
        <p:spPr>
          <a:xfrm>
            <a:off x="487680" y="1072896"/>
            <a:ext cx="11216640" cy="87782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386fa9f7404_4_0"/>
          <p:cNvSpPr/>
          <p:nvPr/>
        </p:nvSpPr>
        <p:spPr>
          <a:xfrm>
            <a:off x="487680" y="1072896"/>
            <a:ext cx="121920" cy="877824"/>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g386fa9f7404_4_0"/>
          <p:cNvSpPr/>
          <p:nvPr/>
        </p:nvSpPr>
        <p:spPr>
          <a:xfrm>
            <a:off x="755904" y="1072896"/>
            <a:ext cx="10789920" cy="8778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File extensions cannot be trusted — an attacker can rename any file to anything. We read the first 16 bytes of every file — called magic bytes — to determine the true type.</a:t>
            </a:r>
            <a:endParaRPr b="0" i="0" sz="1700" u="none" cap="none" strike="noStrike">
              <a:solidFill>
                <a:schemeClr val="dk1"/>
              </a:solidFill>
              <a:latin typeface="Calibri"/>
              <a:ea typeface="Calibri"/>
              <a:cs typeface="Calibri"/>
              <a:sym typeface="Calibri"/>
            </a:endParaRPr>
          </a:p>
        </p:txBody>
      </p:sp>
      <p:sp>
        <p:nvSpPr>
          <p:cNvPr id="475" name="Google Shape;475;g386fa9f7404_4_0"/>
          <p:cNvSpPr/>
          <p:nvPr/>
        </p:nvSpPr>
        <p:spPr>
          <a:xfrm>
            <a:off x="487680" y="2133600"/>
            <a:ext cx="2743200"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g386fa9f7404_4_0"/>
          <p:cNvSpPr/>
          <p:nvPr/>
        </p:nvSpPr>
        <p:spPr>
          <a:xfrm>
            <a:off x="609600" y="2133600"/>
            <a:ext cx="249936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File Type</a:t>
            </a:r>
            <a:endParaRPr b="0" i="0" sz="1400" u="none" cap="none" strike="noStrike">
              <a:solidFill>
                <a:schemeClr val="dk1"/>
              </a:solidFill>
              <a:latin typeface="Calibri"/>
              <a:ea typeface="Calibri"/>
              <a:cs typeface="Calibri"/>
              <a:sym typeface="Calibri"/>
            </a:endParaRPr>
          </a:p>
        </p:txBody>
      </p:sp>
      <p:sp>
        <p:nvSpPr>
          <p:cNvPr id="477" name="Google Shape;477;g386fa9f7404_4_0"/>
          <p:cNvSpPr/>
          <p:nvPr/>
        </p:nvSpPr>
        <p:spPr>
          <a:xfrm>
            <a:off x="3316224" y="2133600"/>
            <a:ext cx="2779776"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386fa9f7404_4_0"/>
          <p:cNvSpPr/>
          <p:nvPr/>
        </p:nvSpPr>
        <p:spPr>
          <a:xfrm>
            <a:off x="3438144" y="2133600"/>
            <a:ext cx="253593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Magic Bytes (hex)</a:t>
            </a:r>
            <a:endParaRPr b="0" i="0" sz="1400" u="none" cap="none" strike="noStrike">
              <a:solidFill>
                <a:schemeClr val="dk1"/>
              </a:solidFill>
              <a:latin typeface="Calibri"/>
              <a:ea typeface="Calibri"/>
              <a:cs typeface="Calibri"/>
              <a:sym typeface="Calibri"/>
            </a:endParaRPr>
          </a:p>
        </p:txBody>
      </p:sp>
      <p:sp>
        <p:nvSpPr>
          <p:cNvPr id="479" name="Google Shape;479;g386fa9f7404_4_0"/>
          <p:cNvSpPr/>
          <p:nvPr/>
        </p:nvSpPr>
        <p:spPr>
          <a:xfrm>
            <a:off x="6193536" y="2133600"/>
            <a:ext cx="2097024"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386fa9f7404_4_0"/>
          <p:cNvSpPr/>
          <p:nvPr/>
        </p:nvSpPr>
        <p:spPr>
          <a:xfrm>
            <a:off x="6315456" y="2133600"/>
            <a:ext cx="1853184"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Readable</a:t>
            </a:r>
            <a:endParaRPr b="0" i="0" sz="1400" u="none" cap="none" strike="noStrike">
              <a:solidFill>
                <a:schemeClr val="dk1"/>
              </a:solidFill>
              <a:latin typeface="Calibri"/>
              <a:ea typeface="Calibri"/>
              <a:cs typeface="Calibri"/>
              <a:sym typeface="Calibri"/>
            </a:endParaRPr>
          </a:p>
        </p:txBody>
      </p:sp>
      <p:sp>
        <p:nvSpPr>
          <p:cNvPr id="481" name="Google Shape;481;g386fa9f7404_4_0"/>
          <p:cNvSpPr/>
          <p:nvPr/>
        </p:nvSpPr>
        <p:spPr>
          <a:xfrm>
            <a:off x="8388096" y="2133600"/>
            <a:ext cx="3267456"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386fa9f7404_4_0"/>
          <p:cNvSpPr/>
          <p:nvPr/>
        </p:nvSpPr>
        <p:spPr>
          <a:xfrm>
            <a:off x="8510016" y="2133600"/>
            <a:ext cx="302361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Category</a:t>
            </a:r>
            <a:endParaRPr b="0" i="0" sz="1400" u="none" cap="none" strike="noStrike">
              <a:solidFill>
                <a:schemeClr val="dk1"/>
              </a:solidFill>
              <a:latin typeface="Calibri"/>
              <a:ea typeface="Calibri"/>
              <a:cs typeface="Calibri"/>
              <a:sym typeface="Calibri"/>
            </a:endParaRPr>
          </a:p>
        </p:txBody>
      </p:sp>
      <p:sp>
        <p:nvSpPr>
          <p:cNvPr id="483" name="Google Shape;483;g386fa9f7404_4_0"/>
          <p:cNvSpPr/>
          <p:nvPr/>
        </p:nvSpPr>
        <p:spPr>
          <a:xfrm>
            <a:off x="487680" y="2633472"/>
            <a:ext cx="2743200"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86fa9f7404_4_0"/>
          <p:cNvSpPr/>
          <p:nvPr/>
        </p:nvSpPr>
        <p:spPr>
          <a:xfrm>
            <a:off x="3316224" y="2633472"/>
            <a:ext cx="277977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86fa9f7404_4_0"/>
          <p:cNvSpPr/>
          <p:nvPr/>
        </p:nvSpPr>
        <p:spPr>
          <a:xfrm>
            <a:off x="6193536" y="2633472"/>
            <a:ext cx="2097024"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386fa9f7404_4_0"/>
          <p:cNvSpPr/>
          <p:nvPr/>
        </p:nvSpPr>
        <p:spPr>
          <a:xfrm>
            <a:off x="8388096" y="2633472"/>
            <a:ext cx="326745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386fa9f7404_4_0"/>
          <p:cNvSpPr/>
          <p:nvPr/>
        </p:nvSpPr>
        <p:spPr>
          <a:xfrm>
            <a:off x="609600" y="2633472"/>
            <a:ext cx="24993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ZIP Archive</a:t>
            </a:r>
            <a:endParaRPr b="0" i="0" sz="1400" u="none" cap="none" strike="noStrike">
              <a:solidFill>
                <a:schemeClr val="dk1"/>
              </a:solidFill>
              <a:latin typeface="Calibri"/>
              <a:ea typeface="Calibri"/>
              <a:cs typeface="Calibri"/>
              <a:sym typeface="Calibri"/>
            </a:endParaRPr>
          </a:p>
        </p:txBody>
      </p:sp>
      <p:sp>
        <p:nvSpPr>
          <p:cNvPr id="488" name="Google Shape;488;g386fa9f7404_4_0"/>
          <p:cNvSpPr/>
          <p:nvPr/>
        </p:nvSpPr>
        <p:spPr>
          <a:xfrm>
            <a:off x="3438144" y="2633472"/>
            <a:ext cx="253593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50 4B 03 04</a:t>
            </a:r>
            <a:endParaRPr b="0" i="0" sz="1400" u="none" cap="none" strike="noStrike">
              <a:solidFill>
                <a:schemeClr val="dk1"/>
              </a:solidFill>
              <a:latin typeface="Calibri"/>
              <a:ea typeface="Calibri"/>
              <a:cs typeface="Calibri"/>
              <a:sym typeface="Calibri"/>
            </a:endParaRPr>
          </a:p>
        </p:txBody>
      </p:sp>
      <p:sp>
        <p:nvSpPr>
          <p:cNvPr id="489" name="Google Shape;489;g386fa9f7404_4_0"/>
          <p:cNvSpPr/>
          <p:nvPr/>
        </p:nvSpPr>
        <p:spPr>
          <a:xfrm>
            <a:off x="6315456" y="2633472"/>
            <a:ext cx="1853184"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PK..</a:t>
            </a:r>
            <a:endParaRPr b="0" i="0" sz="1400" u="none" cap="none" strike="noStrike">
              <a:solidFill>
                <a:schemeClr val="dk1"/>
              </a:solidFill>
              <a:latin typeface="Calibri"/>
              <a:ea typeface="Calibri"/>
              <a:cs typeface="Calibri"/>
              <a:sym typeface="Calibri"/>
            </a:endParaRPr>
          </a:p>
        </p:txBody>
      </p:sp>
      <p:sp>
        <p:nvSpPr>
          <p:cNvPr id="490" name="Google Shape;490;g386fa9f7404_4_0"/>
          <p:cNvSpPr/>
          <p:nvPr/>
        </p:nvSpPr>
        <p:spPr>
          <a:xfrm>
            <a:off x="8510016" y="2633472"/>
            <a:ext cx="30236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ARCHIVE</a:t>
            </a:r>
            <a:endParaRPr b="0" i="0" sz="1300" u="none" cap="none" strike="noStrike">
              <a:solidFill>
                <a:schemeClr val="dk1"/>
              </a:solidFill>
              <a:latin typeface="Calibri"/>
              <a:ea typeface="Calibri"/>
              <a:cs typeface="Calibri"/>
              <a:sym typeface="Calibri"/>
            </a:endParaRPr>
          </a:p>
        </p:txBody>
      </p:sp>
      <p:sp>
        <p:nvSpPr>
          <p:cNvPr id="491" name="Google Shape;491;g386fa9f7404_4_0"/>
          <p:cNvSpPr/>
          <p:nvPr/>
        </p:nvSpPr>
        <p:spPr>
          <a:xfrm>
            <a:off x="487680" y="3096768"/>
            <a:ext cx="2743200"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g386fa9f7404_4_0"/>
          <p:cNvSpPr/>
          <p:nvPr/>
        </p:nvSpPr>
        <p:spPr>
          <a:xfrm>
            <a:off x="3316224" y="3096768"/>
            <a:ext cx="2779776"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g386fa9f7404_4_0"/>
          <p:cNvSpPr/>
          <p:nvPr/>
        </p:nvSpPr>
        <p:spPr>
          <a:xfrm>
            <a:off x="6193536" y="3096768"/>
            <a:ext cx="2097024"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g386fa9f7404_4_0"/>
          <p:cNvSpPr/>
          <p:nvPr/>
        </p:nvSpPr>
        <p:spPr>
          <a:xfrm>
            <a:off x="8388096" y="3096768"/>
            <a:ext cx="326745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386fa9f7404_4_0"/>
          <p:cNvSpPr/>
          <p:nvPr/>
        </p:nvSpPr>
        <p:spPr>
          <a:xfrm>
            <a:off x="609600" y="3096768"/>
            <a:ext cx="24993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Linux Binary</a:t>
            </a:r>
            <a:endParaRPr b="0" i="0" sz="1400" u="none" cap="none" strike="noStrike">
              <a:solidFill>
                <a:schemeClr val="dk1"/>
              </a:solidFill>
              <a:latin typeface="Calibri"/>
              <a:ea typeface="Calibri"/>
              <a:cs typeface="Calibri"/>
              <a:sym typeface="Calibri"/>
            </a:endParaRPr>
          </a:p>
        </p:txBody>
      </p:sp>
      <p:sp>
        <p:nvSpPr>
          <p:cNvPr id="496" name="Google Shape;496;g386fa9f7404_4_0"/>
          <p:cNvSpPr/>
          <p:nvPr/>
        </p:nvSpPr>
        <p:spPr>
          <a:xfrm>
            <a:off x="3438144" y="3096768"/>
            <a:ext cx="253593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7F 45 4C 46</a:t>
            </a:r>
            <a:endParaRPr b="0" i="0" sz="1400" u="none" cap="none" strike="noStrike">
              <a:solidFill>
                <a:schemeClr val="dk1"/>
              </a:solidFill>
              <a:latin typeface="Calibri"/>
              <a:ea typeface="Calibri"/>
              <a:cs typeface="Calibri"/>
              <a:sym typeface="Calibri"/>
            </a:endParaRPr>
          </a:p>
        </p:txBody>
      </p:sp>
      <p:sp>
        <p:nvSpPr>
          <p:cNvPr id="497" name="Google Shape;497;g386fa9f7404_4_0"/>
          <p:cNvSpPr/>
          <p:nvPr/>
        </p:nvSpPr>
        <p:spPr>
          <a:xfrm>
            <a:off x="6315456" y="3096768"/>
            <a:ext cx="1853184"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.ELF</a:t>
            </a:r>
            <a:endParaRPr b="0" i="0" sz="1400" u="none" cap="none" strike="noStrike">
              <a:solidFill>
                <a:schemeClr val="dk1"/>
              </a:solidFill>
              <a:latin typeface="Calibri"/>
              <a:ea typeface="Calibri"/>
              <a:cs typeface="Calibri"/>
              <a:sym typeface="Calibri"/>
            </a:endParaRPr>
          </a:p>
        </p:txBody>
      </p:sp>
      <p:sp>
        <p:nvSpPr>
          <p:cNvPr id="498" name="Google Shape;498;g386fa9f7404_4_0"/>
          <p:cNvSpPr/>
          <p:nvPr/>
        </p:nvSpPr>
        <p:spPr>
          <a:xfrm>
            <a:off x="8510016" y="3096768"/>
            <a:ext cx="30236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EXECUTABLE</a:t>
            </a:r>
            <a:endParaRPr b="0" i="0" sz="1300" u="none" cap="none" strike="noStrike">
              <a:solidFill>
                <a:schemeClr val="dk1"/>
              </a:solidFill>
              <a:latin typeface="Calibri"/>
              <a:ea typeface="Calibri"/>
              <a:cs typeface="Calibri"/>
              <a:sym typeface="Calibri"/>
            </a:endParaRPr>
          </a:p>
        </p:txBody>
      </p:sp>
      <p:sp>
        <p:nvSpPr>
          <p:cNvPr id="499" name="Google Shape;499;g386fa9f7404_4_0"/>
          <p:cNvSpPr/>
          <p:nvPr/>
        </p:nvSpPr>
        <p:spPr>
          <a:xfrm>
            <a:off x="487680" y="3560064"/>
            <a:ext cx="2743200"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g386fa9f7404_4_0"/>
          <p:cNvSpPr/>
          <p:nvPr/>
        </p:nvSpPr>
        <p:spPr>
          <a:xfrm>
            <a:off x="3316224" y="3560064"/>
            <a:ext cx="277977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g386fa9f7404_4_0"/>
          <p:cNvSpPr/>
          <p:nvPr/>
        </p:nvSpPr>
        <p:spPr>
          <a:xfrm>
            <a:off x="6193536" y="3560064"/>
            <a:ext cx="2097024"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g386fa9f7404_4_0"/>
          <p:cNvSpPr/>
          <p:nvPr/>
        </p:nvSpPr>
        <p:spPr>
          <a:xfrm>
            <a:off x="8388096" y="3560064"/>
            <a:ext cx="326745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g386fa9f7404_4_0"/>
          <p:cNvSpPr/>
          <p:nvPr/>
        </p:nvSpPr>
        <p:spPr>
          <a:xfrm>
            <a:off x="609600" y="3560064"/>
            <a:ext cx="24993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JPEG Image</a:t>
            </a:r>
            <a:endParaRPr b="0" i="0" sz="1400" u="none" cap="none" strike="noStrike">
              <a:solidFill>
                <a:schemeClr val="dk1"/>
              </a:solidFill>
              <a:latin typeface="Calibri"/>
              <a:ea typeface="Calibri"/>
              <a:cs typeface="Calibri"/>
              <a:sym typeface="Calibri"/>
            </a:endParaRPr>
          </a:p>
        </p:txBody>
      </p:sp>
      <p:sp>
        <p:nvSpPr>
          <p:cNvPr id="504" name="Google Shape;504;g386fa9f7404_4_0"/>
          <p:cNvSpPr/>
          <p:nvPr/>
        </p:nvSpPr>
        <p:spPr>
          <a:xfrm>
            <a:off x="3438144" y="3560064"/>
            <a:ext cx="253593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FF D8 FF</a:t>
            </a:r>
            <a:endParaRPr b="0" i="0" sz="1400" u="none" cap="none" strike="noStrike">
              <a:solidFill>
                <a:schemeClr val="dk1"/>
              </a:solidFill>
              <a:latin typeface="Calibri"/>
              <a:ea typeface="Calibri"/>
              <a:cs typeface="Calibri"/>
              <a:sym typeface="Calibri"/>
            </a:endParaRPr>
          </a:p>
        </p:txBody>
      </p:sp>
      <p:sp>
        <p:nvSpPr>
          <p:cNvPr id="505" name="Google Shape;505;g386fa9f7404_4_0"/>
          <p:cNvSpPr/>
          <p:nvPr/>
        </p:nvSpPr>
        <p:spPr>
          <a:xfrm>
            <a:off x="6315456" y="3560064"/>
            <a:ext cx="1853184"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ÿØÿ</a:t>
            </a:r>
            <a:endParaRPr b="0" i="0" sz="1400" u="none" cap="none" strike="noStrike">
              <a:solidFill>
                <a:schemeClr val="dk1"/>
              </a:solidFill>
              <a:latin typeface="Calibri"/>
              <a:ea typeface="Calibri"/>
              <a:cs typeface="Calibri"/>
              <a:sym typeface="Calibri"/>
            </a:endParaRPr>
          </a:p>
        </p:txBody>
      </p:sp>
      <p:sp>
        <p:nvSpPr>
          <p:cNvPr id="506" name="Google Shape;506;g386fa9f7404_4_0"/>
          <p:cNvSpPr/>
          <p:nvPr/>
        </p:nvSpPr>
        <p:spPr>
          <a:xfrm>
            <a:off x="8510016" y="3560064"/>
            <a:ext cx="30236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1" i="0" lang="en-US" sz="1300" u="none" cap="none" strike="noStrike">
                <a:solidFill>
                  <a:srgbClr val="717D7E"/>
                </a:solidFill>
                <a:latin typeface="Calibri"/>
                <a:ea typeface="Calibri"/>
                <a:cs typeface="Calibri"/>
                <a:sym typeface="Calibri"/>
              </a:rPr>
              <a:t>IMAGE</a:t>
            </a:r>
            <a:endParaRPr b="0" i="0" sz="1300" u="none" cap="none" strike="noStrike">
              <a:solidFill>
                <a:schemeClr val="dk1"/>
              </a:solidFill>
              <a:latin typeface="Calibri"/>
              <a:ea typeface="Calibri"/>
              <a:cs typeface="Calibri"/>
              <a:sym typeface="Calibri"/>
            </a:endParaRPr>
          </a:p>
        </p:txBody>
      </p:sp>
      <p:sp>
        <p:nvSpPr>
          <p:cNvPr id="507" name="Google Shape;507;g386fa9f7404_4_0"/>
          <p:cNvSpPr/>
          <p:nvPr/>
        </p:nvSpPr>
        <p:spPr>
          <a:xfrm>
            <a:off x="487680" y="4023360"/>
            <a:ext cx="2743200"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g386fa9f7404_4_0"/>
          <p:cNvSpPr/>
          <p:nvPr/>
        </p:nvSpPr>
        <p:spPr>
          <a:xfrm>
            <a:off x="3316224" y="4023360"/>
            <a:ext cx="2779776"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g386fa9f7404_4_0"/>
          <p:cNvSpPr/>
          <p:nvPr/>
        </p:nvSpPr>
        <p:spPr>
          <a:xfrm>
            <a:off x="6193536" y="4023360"/>
            <a:ext cx="2097024"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386fa9f7404_4_0"/>
          <p:cNvSpPr/>
          <p:nvPr/>
        </p:nvSpPr>
        <p:spPr>
          <a:xfrm>
            <a:off x="8388096" y="4023360"/>
            <a:ext cx="326745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386fa9f7404_4_0"/>
          <p:cNvSpPr/>
          <p:nvPr/>
        </p:nvSpPr>
        <p:spPr>
          <a:xfrm>
            <a:off x="609600" y="4023360"/>
            <a:ext cx="24993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Windows EXE</a:t>
            </a:r>
            <a:endParaRPr b="0" i="0" sz="1400" u="none" cap="none" strike="noStrike">
              <a:solidFill>
                <a:schemeClr val="dk1"/>
              </a:solidFill>
              <a:latin typeface="Calibri"/>
              <a:ea typeface="Calibri"/>
              <a:cs typeface="Calibri"/>
              <a:sym typeface="Calibri"/>
            </a:endParaRPr>
          </a:p>
        </p:txBody>
      </p:sp>
      <p:sp>
        <p:nvSpPr>
          <p:cNvPr id="512" name="Google Shape;512;g386fa9f7404_4_0"/>
          <p:cNvSpPr/>
          <p:nvPr/>
        </p:nvSpPr>
        <p:spPr>
          <a:xfrm>
            <a:off x="3438144" y="4023360"/>
            <a:ext cx="253593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4D 5A</a:t>
            </a:r>
            <a:endParaRPr b="0" i="0" sz="1400" u="none" cap="none" strike="noStrike">
              <a:solidFill>
                <a:schemeClr val="dk1"/>
              </a:solidFill>
              <a:latin typeface="Calibri"/>
              <a:ea typeface="Calibri"/>
              <a:cs typeface="Calibri"/>
              <a:sym typeface="Calibri"/>
            </a:endParaRPr>
          </a:p>
        </p:txBody>
      </p:sp>
      <p:sp>
        <p:nvSpPr>
          <p:cNvPr id="513" name="Google Shape;513;g386fa9f7404_4_0"/>
          <p:cNvSpPr/>
          <p:nvPr/>
        </p:nvSpPr>
        <p:spPr>
          <a:xfrm>
            <a:off x="6315456" y="4023360"/>
            <a:ext cx="1853184"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MZ</a:t>
            </a:r>
            <a:endParaRPr b="0" i="0" sz="1400" u="none" cap="none" strike="noStrike">
              <a:solidFill>
                <a:schemeClr val="dk1"/>
              </a:solidFill>
              <a:latin typeface="Calibri"/>
              <a:ea typeface="Calibri"/>
              <a:cs typeface="Calibri"/>
              <a:sym typeface="Calibri"/>
            </a:endParaRPr>
          </a:p>
        </p:txBody>
      </p:sp>
      <p:sp>
        <p:nvSpPr>
          <p:cNvPr id="514" name="Google Shape;514;g386fa9f7404_4_0"/>
          <p:cNvSpPr/>
          <p:nvPr/>
        </p:nvSpPr>
        <p:spPr>
          <a:xfrm>
            <a:off x="8510016" y="4023360"/>
            <a:ext cx="30236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WINDOWS ⚠️</a:t>
            </a:r>
            <a:endParaRPr b="0" i="0" sz="1300" u="none" cap="none" strike="noStrike">
              <a:solidFill>
                <a:schemeClr val="dk1"/>
              </a:solidFill>
              <a:latin typeface="Calibri"/>
              <a:ea typeface="Calibri"/>
              <a:cs typeface="Calibri"/>
              <a:sym typeface="Calibri"/>
            </a:endParaRPr>
          </a:p>
        </p:txBody>
      </p:sp>
      <p:sp>
        <p:nvSpPr>
          <p:cNvPr id="515" name="Google Shape;515;g386fa9f7404_4_0"/>
          <p:cNvSpPr/>
          <p:nvPr/>
        </p:nvSpPr>
        <p:spPr>
          <a:xfrm>
            <a:off x="487680" y="4486656"/>
            <a:ext cx="2743200"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g386fa9f7404_4_0"/>
          <p:cNvSpPr/>
          <p:nvPr/>
        </p:nvSpPr>
        <p:spPr>
          <a:xfrm>
            <a:off x="3316224" y="4486656"/>
            <a:ext cx="277977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386fa9f7404_4_0"/>
          <p:cNvSpPr/>
          <p:nvPr/>
        </p:nvSpPr>
        <p:spPr>
          <a:xfrm>
            <a:off x="6193536" y="4486656"/>
            <a:ext cx="2097024"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g386fa9f7404_4_0"/>
          <p:cNvSpPr/>
          <p:nvPr/>
        </p:nvSpPr>
        <p:spPr>
          <a:xfrm>
            <a:off x="8388096" y="4486656"/>
            <a:ext cx="326745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g386fa9f7404_4_0"/>
          <p:cNvSpPr/>
          <p:nvPr/>
        </p:nvSpPr>
        <p:spPr>
          <a:xfrm>
            <a:off x="609600" y="4486656"/>
            <a:ext cx="24993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Shell / Python</a:t>
            </a:r>
            <a:endParaRPr b="0" i="0" sz="1400" u="none" cap="none" strike="noStrike">
              <a:solidFill>
                <a:schemeClr val="dk1"/>
              </a:solidFill>
              <a:latin typeface="Calibri"/>
              <a:ea typeface="Calibri"/>
              <a:cs typeface="Calibri"/>
              <a:sym typeface="Calibri"/>
            </a:endParaRPr>
          </a:p>
        </p:txBody>
      </p:sp>
      <p:sp>
        <p:nvSpPr>
          <p:cNvPr id="520" name="Google Shape;520;g386fa9f7404_4_0"/>
          <p:cNvSpPr/>
          <p:nvPr/>
        </p:nvSpPr>
        <p:spPr>
          <a:xfrm>
            <a:off x="3438144" y="4486656"/>
            <a:ext cx="253593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23 21</a:t>
            </a:r>
            <a:endParaRPr b="0" i="0" sz="1400" u="none" cap="none" strike="noStrike">
              <a:solidFill>
                <a:schemeClr val="dk1"/>
              </a:solidFill>
              <a:latin typeface="Calibri"/>
              <a:ea typeface="Calibri"/>
              <a:cs typeface="Calibri"/>
              <a:sym typeface="Calibri"/>
            </a:endParaRPr>
          </a:p>
        </p:txBody>
      </p:sp>
      <p:sp>
        <p:nvSpPr>
          <p:cNvPr id="521" name="Google Shape;521;g386fa9f7404_4_0"/>
          <p:cNvSpPr/>
          <p:nvPr/>
        </p:nvSpPr>
        <p:spPr>
          <a:xfrm>
            <a:off x="6315456" y="4486656"/>
            <a:ext cx="1853184"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522" name="Google Shape;522;g386fa9f7404_4_0"/>
          <p:cNvSpPr/>
          <p:nvPr/>
        </p:nvSpPr>
        <p:spPr>
          <a:xfrm>
            <a:off x="8510016" y="4486656"/>
            <a:ext cx="30236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SCRIPT</a:t>
            </a:r>
            <a:endParaRPr b="0" i="0" sz="1300" u="none" cap="none" strike="noStrike">
              <a:solidFill>
                <a:schemeClr val="dk1"/>
              </a:solidFill>
              <a:latin typeface="Calibri"/>
              <a:ea typeface="Calibri"/>
              <a:cs typeface="Calibri"/>
              <a:sym typeface="Calibri"/>
            </a:endParaRPr>
          </a:p>
        </p:txBody>
      </p:sp>
      <p:sp>
        <p:nvSpPr>
          <p:cNvPr id="523" name="Google Shape;523;g386fa9f7404_4_0"/>
          <p:cNvSpPr/>
          <p:nvPr/>
        </p:nvSpPr>
        <p:spPr>
          <a:xfrm>
            <a:off x="487680" y="4949952"/>
            <a:ext cx="2743200"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386fa9f7404_4_0"/>
          <p:cNvSpPr/>
          <p:nvPr/>
        </p:nvSpPr>
        <p:spPr>
          <a:xfrm>
            <a:off x="3316224" y="4949952"/>
            <a:ext cx="2779776"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386fa9f7404_4_0"/>
          <p:cNvSpPr/>
          <p:nvPr/>
        </p:nvSpPr>
        <p:spPr>
          <a:xfrm>
            <a:off x="6193536" y="4949952"/>
            <a:ext cx="2097024"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386fa9f7404_4_0"/>
          <p:cNvSpPr/>
          <p:nvPr/>
        </p:nvSpPr>
        <p:spPr>
          <a:xfrm>
            <a:off x="8388096" y="4949952"/>
            <a:ext cx="3267456" cy="43891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386fa9f7404_4_0"/>
          <p:cNvSpPr/>
          <p:nvPr/>
        </p:nvSpPr>
        <p:spPr>
          <a:xfrm>
            <a:off x="609600" y="4949952"/>
            <a:ext cx="24993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PDF Document</a:t>
            </a:r>
            <a:endParaRPr b="0" i="0" sz="1400" u="none" cap="none" strike="noStrike">
              <a:solidFill>
                <a:schemeClr val="dk1"/>
              </a:solidFill>
              <a:latin typeface="Calibri"/>
              <a:ea typeface="Calibri"/>
              <a:cs typeface="Calibri"/>
              <a:sym typeface="Calibri"/>
            </a:endParaRPr>
          </a:p>
        </p:txBody>
      </p:sp>
      <p:sp>
        <p:nvSpPr>
          <p:cNvPr id="528" name="Google Shape;528;g386fa9f7404_4_0"/>
          <p:cNvSpPr/>
          <p:nvPr/>
        </p:nvSpPr>
        <p:spPr>
          <a:xfrm>
            <a:off x="3438144" y="4949952"/>
            <a:ext cx="253593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25 50 44 46</a:t>
            </a:r>
            <a:endParaRPr b="0" i="0" sz="1400" u="none" cap="none" strike="noStrike">
              <a:solidFill>
                <a:schemeClr val="dk1"/>
              </a:solidFill>
              <a:latin typeface="Calibri"/>
              <a:ea typeface="Calibri"/>
              <a:cs typeface="Calibri"/>
              <a:sym typeface="Calibri"/>
            </a:endParaRPr>
          </a:p>
        </p:txBody>
      </p:sp>
      <p:sp>
        <p:nvSpPr>
          <p:cNvPr id="529" name="Google Shape;529;g386fa9f7404_4_0"/>
          <p:cNvSpPr/>
          <p:nvPr/>
        </p:nvSpPr>
        <p:spPr>
          <a:xfrm>
            <a:off x="6315456" y="4949952"/>
            <a:ext cx="1853184"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%PDF</a:t>
            </a:r>
            <a:endParaRPr b="0" i="0" sz="1400" u="none" cap="none" strike="noStrike">
              <a:solidFill>
                <a:schemeClr val="dk1"/>
              </a:solidFill>
              <a:latin typeface="Calibri"/>
              <a:ea typeface="Calibri"/>
              <a:cs typeface="Calibri"/>
              <a:sym typeface="Calibri"/>
            </a:endParaRPr>
          </a:p>
        </p:txBody>
      </p:sp>
      <p:sp>
        <p:nvSpPr>
          <p:cNvPr id="530" name="Google Shape;530;g386fa9f7404_4_0"/>
          <p:cNvSpPr/>
          <p:nvPr/>
        </p:nvSpPr>
        <p:spPr>
          <a:xfrm>
            <a:off x="8510016" y="4949952"/>
            <a:ext cx="30236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1" i="0" lang="en-US" sz="1300" u="none" cap="none" strike="noStrike">
                <a:solidFill>
                  <a:srgbClr val="717D7E"/>
                </a:solidFill>
                <a:latin typeface="Calibri"/>
                <a:ea typeface="Calibri"/>
                <a:cs typeface="Calibri"/>
                <a:sym typeface="Calibri"/>
              </a:rPr>
              <a:t>DOCUMENT</a:t>
            </a:r>
            <a:endParaRPr b="0" i="0" sz="1300" u="none" cap="none" strike="noStrike">
              <a:solidFill>
                <a:schemeClr val="dk1"/>
              </a:solidFill>
              <a:latin typeface="Calibri"/>
              <a:ea typeface="Calibri"/>
              <a:cs typeface="Calibri"/>
              <a:sym typeface="Calibri"/>
            </a:endParaRPr>
          </a:p>
        </p:txBody>
      </p:sp>
      <p:sp>
        <p:nvSpPr>
          <p:cNvPr id="531" name="Google Shape;531;g386fa9f7404_4_0"/>
          <p:cNvSpPr/>
          <p:nvPr/>
        </p:nvSpPr>
        <p:spPr>
          <a:xfrm>
            <a:off x="487680" y="5608320"/>
            <a:ext cx="11216640"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386fa9f7404_4_0"/>
          <p:cNvSpPr/>
          <p:nvPr/>
        </p:nvSpPr>
        <p:spPr>
          <a:xfrm>
            <a:off x="585216" y="5608320"/>
            <a:ext cx="109728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 Wikipedia: List of file signatures — en.wikipedia.org/wiki/List_of_file_signatures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g386fa9f7404_4_69"/>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386fa9f7404_4_69"/>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1 — Routing Decision + Real Example</a:t>
            </a:r>
            <a:endParaRPr b="0" i="0" sz="2700" u="none" cap="none" strike="noStrike">
              <a:solidFill>
                <a:schemeClr val="dk1"/>
              </a:solidFill>
              <a:latin typeface="Calibri"/>
              <a:ea typeface="Calibri"/>
              <a:cs typeface="Calibri"/>
              <a:sym typeface="Calibri"/>
            </a:endParaRPr>
          </a:p>
        </p:txBody>
      </p:sp>
      <p:sp>
        <p:nvSpPr>
          <p:cNvPr id="540" name="Google Shape;540;g386fa9f7404_4_69"/>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3 Demo</a:t>
            </a:r>
            <a:endParaRPr b="0" i="0" sz="1100" u="none" cap="none" strike="noStrike">
              <a:solidFill>
                <a:schemeClr val="dk1"/>
              </a:solidFill>
              <a:latin typeface="Calibri"/>
              <a:ea typeface="Calibri"/>
              <a:cs typeface="Calibri"/>
              <a:sym typeface="Calibri"/>
            </a:endParaRPr>
          </a:p>
        </p:txBody>
      </p:sp>
      <p:sp>
        <p:nvSpPr>
          <p:cNvPr id="541" name="Google Shape;541;g386fa9f7404_4_69"/>
          <p:cNvSpPr/>
          <p:nvPr/>
        </p:nvSpPr>
        <p:spPr>
          <a:xfrm>
            <a:off x="426720" y="1121664"/>
            <a:ext cx="2097024" cy="2706624"/>
          </a:xfrm>
          <a:prstGeom prst="rect">
            <a:avLst/>
          </a:prstGeom>
          <a:solidFill>
            <a:srgbClr val="D5F5E3"/>
          </a:solidFill>
          <a:ln cap="flat" cmpd="sng" w="19050">
            <a:solidFill>
              <a:srgbClr val="27AE6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386fa9f7404_4_69"/>
          <p:cNvSpPr/>
          <p:nvPr/>
        </p:nvSpPr>
        <p:spPr>
          <a:xfrm>
            <a:off x="426720" y="1243584"/>
            <a:ext cx="2097024"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900"/>
              <a:buFont typeface="Calibri"/>
              <a:buNone/>
            </a:pPr>
            <a:r>
              <a:rPr b="0" i="0" lang="en-US" sz="2900" u="none" cap="none" strike="noStrike">
                <a:solidFill>
                  <a:srgbClr val="000000"/>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543" name="Google Shape;543;g386fa9f7404_4_69"/>
          <p:cNvSpPr/>
          <p:nvPr/>
        </p:nvSpPr>
        <p:spPr>
          <a:xfrm>
            <a:off x="548640" y="1950720"/>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SAFE</a:t>
            </a:r>
            <a:endParaRPr b="0" i="0" sz="1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(.txt, .csv)</a:t>
            </a:r>
            <a:endParaRPr b="0" i="0" sz="1400" u="none" cap="none" strike="noStrike">
              <a:solidFill>
                <a:schemeClr val="dk1"/>
              </a:solidFill>
              <a:latin typeface="Calibri"/>
              <a:ea typeface="Calibri"/>
              <a:cs typeface="Calibri"/>
              <a:sym typeface="Calibri"/>
            </a:endParaRPr>
          </a:p>
        </p:txBody>
      </p:sp>
      <p:sp>
        <p:nvSpPr>
          <p:cNvPr id="544" name="Google Shape;544;g386fa9f7404_4_69"/>
          <p:cNvSpPr/>
          <p:nvPr/>
        </p:nvSpPr>
        <p:spPr>
          <a:xfrm>
            <a:off x="646176" y="2706624"/>
            <a:ext cx="1658112" cy="18288"/>
          </a:xfrm>
          <a:prstGeom prst="rect">
            <a:avLst/>
          </a:prstGeom>
          <a:solidFill>
            <a:srgbClr val="27AE60"/>
          </a:solidFill>
          <a:ln cap="flat" cmpd="sng" w="12700">
            <a:solidFill>
              <a:srgbClr val="27AE6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386fa9f7404_4_69"/>
          <p:cNvSpPr/>
          <p:nvPr/>
        </p:nvSpPr>
        <p:spPr>
          <a:xfrm>
            <a:off x="548640" y="2767584"/>
            <a:ext cx="1853184"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7AE60"/>
              </a:buClr>
              <a:buSzPts val="1300"/>
              <a:buFont typeface="Calibri"/>
              <a:buNone/>
            </a:pPr>
            <a:r>
              <a:rPr b="1" i="0" lang="en-US" sz="1300" u="none" cap="none" strike="noStrike">
                <a:solidFill>
                  <a:srgbClr val="27AE60"/>
                </a:solidFill>
                <a:latin typeface="Calibri"/>
                <a:ea typeface="Calibri"/>
                <a:cs typeface="Calibri"/>
                <a:sym typeface="Calibri"/>
              </a:rPr>
              <a:t>Skip entirely</a:t>
            </a:r>
            <a:endParaRPr b="0" i="0" sz="1300" u="none" cap="none" strike="noStrike">
              <a:solidFill>
                <a:schemeClr val="dk1"/>
              </a:solidFill>
              <a:latin typeface="Calibri"/>
              <a:ea typeface="Calibri"/>
              <a:cs typeface="Calibri"/>
              <a:sym typeface="Calibri"/>
            </a:endParaRPr>
          </a:p>
        </p:txBody>
      </p:sp>
      <p:sp>
        <p:nvSpPr>
          <p:cNvPr id="546" name="Google Shape;546;g386fa9f7404_4_69"/>
          <p:cNvSpPr/>
          <p:nvPr/>
        </p:nvSpPr>
        <p:spPr>
          <a:xfrm>
            <a:off x="548640" y="3194304"/>
            <a:ext cx="1853184" cy="5120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Cannot execute. Score = 0.</a:t>
            </a:r>
            <a:endParaRPr b="0" i="0" sz="1100" u="none" cap="none" strike="noStrike">
              <a:solidFill>
                <a:schemeClr val="dk1"/>
              </a:solidFill>
              <a:latin typeface="Calibri"/>
              <a:ea typeface="Calibri"/>
              <a:cs typeface="Calibri"/>
              <a:sym typeface="Calibri"/>
            </a:endParaRPr>
          </a:p>
        </p:txBody>
      </p:sp>
      <p:sp>
        <p:nvSpPr>
          <p:cNvPr id="547" name="Google Shape;547;g386fa9f7404_4_69"/>
          <p:cNvSpPr/>
          <p:nvPr/>
        </p:nvSpPr>
        <p:spPr>
          <a:xfrm>
            <a:off x="2706624" y="1121664"/>
            <a:ext cx="2097024" cy="2706624"/>
          </a:xfrm>
          <a:prstGeom prst="rect">
            <a:avLst/>
          </a:prstGeom>
          <a:solidFill>
            <a:srgbClr val="D6EAF8"/>
          </a:solidFill>
          <a:ln cap="flat" cmpd="sng" w="1905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386fa9f7404_4_69"/>
          <p:cNvSpPr/>
          <p:nvPr/>
        </p:nvSpPr>
        <p:spPr>
          <a:xfrm>
            <a:off x="2706624" y="1243584"/>
            <a:ext cx="2097024"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900"/>
              <a:buFont typeface="Calibri"/>
              <a:buNone/>
            </a:pPr>
            <a:r>
              <a:rPr b="0" i="0" lang="en-US" sz="2900" u="none" cap="none" strike="noStrike">
                <a:solidFill>
                  <a:srgbClr val="000000"/>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549" name="Google Shape;549;g386fa9f7404_4_69"/>
          <p:cNvSpPr/>
          <p:nvPr/>
        </p:nvSpPr>
        <p:spPr>
          <a:xfrm>
            <a:off x="2828544" y="1950720"/>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ARCHIVE</a:t>
            </a:r>
            <a:endParaRPr b="0" i="0" sz="1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(.zip, .tar)</a:t>
            </a:r>
            <a:endParaRPr b="0" i="0" sz="1400" u="none" cap="none" strike="noStrike">
              <a:solidFill>
                <a:schemeClr val="dk1"/>
              </a:solidFill>
              <a:latin typeface="Calibri"/>
              <a:ea typeface="Calibri"/>
              <a:cs typeface="Calibri"/>
              <a:sym typeface="Calibri"/>
            </a:endParaRPr>
          </a:p>
        </p:txBody>
      </p:sp>
      <p:sp>
        <p:nvSpPr>
          <p:cNvPr id="550" name="Google Shape;550;g386fa9f7404_4_69"/>
          <p:cNvSpPr/>
          <p:nvPr/>
        </p:nvSpPr>
        <p:spPr>
          <a:xfrm>
            <a:off x="2926080" y="2706624"/>
            <a:ext cx="1658112" cy="182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g386fa9f7404_4_69"/>
          <p:cNvSpPr/>
          <p:nvPr/>
        </p:nvSpPr>
        <p:spPr>
          <a:xfrm>
            <a:off x="2828544" y="2767584"/>
            <a:ext cx="1853184"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 Stage 2</a:t>
            </a:r>
            <a:endParaRPr b="0" i="0" sz="1300" u="none" cap="none" strike="noStrike">
              <a:solidFill>
                <a:schemeClr val="dk1"/>
              </a:solidFill>
              <a:latin typeface="Calibri"/>
              <a:ea typeface="Calibri"/>
              <a:cs typeface="Calibri"/>
              <a:sym typeface="Calibri"/>
            </a:endParaRPr>
          </a:p>
        </p:txBody>
      </p:sp>
      <p:sp>
        <p:nvSpPr>
          <p:cNvPr id="552" name="Google Shape;552;g386fa9f7404_4_69"/>
          <p:cNvSpPr/>
          <p:nvPr/>
        </p:nvSpPr>
        <p:spPr>
          <a:xfrm>
            <a:off x="2828544" y="3194304"/>
            <a:ext cx="1853184" cy="5120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Extract and sandbox each file inside.</a:t>
            </a:r>
            <a:endParaRPr b="0" i="0" sz="1100" u="none" cap="none" strike="noStrike">
              <a:solidFill>
                <a:schemeClr val="dk1"/>
              </a:solidFill>
              <a:latin typeface="Calibri"/>
              <a:ea typeface="Calibri"/>
              <a:cs typeface="Calibri"/>
              <a:sym typeface="Calibri"/>
            </a:endParaRPr>
          </a:p>
        </p:txBody>
      </p:sp>
      <p:sp>
        <p:nvSpPr>
          <p:cNvPr id="553" name="Google Shape;553;g386fa9f7404_4_69"/>
          <p:cNvSpPr/>
          <p:nvPr/>
        </p:nvSpPr>
        <p:spPr>
          <a:xfrm>
            <a:off x="4986528" y="1121664"/>
            <a:ext cx="2097024" cy="2706624"/>
          </a:xfrm>
          <a:prstGeom prst="rect">
            <a:avLst/>
          </a:prstGeom>
          <a:solidFill>
            <a:srgbClr val="EAF4FB"/>
          </a:solidFill>
          <a:ln cap="flat" cmpd="sng" w="19050">
            <a:solidFill>
              <a:srgbClr val="1B3A5C"/>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386fa9f7404_4_69"/>
          <p:cNvSpPr/>
          <p:nvPr/>
        </p:nvSpPr>
        <p:spPr>
          <a:xfrm>
            <a:off x="4986528" y="1243584"/>
            <a:ext cx="2097024"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900"/>
              <a:buFont typeface="Calibri"/>
              <a:buNone/>
            </a:pPr>
            <a:r>
              <a:rPr b="0" i="0" lang="en-US" sz="2900" u="none" cap="none" strike="noStrike">
                <a:solidFill>
                  <a:srgbClr val="000000"/>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555" name="Google Shape;555;g386fa9f7404_4_69"/>
          <p:cNvSpPr/>
          <p:nvPr/>
        </p:nvSpPr>
        <p:spPr>
          <a:xfrm>
            <a:off x="5108448" y="1950720"/>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SCRIPT / BINARY</a:t>
            </a:r>
            <a:endParaRPr b="0" i="0" sz="1400" u="none" cap="none" strike="noStrike">
              <a:solidFill>
                <a:schemeClr val="dk1"/>
              </a:solidFill>
              <a:latin typeface="Calibri"/>
              <a:ea typeface="Calibri"/>
              <a:cs typeface="Calibri"/>
              <a:sym typeface="Calibri"/>
            </a:endParaRPr>
          </a:p>
        </p:txBody>
      </p:sp>
      <p:sp>
        <p:nvSpPr>
          <p:cNvPr id="556" name="Google Shape;556;g386fa9f7404_4_69"/>
          <p:cNvSpPr/>
          <p:nvPr/>
        </p:nvSpPr>
        <p:spPr>
          <a:xfrm>
            <a:off x="5205984" y="2706624"/>
            <a:ext cx="1658112" cy="18288"/>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386fa9f7404_4_69"/>
          <p:cNvSpPr/>
          <p:nvPr/>
        </p:nvSpPr>
        <p:spPr>
          <a:xfrm>
            <a:off x="5108448" y="2767584"/>
            <a:ext cx="1853184"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 Stage 3</a:t>
            </a:r>
            <a:endParaRPr b="0" i="0" sz="1300" u="none" cap="none" strike="noStrike">
              <a:solidFill>
                <a:schemeClr val="dk1"/>
              </a:solidFill>
              <a:latin typeface="Calibri"/>
              <a:ea typeface="Calibri"/>
              <a:cs typeface="Calibri"/>
              <a:sym typeface="Calibri"/>
            </a:endParaRPr>
          </a:p>
        </p:txBody>
      </p:sp>
      <p:sp>
        <p:nvSpPr>
          <p:cNvPr id="558" name="Google Shape;558;g386fa9f7404_4_69"/>
          <p:cNvSpPr/>
          <p:nvPr/>
        </p:nvSpPr>
        <p:spPr>
          <a:xfrm>
            <a:off x="5108448" y="3194304"/>
            <a:ext cx="1853184" cy="5120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Execute with correct interpreter.</a:t>
            </a:r>
            <a:endParaRPr b="0" i="0" sz="1100" u="none" cap="none" strike="noStrike">
              <a:solidFill>
                <a:schemeClr val="dk1"/>
              </a:solidFill>
              <a:latin typeface="Calibri"/>
              <a:ea typeface="Calibri"/>
              <a:cs typeface="Calibri"/>
              <a:sym typeface="Calibri"/>
            </a:endParaRPr>
          </a:p>
        </p:txBody>
      </p:sp>
      <p:sp>
        <p:nvSpPr>
          <p:cNvPr id="559" name="Google Shape;559;g386fa9f7404_4_69"/>
          <p:cNvSpPr/>
          <p:nvPr/>
        </p:nvSpPr>
        <p:spPr>
          <a:xfrm>
            <a:off x="7266432" y="1121664"/>
            <a:ext cx="2097024" cy="2706624"/>
          </a:xfrm>
          <a:prstGeom prst="rect">
            <a:avLst/>
          </a:prstGeom>
          <a:solidFill>
            <a:srgbClr val="FADBD8"/>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g386fa9f7404_4_69"/>
          <p:cNvSpPr/>
          <p:nvPr/>
        </p:nvSpPr>
        <p:spPr>
          <a:xfrm>
            <a:off x="7266432" y="1243584"/>
            <a:ext cx="2097024"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900"/>
              <a:buFont typeface="Calibri"/>
              <a:buNone/>
            </a:pPr>
            <a:r>
              <a:rPr b="0" i="0" lang="en-US" sz="2900" u="none" cap="none" strike="noStrike">
                <a:solidFill>
                  <a:srgbClr val="000000"/>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561" name="Google Shape;561;g386fa9f7404_4_69"/>
          <p:cNvSpPr/>
          <p:nvPr/>
        </p:nvSpPr>
        <p:spPr>
          <a:xfrm>
            <a:off x="7388352" y="1950720"/>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WINDOWS</a:t>
            </a:r>
            <a:endParaRPr b="0" i="0" sz="1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(.exe, .dll)</a:t>
            </a:r>
            <a:endParaRPr b="0" i="0" sz="1400" u="none" cap="none" strike="noStrike">
              <a:solidFill>
                <a:schemeClr val="dk1"/>
              </a:solidFill>
              <a:latin typeface="Calibri"/>
              <a:ea typeface="Calibri"/>
              <a:cs typeface="Calibri"/>
              <a:sym typeface="Calibri"/>
            </a:endParaRPr>
          </a:p>
        </p:txBody>
      </p:sp>
      <p:sp>
        <p:nvSpPr>
          <p:cNvPr id="562" name="Google Shape;562;g386fa9f7404_4_69"/>
          <p:cNvSpPr/>
          <p:nvPr/>
        </p:nvSpPr>
        <p:spPr>
          <a:xfrm>
            <a:off x="7485888" y="2706624"/>
            <a:ext cx="1658112" cy="1828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386fa9f7404_4_69"/>
          <p:cNvSpPr/>
          <p:nvPr/>
        </p:nvSpPr>
        <p:spPr>
          <a:xfrm>
            <a:off x="7388352" y="2767584"/>
            <a:ext cx="1853184"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Flag for review</a:t>
            </a:r>
            <a:endParaRPr b="0" i="0" sz="1300" u="none" cap="none" strike="noStrike">
              <a:solidFill>
                <a:schemeClr val="dk1"/>
              </a:solidFill>
              <a:latin typeface="Calibri"/>
              <a:ea typeface="Calibri"/>
              <a:cs typeface="Calibri"/>
              <a:sym typeface="Calibri"/>
            </a:endParaRPr>
          </a:p>
        </p:txBody>
      </p:sp>
      <p:sp>
        <p:nvSpPr>
          <p:cNvPr id="564" name="Google Shape;564;g386fa9f7404_4_69"/>
          <p:cNvSpPr/>
          <p:nvPr/>
        </p:nvSpPr>
        <p:spPr>
          <a:xfrm>
            <a:off x="7388352" y="3194304"/>
            <a:ext cx="1853184" cy="5120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Cannot run on Linux. Manual review.</a:t>
            </a:r>
            <a:endParaRPr b="0" i="0" sz="1100" u="none" cap="none" strike="noStrike">
              <a:solidFill>
                <a:schemeClr val="dk1"/>
              </a:solidFill>
              <a:latin typeface="Calibri"/>
              <a:ea typeface="Calibri"/>
              <a:cs typeface="Calibri"/>
              <a:sym typeface="Calibri"/>
            </a:endParaRPr>
          </a:p>
        </p:txBody>
      </p:sp>
      <p:sp>
        <p:nvSpPr>
          <p:cNvPr id="565" name="Google Shape;565;g386fa9f7404_4_69"/>
          <p:cNvSpPr/>
          <p:nvPr/>
        </p:nvSpPr>
        <p:spPr>
          <a:xfrm>
            <a:off x="9546336" y="1121664"/>
            <a:ext cx="2097024" cy="2706624"/>
          </a:xfrm>
          <a:prstGeom prst="rect">
            <a:avLst/>
          </a:prstGeom>
          <a:solidFill>
            <a:srgbClr val="FDEBD0"/>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386fa9f7404_4_69"/>
          <p:cNvSpPr/>
          <p:nvPr/>
        </p:nvSpPr>
        <p:spPr>
          <a:xfrm>
            <a:off x="9546336" y="1243584"/>
            <a:ext cx="2097024"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900"/>
              <a:buFont typeface="Calibri"/>
              <a:buNone/>
            </a:pPr>
            <a:r>
              <a:rPr b="0" i="0" lang="en-US" sz="2900" u="none" cap="none" strike="noStrike">
                <a:solidFill>
                  <a:srgbClr val="000000"/>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567" name="Google Shape;567;g386fa9f7404_4_69"/>
          <p:cNvSpPr/>
          <p:nvPr/>
        </p:nvSpPr>
        <p:spPr>
          <a:xfrm>
            <a:off x="9668256" y="1950720"/>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UNKNOWN</a:t>
            </a:r>
            <a:endParaRPr b="0" i="0" sz="1400" u="none" cap="none" strike="noStrike">
              <a:solidFill>
                <a:schemeClr val="dk1"/>
              </a:solidFill>
              <a:latin typeface="Calibri"/>
              <a:ea typeface="Calibri"/>
              <a:cs typeface="Calibri"/>
              <a:sym typeface="Calibri"/>
            </a:endParaRPr>
          </a:p>
        </p:txBody>
      </p:sp>
      <p:sp>
        <p:nvSpPr>
          <p:cNvPr id="568" name="Google Shape;568;g386fa9f7404_4_69"/>
          <p:cNvSpPr/>
          <p:nvPr/>
        </p:nvSpPr>
        <p:spPr>
          <a:xfrm>
            <a:off x="9765792" y="2706624"/>
            <a:ext cx="1658112" cy="18288"/>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g386fa9f7404_4_69"/>
          <p:cNvSpPr/>
          <p:nvPr/>
        </p:nvSpPr>
        <p:spPr>
          <a:xfrm>
            <a:off x="9668256" y="2767584"/>
            <a:ext cx="1853184"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Treat as suspicious</a:t>
            </a:r>
            <a:endParaRPr b="0" i="0" sz="1300" u="none" cap="none" strike="noStrike">
              <a:solidFill>
                <a:schemeClr val="dk1"/>
              </a:solidFill>
              <a:latin typeface="Calibri"/>
              <a:ea typeface="Calibri"/>
              <a:cs typeface="Calibri"/>
              <a:sym typeface="Calibri"/>
            </a:endParaRPr>
          </a:p>
        </p:txBody>
      </p:sp>
      <p:sp>
        <p:nvSpPr>
          <p:cNvPr id="570" name="Google Shape;570;g386fa9f7404_4_69"/>
          <p:cNvSpPr/>
          <p:nvPr/>
        </p:nvSpPr>
        <p:spPr>
          <a:xfrm>
            <a:off x="9668256" y="3194304"/>
            <a:ext cx="1853184" cy="51206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Route through archive handler first.</a:t>
            </a:r>
            <a:endParaRPr b="0" i="0" sz="1100" u="none" cap="none" strike="noStrike">
              <a:solidFill>
                <a:schemeClr val="dk1"/>
              </a:solidFill>
              <a:latin typeface="Calibri"/>
              <a:ea typeface="Calibri"/>
              <a:cs typeface="Calibri"/>
              <a:sym typeface="Calibri"/>
            </a:endParaRPr>
          </a:p>
        </p:txBody>
      </p:sp>
      <p:sp>
        <p:nvSpPr>
          <p:cNvPr id="571" name="Google Shape;571;g386fa9f7404_4_69"/>
          <p:cNvSpPr/>
          <p:nvPr/>
        </p:nvSpPr>
        <p:spPr>
          <a:xfrm>
            <a:off x="487680" y="4047744"/>
            <a:ext cx="11216640" cy="1524000"/>
          </a:xfrm>
          <a:prstGeom prst="rect">
            <a:avLst/>
          </a:prstGeom>
          <a:solidFill>
            <a:srgbClr val="142840"/>
          </a:solidFill>
          <a:ln cap="flat" cmpd="sng" w="12700">
            <a:solidFill>
              <a:srgbClr val="2471A3"/>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386fa9f7404_4_69"/>
          <p:cNvSpPr/>
          <p:nvPr/>
        </p:nvSpPr>
        <p:spPr>
          <a:xfrm>
            <a:off x="731520" y="4084320"/>
            <a:ext cx="292608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g386fa9f7404_4_69"/>
          <p:cNvSpPr/>
          <p:nvPr/>
        </p:nvSpPr>
        <p:spPr>
          <a:xfrm>
            <a:off x="731520" y="4084320"/>
            <a:ext cx="292608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000"/>
              <a:buFont typeface="Calibri"/>
              <a:buNone/>
            </a:pPr>
            <a:r>
              <a:rPr b="1" i="0" lang="en-US" sz="1000" u="none" cap="none" strike="noStrike">
                <a:solidFill>
                  <a:srgbClr val="AED6F1"/>
                </a:solidFill>
                <a:latin typeface="Calibri"/>
                <a:ea typeface="Calibri"/>
                <a:cs typeface="Calibri"/>
                <a:sym typeface="Calibri"/>
              </a:rPr>
              <a:t>NOTEBOOK DEMO — Section 3</a:t>
            </a:r>
            <a:endParaRPr b="0" i="0" sz="1000" u="none" cap="none" strike="noStrike">
              <a:solidFill>
                <a:schemeClr val="dk1"/>
              </a:solidFill>
              <a:latin typeface="Calibri"/>
              <a:ea typeface="Calibri"/>
              <a:cs typeface="Calibri"/>
              <a:sym typeface="Calibri"/>
            </a:endParaRPr>
          </a:p>
        </p:txBody>
      </p:sp>
      <p:sp>
        <p:nvSpPr>
          <p:cNvPr id="574" name="Google Shape;574;g386fa9f7404_4_69"/>
          <p:cNvSpPr/>
          <p:nvPr/>
        </p:nvSpPr>
        <p:spPr>
          <a:xfrm>
            <a:off x="755904" y="4511040"/>
            <a:ext cx="341376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File: photo.jpg</a:t>
            </a:r>
            <a:endParaRPr b="0" i="0" sz="1600" u="none" cap="none" strike="noStrike">
              <a:solidFill>
                <a:schemeClr val="dk1"/>
              </a:solidFill>
              <a:latin typeface="Calibri"/>
              <a:ea typeface="Calibri"/>
              <a:cs typeface="Calibri"/>
              <a:sym typeface="Calibri"/>
            </a:endParaRPr>
          </a:p>
        </p:txBody>
      </p:sp>
      <p:sp>
        <p:nvSpPr>
          <p:cNvPr id="575" name="Google Shape;575;g386fa9f7404_4_69"/>
          <p:cNvSpPr/>
          <p:nvPr/>
        </p:nvSpPr>
        <p:spPr>
          <a:xfrm>
            <a:off x="755904" y="4876800"/>
            <a:ext cx="390144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400"/>
              <a:buFont typeface="Calibri"/>
              <a:buNone/>
            </a:pPr>
            <a:r>
              <a:rPr b="0" i="0" lang="en-US" sz="1400" u="none" cap="none" strike="noStrike">
                <a:solidFill>
                  <a:srgbClr val="AED6F1"/>
                </a:solidFill>
                <a:latin typeface="Calibri"/>
                <a:ea typeface="Calibri"/>
                <a:cs typeface="Calibri"/>
                <a:sym typeface="Calibri"/>
              </a:rPr>
              <a:t>Extension says: JPEG Image</a:t>
            </a:r>
            <a:endParaRPr b="0" i="0" sz="1400" u="none" cap="none" strike="noStrike">
              <a:solidFill>
                <a:schemeClr val="dk1"/>
              </a:solidFill>
              <a:latin typeface="Calibri"/>
              <a:ea typeface="Calibri"/>
              <a:cs typeface="Calibri"/>
              <a:sym typeface="Calibri"/>
            </a:endParaRPr>
          </a:p>
        </p:txBody>
      </p:sp>
      <p:sp>
        <p:nvSpPr>
          <p:cNvPr id="576" name="Google Shape;576;g386fa9f7404_4_69"/>
          <p:cNvSpPr/>
          <p:nvPr/>
        </p:nvSpPr>
        <p:spPr>
          <a:xfrm>
            <a:off x="4876800" y="4511040"/>
            <a:ext cx="658368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Magic bytes say: #!  (shebang → shell script)</a:t>
            </a:r>
            <a:endParaRPr b="0" i="0" sz="1600" u="none" cap="none" strike="noStrike">
              <a:solidFill>
                <a:schemeClr val="dk1"/>
              </a:solidFill>
              <a:latin typeface="Calibri"/>
              <a:ea typeface="Calibri"/>
              <a:cs typeface="Calibri"/>
              <a:sym typeface="Calibri"/>
            </a:endParaRPr>
          </a:p>
        </p:txBody>
      </p:sp>
      <p:sp>
        <p:nvSpPr>
          <p:cNvPr id="577" name="Google Shape;577;g386fa9f7404_4_69"/>
          <p:cNvSpPr/>
          <p:nvPr/>
        </p:nvSpPr>
        <p:spPr>
          <a:xfrm>
            <a:off x="4876800" y="4876800"/>
            <a:ext cx="658368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400"/>
              <a:buFont typeface="Calibri"/>
              <a:buNone/>
            </a:pPr>
            <a:r>
              <a:rPr b="0" i="0" lang="en-US" sz="1400" u="none" cap="none" strike="noStrike">
                <a:solidFill>
                  <a:srgbClr val="AED6F1"/>
                </a:solidFill>
                <a:latin typeface="Calibri"/>
                <a:ea typeface="Calibri"/>
                <a:cs typeface="Calibri"/>
                <a:sym typeface="Calibri"/>
              </a:rPr>
              <a:t>→ Routed as SCRIPT with bash interpreter. The .jpg extension is completely ignored.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582" name="Shape 582"/>
        <p:cNvGrpSpPr/>
        <p:nvPr/>
      </p:nvGrpSpPr>
      <p:grpSpPr>
        <a:xfrm>
          <a:off x="0" y="0"/>
          <a:ext cx="0" cy="0"/>
          <a:chOff x="0" y="0"/>
          <a:chExt cx="0" cy="0"/>
        </a:xfrm>
      </p:grpSpPr>
      <p:sp>
        <p:nvSpPr>
          <p:cNvPr id="583" name="Google Shape;583;g386fa9f7404_4_113"/>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g386fa9f7404_4_113"/>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2 — Archive Handler: Why It Exists</a:t>
            </a:r>
            <a:endParaRPr b="0" i="0" sz="2700" u="none" cap="none" strike="noStrike">
              <a:solidFill>
                <a:schemeClr val="dk1"/>
              </a:solidFill>
              <a:latin typeface="Calibri"/>
              <a:ea typeface="Calibri"/>
              <a:cs typeface="Calibri"/>
              <a:sym typeface="Calibri"/>
            </a:endParaRPr>
          </a:p>
        </p:txBody>
      </p:sp>
      <p:sp>
        <p:nvSpPr>
          <p:cNvPr id="585" name="Google Shape;585;g386fa9f7404_4_113"/>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4</a:t>
            </a:r>
            <a:endParaRPr b="0" i="0" sz="1100" u="none" cap="none" strike="noStrike">
              <a:solidFill>
                <a:schemeClr val="dk1"/>
              </a:solidFill>
              <a:latin typeface="Calibri"/>
              <a:ea typeface="Calibri"/>
              <a:cs typeface="Calibri"/>
              <a:sym typeface="Calibri"/>
            </a:endParaRPr>
          </a:p>
        </p:txBody>
      </p:sp>
      <p:sp>
        <p:nvSpPr>
          <p:cNvPr id="586" name="Google Shape;586;g386fa9f7404_4_113"/>
          <p:cNvSpPr/>
          <p:nvPr/>
        </p:nvSpPr>
        <p:spPr>
          <a:xfrm>
            <a:off x="487680" y="1072896"/>
            <a:ext cx="5303520" cy="2682240"/>
          </a:xfrm>
          <a:prstGeom prst="rect">
            <a:avLst/>
          </a:prstGeom>
          <a:solidFill>
            <a:srgbClr val="1B3A5C"/>
          </a:solidFill>
          <a:ln cap="flat" cmpd="sng" w="12700">
            <a:solidFill>
              <a:srgbClr val="1B3A5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g386fa9f7404_4_113"/>
          <p:cNvSpPr/>
          <p:nvPr/>
        </p:nvSpPr>
        <p:spPr>
          <a:xfrm>
            <a:off x="487680" y="1158240"/>
            <a:ext cx="5303520" cy="121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8000"/>
              <a:buFont typeface="Calibri"/>
              <a:buNone/>
            </a:pPr>
            <a:r>
              <a:rPr b="1" i="0" lang="en-US" sz="8000" u="none" cap="none" strike="noStrike">
                <a:solidFill>
                  <a:srgbClr val="AED6F1"/>
                </a:solidFill>
                <a:latin typeface="Calibri"/>
                <a:ea typeface="Calibri"/>
                <a:cs typeface="Calibri"/>
                <a:sym typeface="Calibri"/>
              </a:rPr>
              <a:t>42–44%</a:t>
            </a:r>
            <a:endParaRPr b="0" i="0" sz="8000" u="none" cap="none" strike="noStrike">
              <a:solidFill>
                <a:schemeClr val="dk1"/>
              </a:solidFill>
              <a:latin typeface="Calibri"/>
              <a:ea typeface="Calibri"/>
              <a:cs typeface="Calibri"/>
              <a:sym typeface="Calibri"/>
            </a:endParaRPr>
          </a:p>
        </p:txBody>
      </p:sp>
      <p:sp>
        <p:nvSpPr>
          <p:cNvPr id="588" name="Google Shape;588;g386fa9f7404_4_113"/>
          <p:cNvSpPr/>
          <p:nvPr/>
        </p:nvSpPr>
        <p:spPr>
          <a:xfrm>
            <a:off x="487680" y="2377440"/>
            <a:ext cx="5303520" cy="8778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of all malware delivered</a:t>
            </a:r>
            <a:endParaRPr b="0" i="0" sz="1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inside archive files</a:t>
            </a:r>
            <a:endParaRPr b="0" i="0" sz="1700" u="none" cap="none" strike="noStrike">
              <a:solidFill>
                <a:schemeClr val="dk1"/>
              </a:solidFill>
              <a:latin typeface="Calibri"/>
              <a:ea typeface="Calibri"/>
              <a:cs typeface="Calibri"/>
              <a:sym typeface="Calibri"/>
            </a:endParaRPr>
          </a:p>
        </p:txBody>
      </p:sp>
      <p:sp>
        <p:nvSpPr>
          <p:cNvPr id="589" name="Google Shape;589;g386fa9f7404_4_113"/>
          <p:cNvSpPr/>
          <p:nvPr/>
        </p:nvSpPr>
        <p:spPr>
          <a:xfrm>
            <a:off x="487680" y="3267456"/>
            <a:ext cx="5303520" cy="3901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D8AA8"/>
              </a:buClr>
              <a:buSzPts val="1200"/>
              <a:buFont typeface="Calibri"/>
              <a:buNone/>
            </a:pPr>
            <a:r>
              <a:rPr b="0" i="1" lang="en-US" sz="1200" u="none" cap="none" strike="noStrike">
                <a:solidFill>
                  <a:srgbClr val="5D8AA8"/>
                </a:solidFill>
                <a:latin typeface="Calibri"/>
                <a:ea typeface="Calibri"/>
                <a:cs typeface="Calibri"/>
                <a:sym typeface="Calibri"/>
              </a:rPr>
              <a:t>HP Wolf Security Q3–Q4 2022</a:t>
            </a:r>
            <a:endParaRPr b="0" i="0" sz="1200" u="none" cap="none" strike="noStrike">
              <a:solidFill>
                <a:schemeClr val="dk1"/>
              </a:solidFill>
              <a:latin typeface="Calibri"/>
              <a:ea typeface="Calibri"/>
              <a:cs typeface="Calibri"/>
              <a:sym typeface="Calibri"/>
            </a:endParaRPr>
          </a:p>
        </p:txBody>
      </p:sp>
      <p:sp>
        <p:nvSpPr>
          <p:cNvPr id="590" name="Google Shape;590;g386fa9f7404_4_113"/>
          <p:cNvSpPr/>
          <p:nvPr/>
        </p:nvSpPr>
        <p:spPr>
          <a:xfrm>
            <a:off x="6096000" y="1072896"/>
            <a:ext cx="5547360" cy="2682240"/>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g386fa9f7404_4_113"/>
          <p:cNvSpPr/>
          <p:nvPr/>
        </p:nvSpPr>
        <p:spPr>
          <a:xfrm>
            <a:off x="6278880" y="1170432"/>
            <a:ext cx="51816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Why attackers use archives:</a:t>
            </a:r>
            <a:endParaRPr b="0" i="0" sz="1600" u="none" cap="none" strike="noStrike">
              <a:solidFill>
                <a:schemeClr val="dk1"/>
              </a:solidFill>
              <a:latin typeface="Calibri"/>
              <a:ea typeface="Calibri"/>
              <a:cs typeface="Calibri"/>
              <a:sym typeface="Calibri"/>
            </a:endParaRPr>
          </a:p>
        </p:txBody>
      </p:sp>
      <p:sp>
        <p:nvSpPr>
          <p:cNvPr id="592" name="Google Shape;592;g386fa9f7404_4_113"/>
          <p:cNvSpPr/>
          <p:nvPr/>
        </p:nvSpPr>
        <p:spPr>
          <a:xfrm>
            <a:off x="6315456" y="1731264"/>
            <a:ext cx="109728" cy="10972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g386fa9f7404_4_113"/>
          <p:cNvSpPr/>
          <p:nvPr/>
        </p:nvSpPr>
        <p:spPr>
          <a:xfrm>
            <a:off x="6522720" y="1658112"/>
            <a:ext cx="49377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Bypass signature scanners — raw malware bytes are hidden</a:t>
            </a:r>
            <a:endParaRPr b="0" i="0" sz="1400" u="none" cap="none" strike="noStrike">
              <a:solidFill>
                <a:schemeClr val="dk1"/>
              </a:solidFill>
              <a:latin typeface="Calibri"/>
              <a:ea typeface="Calibri"/>
              <a:cs typeface="Calibri"/>
              <a:sym typeface="Calibri"/>
            </a:endParaRPr>
          </a:p>
        </p:txBody>
      </p:sp>
      <p:sp>
        <p:nvSpPr>
          <p:cNvPr id="594" name="Google Shape;594;g386fa9f7404_4_113"/>
          <p:cNvSpPr/>
          <p:nvPr/>
        </p:nvSpPr>
        <p:spPr>
          <a:xfrm>
            <a:off x="6315456" y="2218944"/>
            <a:ext cx="109728" cy="10972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g386fa9f7404_4_113"/>
          <p:cNvSpPr/>
          <p:nvPr/>
        </p:nvSpPr>
        <p:spPr>
          <a:xfrm>
            <a:off x="6522720" y="2145792"/>
            <a:ext cx="49377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Encrypted ZIPs are completely opaque to network tools</a:t>
            </a:r>
            <a:endParaRPr b="0" i="0" sz="1400" u="none" cap="none" strike="noStrike">
              <a:solidFill>
                <a:schemeClr val="dk1"/>
              </a:solidFill>
              <a:latin typeface="Calibri"/>
              <a:ea typeface="Calibri"/>
              <a:cs typeface="Calibri"/>
              <a:sym typeface="Calibri"/>
            </a:endParaRPr>
          </a:p>
        </p:txBody>
      </p:sp>
      <p:sp>
        <p:nvSpPr>
          <p:cNvPr id="596" name="Google Shape;596;g386fa9f7404_4_113"/>
          <p:cNvSpPr/>
          <p:nvPr/>
        </p:nvSpPr>
        <p:spPr>
          <a:xfrm>
            <a:off x="6315456" y="2706624"/>
            <a:ext cx="109728" cy="10972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386fa9f7404_4_113"/>
          <p:cNvSpPr/>
          <p:nvPr/>
        </p:nvSpPr>
        <p:spPr>
          <a:xfrm>
            <a:off x="6522720" y="2633472"/>
            <a:ext cx="49377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Drone feeds legitimately use ZIPs — blocking them is not viable</a:t>
            </a:r>
            <a:endParaRPr b="0" i="0" sz="1400" u="none" cap="none" strike="noStrike">
              <a:solidFill>
                <a:schemeClr val="dk1"/>
              </a:solidFill>
              <a:latin typeface="Calibri"/>
              <a:ea typeface="Calibri"/>
              <a:cs typeface="Calibri"/>
              <a:sym typeface="Calibri"/>
            </a:endParaRPr>
          </a:p>
        </p:txBody>
      </p:sp>
      <p:sp>
        <p:nvSpPr>
          <p:cNvPr id="598" name="Google Shape;598;g386fa9f7404_4_113"/>
          <p:cNvSpPr/>
          <p:nvPr/>
        </p:nvSpPr>
        <p:spPr>
          <a:xfrm>
            <a:off x="6315456" y="3194304"/>
            <a:ext cx="109728" cy="10972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g386fa9f7404_4_113"/>
          <p:cNvSpPr/>
          <p:nvPr/>
        </p:nvSpPr>
        <p:spPr>
          <a:xfrm>
            <a:off x="6522720" y="3121152"/>
            <a:ext cx="49377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Nested archives add layers of obfuscation</a:t>
            </a:r>
            <a:endParaRPr b="0" i="0" sz="1400" u="none" cap="none" strike="noStrike">
              <a:solidFill>
                <a:schemeClr val="dk1"/>
              </a:solidFill>
              <a:latin typeface="Calibri"/>
              <a:ea typeface="Calibri"/>
              <a:cs typeface="Calibri"/>
              <a:sym typeface="Calibri"/>
            </a:endParaRPr>
          </a:p>
        </p:txBody>
      </p:sp>
      <p:sp>
        <p:nvSpPr>
          <p:cNvPr id="600" name="Google Shape;600;g386fa9f7404_4_113"/>
          <p:cNvSpPr/>
          <p:nvPr/>
        </p:nvSpPr>
        <p:spPr>
          <a:xfrm>
            <a:off x="487680" y="3962400"/>
            <a:ext cx="11216640" cy="1158240"/>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g386fa9f7404_4_113"/>
          <p:cNvSpPr/>
          <p:nvPr/>
        </p:nvSpPr>
        <p:spPr>
          <a:xfrm>
            <a:off x="487680" y="3962400"/>
            <a:ext cx="121920" cy="115824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g386fa9f7404_4_113"/>
          <p:cNvSpPr/>
          <p:nvPr/>
        </p:nvSpPr>
        <p:spPr>
          <a:xfrm>
            <a:off x="755904" y="4023360"/>
            <a:ext cx="182880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Our approach:</a:t>
            </a:r>
            <a:endParaRPr b="0" i="0" sz="1500" u="none" cap="none" strike="noStrike">
              <a:solidFill>
                <a:schemeClr val="dk1"/>
              </a:solidFill>
              <a:latin typeface="Calibri"/>
              <a:ea typeface="Calibri"/>
              <a:cs typeface="Calibri"/>
              <a:sym typeface="Calibri"/>
            </a:endParaRPr>
          </a:p>
        </p:txBody>
      </p:sp>
      <p:sp>
        <p:nvSpPr>
          <p:cNvPr id="603" name="Google Shape;603;g386fa9f7404_4_113"/>
          <p:cNvSpPr/>
          <p:nvPr/>
        </p:nvSpPr>
        <p:spPr>
          <a:xfrm>
            <a:off x="755904" y="4389120"/>
            <a:ext cx="1078992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700"/>
              <a:buFont typeface="Calibri"/>
              <a:buNone/>
            </a:pPr>
            <a:r>
              <a:rPr b="1" i="0" lang="en-US" sz="1700" u="none" cap="none" strike="noStrike">
                <a:solidFill>
                  <a:srgbClr val="1B3A5C"/>
                </a:solidFill>
                <a:latin typeface="Calibri"/>
                <a:ea typeface="Calibri"/>
                <a:cs typeface="Calibri"/>
                <a:sym typeface="Calibri"/>
              </a:rPr>
              <a:t>Open every archive. Inspect every file inside. Sandbox each one independently.</a:t>
            </a:r>
            <a:endParaRPr b="0" i="0" sz="1700" u="none" cap="none" strike="noStrike">
              <a:solidFill>
                <a:schemeClr val="dk1"/>
              </a:solidFill>
              <a:latin typeface="Calibri"/>
              <a:ea typeface="Calibri"/>
              <a:cs typeface="Calibri"/>
              <a:sym typeface="Calibri"/>
            </a:endParaRPr>
          </a:p>
        </p:txBody>
      </p:sp>
      <p:sp>
        <p:nvSpPr>
          <p:cNvPr id="604" name="Google Shape;604;g386fa9f7404_4_113"/>
          <p:cNvSpPr/>
          <p:nvPr/>
        </p:nvSpPr>
        <p:spPr>
          <a:xfrm>
            <a:off x="755904" y="4754880"/>
            <a:ext cx="1078992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500"/>
              <a:buFont typeface="Calibri"/>
              <a:buNone/>
            </a:pPr>
            <a:r>
              <a:rPr b="0" i="0" lang="en-US" sz="1500" u="none" cap="none" strike="noStrike">
                <a:solidFill>
                  <a:srgbClr val="2C3E50"/>
                </a:solidFill>
                <a:latin typeface="Calibri"/>
                <a:ea typeface="Calibri"/>
                <a:cs typeface="Calibri"/>
                <a:sym typeface="Calibri"/>
              </a:rPr>
              <a:t>We cannot block all ZIPs — legitimate drone telemetry arrives compressed. We must look inside safely.</a:t>
            </a:r>
            <a:endParaRPr b="0" i="0" sz="1500" u="none" cap="none" strike="noStrike">
              <a:solidFill>
                <a:schemeClr val="dk1"/>
              </a:solidFill>
              <a:latin typeface="Calibri"/>
              <a:ea typeface="Calibri"/>
              <a:cs typeface="Calibri"/>
              <a:sym typeface="Calibri"/>
            </a:endParaRPr>
          </a:p>
        </p:txBody>
      </p:sp>
      <p:sp>
        <p:nvSpPr>
          <p:cNvPr id="605" name="Google Shape;605;g386fa9f7404_4_113"/>
          <p:cNvSpPr/>
          <p:nvPr/>
        </p:nvSpPr>
        <p:spPr>
          <a:xfrm>
            <a:off x="487680" y="5388864"/>
            <a:ext cx="11216640"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g386fa9f7404_4_113"/>
          <p:cNvSpPr/>
          <p:nvPr/>
        </p:nvSpPr>
        <p:spPr>
          <a:xfrm>
            <a:off x="585216" y="5388864"/>
            <a:ext cx="109728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 HP Wolf Security Threat Insights Q4 2022 — threatresearch.ext.hp.com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1" name="Shape 611"/>
        <p:cNvGrpSpPr/>
        <p:nvPr/>
      </p:nvGrpSpPr>
      <p:grpSpPr>
        <a:xfrm>
          <a:off x="0" y="0"/>
          <a:ext cx="0" cy="0"/>
          <a:chOff x="0" y="0"/>
          <a:chExt cx="0" cy="0"/>
        </a:xfrm>
      </p:grpSpPr>
      <p:sp>
        <p:nvSpPr>
          <p:cNvPr id="612" name="Google Shape;612;g386fa9f7404_4_141"/>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g386fa9f7404_4_141"/>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2 — The Encrypted Archive Decision</a:t>
            </a:r>
            <a:endParaRPr b="0" i="0" sz="2700" u="none" cap="none" strike="noStrike">
              <a:solidFill>
                <a:schemeClr val="dk1"/>
              </a:solidFill>
              <a:latin typeface="Calibri"/>
              <a:ea typeface="Calibri"/>
              <a:cs typeface="Calibri"/>
              <a:sym typeface="Calibri"/>
            </a:endParaRPr>
          </a:p>
        </p:txBody>
      </p:sp>
      <p:sp>
        <p:nvSpPr>
          <p:cNvPr id="614" name="Google Shape;614;g386fa9f7404_4_141"/>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4 Theory</a:t>
            </a:r>
            <a:endParaRPr b="0" i="0" sz="1100" u="none" cap="none" strike="noStrike">
              <a:solidFill>
                <a:schemeClr val="dk1"/>
              </a:solidFill>
              <a:latin typeface="Calibri"/>
              <a:ea typeface="Calibri"/>
              <a:cs typeface="Calibri"/>
              <a:sym typeface="Calibri"/>
            </a:endParaRPr>
          </a:p>
        </p:txBody>
      </p:sp>
      <p:sp>
        <p:nvSpPr>
          <p:cNvPr id="615" name="Google Shape;615;g386fa9f7404_4_141"/>
          <p:cNvSpPr/>
          <p:nvPr/>
        </p:nvSpPr>
        <p:spPr>
          <a:xfrm>
            <a:off x="487680" y="1097280"/>
            <a:ext cx="5303520" cy="4206240"/>
          </a:xfrm>
          <a:prstGeom prst="rect">
            <a:avLst/>
          </a:prstGeom>
          <a:solidFill>
            <a:srgbClr val="FADBD8"/>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g386fa9f7404_4_141"/>
          <p:cNvSpPr/>
          <p:nvPr/>
        </p:nvSpPr>
        <p:spPr>
          <a:xfrm>
            <a:off x="487680" y="1097280"/>
            <a:ext cx="5303520" cy="58521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g386fa9f7404_4_141"/>
          <p:cNvSpPr/>
          <p:nvPr/>
        </p:nvSpPr>
        <p:spPr>
          <a:xfrm>
            <a:off x="633984" y="1097280"/>
            <a:ext cx="5035296"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  Previous Design</a:t>
            </a:r>
            <a:endParaRPr b="0" i="0" sz="1600" u="none" cap="none" strike="noStrike">
              <a:solidFill>
                <a:schemeClr val="dk1"/>
              </a:solidFill>
              <a:latin typeface="Calibri"/>
              <a:ea typeface="Calibri"/>
              <a:cs typeface="Calibri"/>
              <a:sym typeface="Calibri"/>
            </a:endParaRPr>
          </a:p>
        </p:txBody>
      </p:sp>
      <p:sp>
        <p:nvSpPr>
          <p:cNvPr id="618" name="Google Shape;618;g386fa9f7404_4_141"/>
          <p:cNvSpPr/>
          <p:nvPr/>
        </p:nvSpPr>
        <p:spPr>
          <a:xfrm>
            <a:off x="707136" y="1804416"/>
            <a:ext cx="4852416"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500"/>
              <a:buFont typeface="Calibri"/>
              <a:buNone/>
            </a:pPr>
            <a:r>
              <a:rPr b="1" i="0" lang="en-US" sz="1500" u="none" cap="none" strike="noStrike">
                <a:solidFill>
                  <a:srgbClr val="C0392B"/>
                </a:solidFill>
                <a:latin typeface="Calibri"/>
                <a:ea typeface="Calibri"/>
                <a:cs typeface="Calibri"/>
                <a:sym typeface="Calibri"/>
              </a:rPr>
              <a:t>Try common passwords on encrypted ZIPs:</a:t>
            </a:r>
            <a:endParaRPr b="0" i="0" sz="1500" u="none" cap="none" strike="noStrike">
              <a:solidFill>
                <a:schemeClr val="dk1"/>
              </a:solidFill>
              <a:latin typeface="Calibri"/>
              <a:ea typeface="Calibri"/>
              <a:cs typeface="Calibri"/>
              <a:sym typeface="Calibri"/>
            </a:endParaRPr>
          </a:p>
        </p:txBody>
      </p:sp>
      <p:sp>
        <p:nvSpPr>
          <p:cNvPr id="619" name="Google Shape;619;g386fa9f7404_4_141"/>
          <p:cNvSpPr/>
          <p:nvPr/>
        </p:nvSpPr>
        <p:spPr>
          <a:xfrm>
            <a:off x="829056" y="2340864"/>
            <a:ext cx="1853184"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386fa9f7404_4_141"/>
          <p:cNvSpPr/>
          <p:nvPr/>
        </p:nvSpPr>
        <p:spPr>
          <a:xfrm>
            <a:off x="829056" y="2340864"/>
            <a:ext cx="1853184" cy="4145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"infected"</a:t>
            </a:r>
            <a:endParaRPr b="0" i="0" sz="1300" u="none" cap="none" strike="noStrike">
              <a:solidFill>
                <a:schemeClr val="dk1"/>
              </a:solidFill>
              <a:latin typeface="Calibri"/>
              <a:ea typeface="Calibri"/>
              <a:cs typeface="Calibri"/>
              <a:sym typeface="Calibri"/>
            </a:endParaRPr>
          </a:p>
        </p:txBody>
      </p:sp>
      <p:sp>
        <p:nvSpPr>
          <p:cNvPr id="621" name="Google Shape;621;g386fa9f7404_4_141"/>
          <p:cNvSpPr/>
          <p:nvPr/>
        </p:nvSpPr>
        <p:spPr>
          <a:xfrm>
            <a:off x="829056" y="2828544"/>
            <a:ext cx="1853184"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g386fa9f7404_4_141"/>
          <p:cNvSpPr/>
          <p:nvPr/>
        </p:nvSpPr>
        <p:spPr>
          <a:xfrm>
            <a:off x="829056" y="2828544"/>
            <a:ext cx="1853184" cy="4145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"malware"</a:t>
            </a:r>
            <a:endParaRPr b="0" i="0" sz="1300" u="none" cap="none" strike="noStrike">
              <a:solidFill>
                <a:schemeClr val="dk1"/>
              </a:solidFill>
              <a:latin typeface="Calibri"/>
              <a:ea typeface="Calibri"/>
              <a:cs typeface="Calibri"/>
              <a:sym typeface="Calibri"/>
            </a:endParaRPr>
          </a:p>
        </p:txBody>
      </p:sp>
      <p:sp>
        <p:nvSpPr>
          <p:cNvPr id="623" name="Google Shape;623;g386fa9f7404_4_141"/>
          <p:cNvSpPr/>
          <p:nvPr/>
        </p:nvSpPr>
        <p:spPr>
          <a:xfrm>
            <a:off x="829056" y="3316224"/>
            <a:ext cx="1853184"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g386fa9f7404_4_141"/>
          <p:cNvSpPr/>
          <p:nvPr/>
        </p:nvSpPr>
        <p:spPr>
          <a:xfrm>
            <a:off x="829056" y="3316224"/>
            <a:ext cx="1853184" cy="4145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"virus"</a:t>
            </a:r>
            <a:endParaRPr b="0" i="0" sz="1300" u="none" cap="none" strike="noStrike">
              <a:solidFill>
                <a:schemeClr val="dk1"/>
              </a:solidFill>
              <a:latin typeface="Calibri"/>
              <a:ea typeface="Calibri"/>
              <a:cs typeface="Calibri"/>
              <a:sym typeface="Calibri"/>
            </a:endParaRPr>
          </a:p>
        </p:txBody>
      </p:sp>
      <p:sp>
        <p:nvSpPr>
          <p:cNvPr id="625" name="Google Shape;625;g386fa9f7404_4_141"/>
          <p:cNvSpPr/>
          <p:nvPr/>
        </p:nvSpPr>
        <p:spPr>
          <a:xfrm>
            <a:off x="2950464" y="2340864"/>
            <a:ext cx="1853184"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g386fa9f7404_4_141"/>
          <p:cNvSpPr/>
          <p:nvPr/>
        </p:nvSpPr>
        <p:spPr>
          <a:xfrm>
            <a:off x="2950464" y="2340864"/>
            <a:ext cx="1853184" cy="4145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"password"</a:t>
            </a:r>
            <a:endParaRPr b="0" i="0" sz="1300" u="none" cap="none" strike="noStrike">
              <a:solidFill>
                <a:schemeClr val="dk1"/>
              </a:solidFill>
              <a:latin typeface="Calibri"/>
              <a:ea typeface="Calibri"/>
              <a:cs typeface="Calibri"/>
              <a:sym typeface="Calibri"/>
            </a:endParaRPr>
          </a:p>
        </p:txBody>
      </p:sp>
      <p:sp>
        <p:nvSpPr>
          <p:cNvPr id="627" name="Google Shape;627;g386fa9f7404_4_141"/>
          <p:cNvSpPr/>
          <p:nvPr/>
        </p:nvSpPr>
        <p:spPr>
          <a:xfrm>
            <a:off x="2950464" y="2828544"/>
            <a:ext cx="1853184"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g386fa9f7404_4_141"/>
          <p:cNvSpPr/>
          <p:nvPr/>
        </p:nvSpPr>
        <p:spPr>
          <a:xfrm>
            <a:off x="2950464" y="2828544"/>
            <a:ext cx="1853184" cy="4145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"sample"</a:t>
            </a:r>
            <a:endParaRPr b="0" i="0" sz="1300" u="none" cap="none" strike="noStrike">
              <a:solidFill>
                <a:schemeClr val="dk1"/>
              </a:solidFill>
              <a:latin typeface="Calibri"/>
              <a:ea typeface="Calibri"/>
              <a:cs typeface="Calibri"/>
              <a:sym typeface="Calibri"/>
            </a:endParaRPr>
          </a:p>
        </p:txBody>
      </p:sp>
      <p:sp>
        <p:nvSpPr>
          <p:cNvPr id="629" name="Google Shape;629;g386fa9f7404_4_141"/>
          <p:cNvSpPr/>
          <p:nvPr/>
        </p:nvSpPr>
        <p:spPr>
          <a:xfrm>
            <a:off x="2950464" y="3316224"/>
            <a:ext cx="1853184"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386fa9f7404_4_141"/>
          <p:cNvSpPr/>
          <p:nvPr/>
        </p:nvSpPr>
        <p:spPr>
          <a:xfrm>
            <a:off x="2950464" y="3316224"/>
            <a:ext cx="1853184" cy="4145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"sandbox"</a:t>
            </a:r>
            <a:endParaRPr b="0" i="0" sz="1300" u="none" cap="none" strike="noStrike">
              <a:solidFill>
                <a:schemeClr val="dk1"/>
              </a:solidFill>
              <a:latin typeface="Calibri"/>
              <a:ea typeface="Calibri"/>
              <a:cs typeface="Calibri"/>
              <a:sym typeface="Calibri"/>
            </a:endParaRPr>
          </a:p>
        </p:txBody>
      </p:sp>
      <p:sp>
        <p:nvSpPr>
          <p:cNvPr id="631" name="Google Shape;631;g386fa9f7404_4_141"/>
          <p:cNvSpPr/>
          <p:nvPr/>
        </p:nvSpPr>
        <p:spPr>
          <a:xfrm>
            <a:off x="707136" y="3816096"/>
            <a:ext cx="487680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Why removed:</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These passwords come from the security research community — used when sharing malware samples between analysts. A sophisticated attacker targeting military drones would never use "infected".</a:t>
            </a:r>
            <a:endParaRPr b="0" i="0" sz="1300" u="none" cap="none" strike="noStrike">
              <a:solidFill>
                <a:schemeClr val="dk1"/>
              </a:solidFill>
              <a:latin typeface="Calibri"/>
              <a:ea typeface="Calibri"/>
              <a:cs typeface="Calibri"/>
              <a:sym typeface="Calibri"/>
            </a:endParaRPr>
          </a:p>
        </p:txBody>
      </p:sp>
      <p:sp>
        <p:nvSpPr>
          <p:cNvPr id="632" name="Google Shape;632;g386fa9f7404_4_141"/>
          <p:cNvSpPr/>
          <p:nvPr/>
        </p:nvSpPr>
        <p:spPr>
          <a:xfrm>
            <a:off x="6400800" y="1097280"/>
            <a:ext cx="5303520" cy="4206240"/>
          </a:xfrm>
          <a:prstGeom prst="rect">
            <a:avLst/>
          </a:prstGeom>
          <a:solidFill>
            <a:srgbClr val="D5F5E3"/>
          </a:solidFill>
          <a:ln cap="flat" cmpd="sng" w="1905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g386fa9f7404_4_141"/>
          <p:cNvSpPr/>
          <p:nvPr/>
        </p:nvSpPr>
        <p:spPr>
          <a:xfrm>
            <a:off x="6400800" y="1097280"/>
            <a:ext cx="5303520" cy="585216"/>
          </a:xfrm>
          <a:prstGeom prst="rect">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g386fa9f7404_4_141"/>
          <p:cNvSpPr/>
          <p:nvPr/>
        </p:nvSpPr>
        <p:spPr>
          <a:xfrm>
            <a:off x="6547104" y="1097280"/>
            <a:ext cx="5035296"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  Current Design</a:t>
            </a:r>
            <a:endParaRPr b="0" i="0" sz="1600" u="none" cap="none" strike="noStrike">
              <a:solidFill>
                <a:schemeClr val="dk1"/>
              </a:solidFill>
              <a:latin typeface="Calibri"/>
              <a:ea typeface="Calibri"/>
              <a:cs typeface="Calibri"/>
              <a:sym typeface="Calibri"/>
            </a:endParaRPr>
          </a:p>
        </p:txBody>
      </p:sp>
      <p:sp>
        <p:nvSpPr>
          <p:cNvPr id="635" name="Google Shape;635;g386fa9f7404_4_141"/>
          <p:cNvSpPr/>
          <p:nvPr/>
        </p:nvSpPr>
        <p:spPr>
          <a:xfrm>
            <a:off x="6522720" y="1804416"/>
            <a:ext cx="487680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8449"/>
              </a:buClr>
              <a:buSzPts val="1500"/>
              <a:buFont typeface="Calibri"/>
              <a:buNone/>
            </a:pPr>
            <a:r>
              <a:rPr b="1" i="0" lang="en-US" sz="1500" u="none" cap="none" strike="noStrike">
                <a:solidFill>
                  <a:srgbClr val="1E8449"/>
                </a:solidFill>
                <a:latin typeface="Calibri"/>
                <a:ea typeface="Calibri"/>
                <a:cs typeface="Calibri"/>
                <a:sym typeface="Calibri"/>
              </a:rPr>
              <a:t>Encrypted archive with no declared key:</a:t>
            </a:r>
            <a:endParaRPr b="0" i="0" sz="1500" u="none" cap="none" strike="noStrike">
              <a:solidFill>
                <a:schemeClr val="dk1"/>
              </a:solidFill>
              <a:latin typeface="Calibri"/>
              <a:ea typeface="Calibri"/>
              <a:cs typeface="Calibri"/>
              <a:sym typeface="Calibri"/>
            </a:endParaRPr>
          </a:p>
        </p:txBody>
      </p:sp>
      <p:sp>
        <p:nvSpPr>
          <p:cNvPr id="636" name="Google Shape;636;g386fa9f7404_4_141"/>
          <p:cNvSpPr/>
          <p:nvPr/>
        </p:nvSpPr>
        <p:spPr>
          <a:xfrm>
            <a:off x="6608064" y="2340864"/>
            <a:ext cx="4937760" cy="82905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g386fa9f7404_4_141"/>
          <p:cNvSpPr/>
          <p:nvPr/>
        </p:nvSpPr>
        <p:spPr>
          <a:xfrm>
            <a:off x="6608064" y="2340864"/>
            <a:ext cx="4937760" cy="8290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700"/>
              <a:buFont typeface="Calibri"/>
              <a:buNone/>
            </a:pPr>
            <a:r>
              <a:rPr b="1" i="0" lang="en-US" sz="1700" u="none" cap="none" strike="noStrike">
                <a:solidFill>
                  <a:srgbClr val="CA6F1E"/>
                </a:solidFill>
                <a:latin typeface="Calibri"/>
                <a:ea typeface="Calibri"/>
                <a:cs typeface="Calibri"/>
                <a:sym typeface="Calibri"/>
              </a:rPr>
              <a:t>= Suspicious indicator</a:t>
            </a:r>
            <a:endParaRPr b="0" i="0" sz="17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6F1E"/>
              </a:buClr>
              <a:buSzPts val="1700"/>
              <a:buFont typeface="Calibri"/>
              <a:buNone/>
            </a:pPr>
            <a:r>
              <a:rPr b="1" i="0" lang="en-US" sz="1700" u="none" cap="none" strike="noStrike">
                <a:solidFill>
                  <a:srgbClr val="CA6F1E"/>
                </a:solidFill>
                <a:latin typeface="Calibri"/>
                <a:ea typeface="Calibri"/>
                <a:cs typeface="Calibri"/>
                <a:sym typeface="Calibri"/>
              </a:rPr>
              <a:t>+25 risk points added</a:t>
            </a:r>
            <a:endParaRPr b="0" i="0" sz="1700" u="none" cap="none" strike="noStrike">
              <a:solidFill>
                <a:schemeClr val="dk1"/>
              </a:solidFill>
              <a:latin typeface="Calibri"/>
              <a:ea typeface="Calibri"/>
              <a:cs typeface="Calibri"/>
              <a:sym typeface="Calibri"/>
            </a:endParaRPr>
          </a:p>
        </p:txBody>
      </p:sp>
      <p:sp>
        <p:nvSpPr>
          <p:cNvPr id="638" name="Google Shape;638;g386fa9f7404_4_141"/>
          <p:cNvSpPr/>
          <p:nvPr/>
        </p:nvSpPr>
        <p:spPr>
          <a:xfrm>
            <a:off x="6522720" y="3316224"/>
            <a:ext cx="4937760" cy="11216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Why this is stronger:</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Legitimate drone telemetry arrives with a declared decryption key in the feed metadata. An encrypted archive with no declared key is unusual for our context — and therefore suspicious. No wasted computation on password attempts.</a:t>
            </a:r>
            <a:endParaRPr b="0" i="0" sz="1300" u="none" cap="none" strike="noStrike">
              <a:solidFill>
                <a:schemeClr val="dk1"/>
              </a:solidFill>
              <a:latin typeface="Calibri"/>
              <a:ea typeface="Calibri"/>
              <a:cs typeface="Calibri"/>
              <a:sym typeface="Calibri"/>
            </a:endParaRPr>
          </a:p>
        </p:txBody>
      </p:sp>
      <p:sp>
        <p:nvSpPr>
          <p:cNvPr id="639" name="Google Shape;639;g386fa9f7404_4_141"/>
          <p:cNvSpPr/>
          <p:nvPr/>
        </p:nvSpPr>
        <p:spPr>
          <a:xfrm>
            <a:off x="6522720" y="4486656"/>
            <a:ext cx="4937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1" lang="en-US" sz="1200" u="none" cap="none" strike="noStrike">
                <a:solidFill>
                  <a:srgbClr val="717D7E"/>
                </a:solidFill>
                <a:latin typeface="Calibri"/>
                <a:ea typeface="Calibri"/>
                <a:cs typeface="Calibri"/>
                <a:sym typeface="Calibri"/>
              </a:rPr>
              <a:t>Notebook: ENCRYPTED_NO_KEY_SCORE = 25</a:t>
            </a:r>
            <a:endParaRPr b="0" i="0" sz="1200" u="none" cap="none" strike="noStrike">
              <a:solidFill>
                <a:schemeClr val="dk1"/>
              </a:solidFill>
              <a:latin typeface="Calibri"/>
              <a:ea typeface="Calibri"/>
              <a:cs typeface="Calibri"/>
              <a:sym typeface="Calibri"/>
            </a:endParaRPr>
          </a:p>
        </p:txBody>
      </p:sp>
      <p:sp>
        <p:nvSpPr>
          <p:cNvPr id="640" name="Google Shape;640;g386fa9f7404_4_141"/>
          <p:cNvSpPr/>
          <p:nvPr/>
        </p:nvSpPr>
        <p:spPr>
          <a:xfrm>
            <a:off x="487680" y="5486400"/>
            <a:ext cx="11216640" cy="707136"/>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g386fa9f7404_4_141"/>
          <p:cNvSpPr/>
          <p:nvPr/>
        </p:nvSpPr>
        <p:spPr>
          <a:xfrm>
            <a:off x="731520" y="5486400"/>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0" i="0" lang="en-US" sz="1500" u="none" cap="none" strike="noStrike">
                <a:solidFill>
                  <a:srgbClr val="1B3A5C"/>
                </a:solidFill>
                <a:latin typeface="Calibri"/>
                <a:ea typeface="Calibri"/>
                <a:cs typeface="Calibri"/>
                <a:sym typeface="Calibri"/>
              </a:rPr>
              <a:t>This change was deliberate — the previous design was based on security research lab conventions, not on our actual threat model.</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646" name="Shape 646"/>
        <p:cNvGrpSpPr/>
        <p:nvPr/>
      </p:nvGrpSpPr>
      <p:grpSpPr>
        <a:xfrm>
          <a:off x="0" y="0"/>
          <a:ext cx="0" cy="0"/>
          <a:chOff x="0" y="0"/>
          <a:chExt cx="0" cy="0"/>
        </a:xfrm>
      </p:grpSpPr>
      <p:sp>
        <p:nvSpPr>
          <p:cNvPr id="647" name="Google Shape;647;g386fa9f7404_4_175"/>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g386fa9f7404_4_175"/>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2 — Three Checks Before Extraction</a:t>
            </a:r>
            <a:endParaRPr b="0" i="0" sz="2700" u="none" cap="none" strike="noStrike">
              <a:solidFill>
                <a:schemeClr val="dk1"/>
              </a:solidFill>
              <a:latin typeface="Calibri"/>
              <a:ea typeface="Calibri"/>
              <a:cs typeface="Calibri"/>
              <a:sym typeface="Calibri"/>
            </a:endParaRPr>
          </a:p>
        </p:txBody>
      </p:sp>
      <p:sp>
        <p:nvSpPr>
          <p:cNvPr id="649" name="Google Shape;649;g386fa9f7404_4_175"/>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4 Code</a:t>
            </a:r>
            <a:endParaRPr b="0" i="0" sz="1100" u="none" cap="none" strike="noStrike">
              <a:solidFill>
                <a:schemeClr val="dk1"/>
              </a:solidFill>
              <a:latin typeface="Calibri"/>
              <a:ea typeface="Calibri"/>
              <a:cs typeface="Calibri"/>
              <a:sym typeface="Calibri"/>
            </a:endParaRPr>
          </a:p>
        </p:txBody>
      </p:sp>
      <p:sp>
        <p:nvSpPr>
          <p:cNvPr id="650" name="Google Shape;650;g386fa9f7404_4_175"/>
          <p:cNvSpPr/>
          <p:nvPr/>
        </p:nvSpPr>
        <p:spPr>
          <a:xfrm>
            <a:off x="548640" y="1036320"/>
            <a:ext cx="1109472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All three checks happen before any file is extracted — so a ZIP bomb never unpacks, and disguised files are flagged before they execute.</a:t>
            </a:r>
            <a:endParaRPr b="0" i="0" sz="1700" u="none" cap="none" strike="noStrike">
              <a:solidFill>
                <a:schemeClr val="dk1"/>
              </a:solidFill>
              <a:latin typeface="Calibri"/>
              <a:ea typeface="Calibri"/>
              <a:cs typeface="Calibri"/>
              <a:sym typeface="Calibri"/>
            </a:endParaRPr>
          </a:p>
        </p:txBody>
      </p:sp>
      <p:sp>
        <p:nvSpPr>
          <p:cNvPr id="651" name="Google Shape;651;g386fa9f7404_4_175"/>
          <p:cNvSpPr/>
          <p:nvPr/>
        </p:nvSpPr>
        <p:spPr>
          <a:xfrm>
            <a:off x="487680" y="1682496"/>
            <a:ext cx="11216640" cy="1146048"/>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386fa9f7404_4_175"/>
          <p:cNvSpPr/>
          <p:nvPr/>
        </p:nvSpPr>
        <p:spPr>
          <a:xfrm>
            <a:off x="487680" y="1682496"/>
            <a:ext cx="97536" cy="1146048"/>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g386fa9f7404_4_175"/>
          <p:cNvSpPr/>
          <p:nvPr/>
        </p:nvSpPr>
        <p:spPr>
          <a:xfrm>
            <a:off x="707136" y="1731264"/>
            <a:ext cx="12192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1" i="0" lang="en-US" sz="1200" u="none" cap="none" strike="noStrike">
                <a:solidFill>
                  <a:srgbClr val="717D7E"/>
                </a:solidFill>
                <a:latin typeface="Calibri"/>
                <a:ea typeface="Calibri"/>
                <a:cs typeface="Calibri"/>
                <a:sym typeface="Calibri"/>
              </a:rPr>
              <a:t>Check 1</a:t>
            </a:r>
            <a:endParaRPr b="0" i="0" sz="1200" u="none" cap="none" strike="noStrike">
              <a:solidFill>
                <a:schemeClr val="dk1"/>
              </a:solidFill>
              <a:latin typeface="Calibri"/>
              <a:ea typeface="Calibri"/>
              <a:cs typeface="Calibri"/>
              <a:sym typeface="Calibri"/>
            </a:endParaRPr>
          </a:p>
        </p:txBody>
      </p:sp>
      <p:sp>
        <p:nvSpPr>
          <p:cNvPr id="654" name="Google Shape;654;g386fa9f7404_4_175"/>
          <p:cNvSpPr/>
          <p:nvPr/>
        </p:nvSpPr>
        <p:spPr>
          <a:xfrm>
            <a:off x="707136" y="2023872"/>
            <a:ext cx="34137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Double Extension Disguise</a:t>
            </a:r>
            <a:endParaRPr b="0" i="0" sz="1600" u="none" cap="none" strike="noStrike">
              <a:solidFill>
                <a:schemeClr val="dk1"/>
              </a:solidFill>
              <a:latin typeface="Calibri"/>
              <a:ea typeface="Calibri"/>
              <a:cs typeface="Calibri"/>
              <a:sym typeface="Calibri"/>
            </a:endParaRPr>
          </a:p>
        </p:txBody>
      </p:sp>
      <p:sp>
        <p:nvSpPr>
          <p:cNvPr id="655" name="Google Shape;655;g386fa9f7404_4_175"/>
          <p:cNvSpPr/>
          <p:nvPr/>
        </p:nvSpPr>
        <p:spPr>
          <a:xfrm>
            <a:off x="4328160" y="1780032"/>
            <a:ext cx="3048000" cy="87782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g386fa9f7404_4_175"/>
          <p:cNvSpPr/>
          <p:nvPr/>
        </p:nvSpPr>
        <p:spPr>
          <a:xfrm>
            <a:off x="4413504" y="1780032"/>
            <a:ext cx="2877312" cy="8778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e.g. recon.jpg.sh</a:t>
            </a:r>
            <a:endParaRPr b="0" i="0" sz="1300" u="none" cap="none" strike="noStrike">
              <a:solidFill>
                <a:schemeClr val="dk1"/>
              </a:solidFill>
              <a:latin typeface="Calibri"/>
              <a:ea typeface="Calibri"/>
              <a:cs typeface="Calibri"/>
              <a:sym typeface="Calibri"/>
            </a:endParaRPr>
          </a:p>
        </p:txBody>
      </p:sp>
      <p:sp>
        <p:nvSpPr>
          <p:cNvPr id="657" name="Google Shape;657;g386fa9f7404_4_175"/>
          <p:cNvSpPr/>
          <p:nvPr/>
        </p:nvSpPr>
        <p:spPr>
          <a:xfrm>
            <a:off x="7559040" y="1755648"/>
            <a:ext cx="3974592" cy="975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Split filename by '.'. If second-to-last extension is a safe type (.jpg, .pdf, .csv) but the final extension is executable (.sh, .exe, .py) — it is disguised.</a:t>
            </a:r>
            <a:endParaRPr b="0" i="0" sz="1300" u="none" cap="none" strike="noStrike">
              <a:solidFill>
                <a:schemeClr val="dk1"/>
              </a:solidFill>
              <a:latin typeface="Calibri"/>
              <a:ea typeface="Calibri"/>
              <a:cs typeface="Calibri"/>
              <a:sym typeface="Calibri"/>
            </a:endParaRPr>
          </a:p>
        </p:txBody>
      </p:sp>
      <p:sp>
        <p:nvSpPr>
          <p:cNvPr id="658" name="Google Shape;658;g386fa9f7404_4_175"/>
          <p:cNvSpPr/>
          <p:nvPr/>
        </p:nvSpPr>
        <p:spPr>
          <a:xfrm>
            <a:off x="707136" y="2487168"/>
            <a:ext cx="2438400" cy="24384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g386fa9f7404_4_175"/>
          <p:cNvSpPr/>
          <p:nvPr/>
        </p:nvSpPr>
        <p:spPr>
          <a:xfrm>
            <a:off x="707136" y="2487168"/>
            <a:ext cx="2438400" cy="2438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+30 risk points</a:t>
            </a:r>
            <a:endParaRPr b="0" i="0" sz="1100" u="none" cap="none" strike="noStrike">
              <a:solidFill>
                <a:schemeClr val="dk1"/>
              </a:solidFill>
              <a:latin typeface="Calibri"/>
              <a:ea typeface="Calibri"/>
              <a:cs typeface="Calibri"/>
              <a:sym typeface="Calibri"/>
            </a:endParaRPr>
          </a:p>
        </p:txBody>
      </p:sp>
      <p:sp>
        <p:nvSpPr>
          <p:cNvPr id="660" name="Google Shape;660;g386fa9f7404_4_175"/>
          <p:cNvSpPr/>
          <p:nvPr/>
        </p:nvSpPr>
        <p:spPr>
          <a:xfrm>
            <a:off x="4413504" y="2560320"/>
            <a:ext cx="2877312" cy="2438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DOUBLE_EXTENSION_SCORE = 30</a:t>
            </a:r>
            <a:endParaRPr b="0" i="0" sz="1100" u="none" cap="none" strike="noStrike">
              <a:solidFill>
                <a:schemeClr val="dk1"/>
              </a:solidFill>
              <a:latin typeface="Calibri"/>
              <a:ea typeface="Calibri"/>
              <a:cs typeface="Calibri"/>
              <a:sym typeface="Calibri"/>
            </a:endParaRPr>
          </a:p>
        </p:txBody>
      </p:sp>
      <p:sp>
        <p:nvSpPr>
          <p:cNvPr id="661" name="Google Shape;661;g386fa9f7404_4_175"/>
          <p:cNvSpPr/>
          <p:nvPr/>
        </p:nvSpPr>
        <p:spPr>
          <a:xfrm>
            <a:off x="487680" y="2926080"/>
            <a:ext cx="11216640" cy="1146048"/>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g386fa9f7404_4_175"/>
          <p:cNvSpPr/>
          <p:nvPr/>
        </p:nvSpPr>
        <p:spPr>
          <a:xfrm>
            <a:off x="487680" y="2926080"/>
            <a:ext cx="97536" cy="114604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g386fa9f7404_4_175"/>
          <p:cNvSpPr/>
          <p:nvPr/>
        </p:nvSpPr>
        <p:spPr>
          <a:xfrm>
            <a:off x="707136" y="2974848"/>
            <a:ext cx="12192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1" i="0" lang="en-US" sz="1200" u="none" cap="none" strike="noStrike">
                <a:solidFill>
                  <a:srgbClr val="717D7E"/>
                </a:solidFill>
                <a:latin typeface="Calibri"/>
                <a:ea typeface="Calibri"/>
                <a:cs typeface="Calibri"/>
                <a:sym typeface="Calibri"/>
              </a:rPr>
              <a:t>Check 2</a:t>
            </a:r>
            <a:endParaRPr b="0" i="0" sz="1200" u="none" cap="none" strike="noStrike">
              <a:solidFill>
                <a:schemeClr val="dk1"/>
              </a:solidFill>
              <a:latin typeface="Calibri"/>
              <a:ea typeface="Calibri"/>
              <a:cs typeface="Calibri"/>
              <a:sym typeface="Calibri"/>
            </a:endParaRPr>
          </a:p>
        </p:txBody>
      </p:sp>
      <p:sp>
        <p:nvSpPr>
          <p:cNvPr id="664" name="Google Shape;664;g386fa9f7404_4_175"/>
          <p:cNvSpPr/>
          <p:nvPr/>
        </p:nvSpPr>
        <p:spPr>
          <a:xfrm>
            <a:off x="707136" y="3267456"/>
            <a:ext cx="34137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ZIP Bomb Detection</a:t>
            </a:r>
            <a:endParaRPr b="0" i="0" sz="1600" u="none" cap="none" strike="noStrike">
              <a:solidFill>
                <a:schemeClr val="dk1"/>
              </a:solidFill>
              <a:latin typeface="Calibri"/>
              <a:ea typeface="Calibri"/>
              <a:cs typeface="Calibri"/>
              <a:sym typeface="Calibri"/>
            </a:endParaRPr>
          </a:p>
        </p:txBody>
      </p:sp>
      <p:sp>
        <p:nvSpPr>
          <p:cNvPr id="665" name="Google Shape;665;g386fa9f7404_4_175"/>
          <p:cNvSpPr/>
          <p:nvPr/>
        </p:nvSpPr>
        <p:spPr>
          <a:xfrm>
            <a:off x="4328160" y="3023616"/>
            <a:ext cx="3048000" cy="87782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g386fa9f7404_4_175"/>
          <p:cNvSpPr/>
          <p:nvPr/>
        </p:nvSpPr>
        <p:spPr>
          <a:xfrm>
            <a:off x="4413504" y="3023616"/>
            <a:ext cx="2877312" cy="8778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e.g. tiny.zip → 4.5 petabytes</a:t>
            </a:r>
            <a:endParaRPr b="0" i="0" sz="1300" u="none" cap="none" strike="noStrike">
              <a:solidFill>
                <a:schemeClr val="dk1"/>
              </a:solidFill>
              <a:latin typeface="Calibri"/>
              <a:ea typeface="Calibri"/>
              <a:cs typeface="Calibri"/>
              <a:sym typeface="Calibri"/>
            </a:endParaRPr>
          </a:p>
        </p:txBody>
      </p:sp>
      <p:sp>
        <p:nvSpPr>
          <p:cNvPr id="667" name="Google Shape;667;g386fa9f7404_4_175"/>
          <p:cNvSpPr/>
          <p:nvPr/>
        </p:nvSpPr>
        <p:spPr>
          <a:xfrm>
            <a:off x="7559040" y="2999232"/>
            <a:ext cx="3974592" cy="975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Compute ratio: compressed_size ÷ uncompressed_size. If ratio &lt; 0.5% AND uncompressed &gt; 10 MB — abort extraction immediately.</a:t>
            </a:r>
            <a:endParaRPr b="0" i="0" sz="1300" u="none" cap="none" strike="noStrike">
              <a:solidFill>
                <a:schemeClr val="dk1"/>
              </a:solidFill>
              <a:latin typeface="Calibri"/>
              <a:ea typeface="Calibri"/>
              <a:cs typeface="Calibri"/>
              <a:sym typeface="Calibri"/>
            </a:endParaRPr>
          </a:p>
        </p:txBody>
      </p:sp>
      <p:sp>
        <p:nvSpPr>
          <p:cNvPr id="668" name="Google Shape;668;g386fa9f7404_4_175"/>
          <p:cNvSpPr/>
          <p:nvPr/>
        </p:nvSpPr>
        <p:spPr>
          <a:xfrm>
            <a:off x="707136" y="3730752"/>
            <a:ext cx="2438400" cy="24384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g386fa9f7404_4_175"/>
          <p:cNvSpPr/>
          <p:nvPr/>
        </p:nvSpPr>
        <p:spPr>
          <a:xfrm>
            <a:off x="707136" y="3730752"/>
            <a:ext cx="2438400" cy="2438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Extraction aborted</a:t>
            </a:r>
            <a:endParaRPr b="0" i="0" sz="1100" u="none" cap="none" strike="noStrike">
              <a:solidFill>
                <a:schemeClr val="dk1"/>
              </a:solidFill>
              <a:latin typeface="Calibri"/>
              <a:ea typeface="Calibri"/>
              <a:cs typeface="Calibri"/>
              <a:sym typeface="Calibri"/>
            </a:endParaRPr>
          </a:p>
        </p:txBody>
      </p:sp>
      <p:sp>
        <p:nvSpPr>
          <p:cNvPr id="670" name="Google Shape;670;g386fa9f7404_4_175"/>
          <p:cNvSpPr/>
          <p:nvPr/>
        </p:nvSpPr>
        <p:spPr>
          <a:xfrm>
            <a:off x="4413504" y="3803904"/>
            <a:ext cx="2877312" cy="2438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ZIP_BOMB_RATIO = 0.005</a:t>
            </a:r>
            <a:endParaRPr b="0" i="0" sz="1100" u="none" cap="none" strike="noStrike">
              <a:solidFill>
                <a:schemeClr val="dk1"/>
              </a:solidFill>
              <a:latin typeface="Calibri"/>
              <a:ea typeface="Calibri"/>
              <a:cs typeface="Calibri"/>
              <a:sym typeface="Calibri"/>
            </a:endParaRPr>
          </a:p>
        </p:txBody>
      </p:sp>
      <p:sp>
        <p:nvSpPr>
          <p:cNvPr id="671" name="Google Shape;671;g386fa9f7404_4_175"/>
          <p:cNvSpPr/>
          <p:nvPr/>
        </p:nvSpPr>
        <p:spPr>
          <a:xfrm>
            <a:off x="487680" y="4169664"/>
            <a:ext cx="11216640" cy="1146048"/>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g386fa9f7404_4_175"/>
          <p:cNvSpPr/>
          <p:nvPr/>
        </p:nvSpPr>
        <p:spPr>
          <a:xfrm>
            <a:off x="487680" y="4169664"/>
            <a:ext cx="97536" cy="114604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g386fa9f7404_4_175"/>
          <p:cNvSpPr/>
          <p:nvPr/>
        </p:nvSpPr>
        <p:spPr>
          <a:xfrm>
            <a:off x="707136" y="4218432"/>
            <a:ext cx="12192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1" i="0" lang="en-US" sz="1200" u="none" cap="none" strike="noStrike">
                <a:solidFill>
                  <a:srgbClr val="717D7E"/>
                </a:solidFill>
                <a:latin typeface="Calibri"/>
                <a:ea typeface="Calibri"/>
                <a:cs typeface="Calibri"/>
                <a:sym typeface="Calibri"/>
              </a:rPr>
              <a:t>Check 3</a:t>
            </a:r>
            <a:endParaRPr b="0" i="0" sz="1200" u="none" cap="none" strike="noStrike">
              <a:solidFill>
                <a:schemeClr val="dk1"/>
              </a:solidFill>
              <a:latin typeface="Calibri"/>
              <a:ea typeface="Calibri"/>
              <a:cs typeface="Calibri"/>
              <a:sym typeface="Calibri"/>
            </a:endParaRPr>
          </a:p>
        </p:txBody>
      </p:sp>
      <p:sp>
        <p:nvSpPr>
          <p:cNvPr id="674" name="Google Shape;674;g386fa9f7404_4_175"/>
          <p:cNvSpPr/>
          <p:nvPr/>
        </p:nvSpPr>
        <p:spPr>
          <a:xfrm>
            <a:off x="707136" y="4511040"/>
            <a:ext cx="34137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Recursive Nesting</a:t>
            </a:r>
            <a:endParaRPr b="0" i="0" sz="1600" u="none" cap="none" strike="noStrike">
              <a:solidFill>
                <a:schemeClr val="dk1"/>
              </a:solidFill>
              <a:latin typeface="Calibri"/>
              <a:ea typeface="Calibri"/>
              <a:cs typeface="Calibri"/>
              <a:sym typeface="Calibri"/>
            </a:endParaRPr>
          </a:p>
        </p:txBody>
      </p:sp>
      <p:sp>
        <p:nvSpPr>
          <p:cNvPr id="675" name="Google Shape;675;g386fa9f7404_4_175"/>
          <p:cNvSpPr/>
          <p:nvPr/>
        </p:nvSpPr>
        <p:spPr>
          <a:xfrm>
            <a:off x="4328160" y="4267200"/>
            <a:ext cx="3048000" cy="87782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g386fa9f7404_4_175"/>
          <p:cNvSpPr/>
          <p:nvPr/>
        </p:nvSpPr>
        <p:spPr>
          <a:xfrm>
            <a:off x="4413504" y="4267200"/>
            <a:ext cx="2877312" cy="8778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e.g. a.zip → b.zip → c.zip</a:t>
            </a:r>
            <a:endParaRPr b="0" i="0" sz="1300" u="none" cap="none" strike="noStrike">
              <a:solidFill>
                <a:schemeClr val="dk1"/>
              </a:solidFill>
              <a:latin typeface="Calibri"/>
              <a:ea typeface="Calibri"/>
              <a:cs typeface="Calibri"/>
              <a:sym typeface="Calibri"/>
            </a:endParaRPr>
          </a:p>
        </p:txBody>
      </p:sp>
      <p:sp>
        <p:nvSpPr>
          <p:cNvPr id="677" name="Google Shape;677;g386fa9f7404_4_175"/>
          <p:cNvSpPr/>
          <p:nvPr/>
        </p:nvSpPr>
        <p:spPr>
          <a:xfrm>
            <a:off x="7559040" y="4242816"/>
            <a:ext cx="3974592" cy="975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After extracting, scan for more ZIPs inside. Recurse up to 3 levels deep. Every file found is sandboxed independently.</a:t>
            </a:r>
            <a:endParaRPr b="0" i="0" sz="1300" u="none" cap="none" strike="noStrike">
              <a:solidFill>
                <a:schemeClr val="dk1"/>
              </a:solidFill>
              <a:latin typeface="Calibri"/>
              <a:ea typeface="Calibri"/>
              <a:cs typeface="Calibri"/>
              <a:sym typeface="Calibri"/>
            </a:endParaRPr>
          </a:p>
        </p:txBody>
      </p:sp>
      <p:sp>
        <p:nvSpPr>
          <p:cNvPr id="678" name="Google Shape;678;g386fa9f7404_4_175"/>
          <p:cNvSpPr/>
          <p:nvPr/>
        </p:nvSpPr>
        <p:spPr>
          <a:xfrm>
            <a:off x="707136" y="4974336"/>
            <a:ext cx="2438400" cy="24384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g386fa9f7404_4_175"/>
          <p:cNvSpPr/>
          <p:nvPr/>
        </p:nvSpPr>
        <p:spPr>
          <a:xfrm>
            <a:off x="707136" y="4974336"/>
            <a:ext cx="2438400" cy="2438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Max depth = 3</a:t>
            </a:r>
            <a:endParaRPr b="0" i="0" sz="1100" u="none" cap="none" strike="noStrike">
              <a:solidFill>
                <a:schemeClr val="dk1"/>
              </a:solidFill>
              <a:latin typeface="Calibri"/>
              <a:ea typeface="Calibri"/>
              <a:cs typeface="Calibri"/>
              <a:sym typeface="Calibri"/>
            </a:endParaRPr>
          </a:p>
        </p:txBody>
      </p:sp>
      <p:sp>
        <p:nvSpPr>
          <p:cNvPr id="680" name="Google Shape;680;g386fa9f7404_4_175"/>
          <p:cNvSpPr/>
          <p:nvPr/>
        </p:nvSpPr>
        <p:spPr>
          <a:xfrm>
            <a:off x="4413504" y="5047488"/>
            <a:ext cx="2877312" cy="2438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MAX_EXTRACT_DEPTH = 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sp>
        <p:nvSpPr>
          <p:cNvPr id="686" name="Google Shape;686;g386fa9f7404_4_213"/>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g386fa9f7404_4_213"/>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3 — Isolated Execution Environment</a:t>
            </a:r>
            <a:endParaRPr b="0" i="0" sz="2700" u="none" cap="none" strike="noStrike">
              <a:solidFill>
                <a:schemeClr val="dk1"/>
              </a:solidFill>
              <a:latin typeface="Calibri"/>
              <a:ea typeface="Calibri"/>
              <a:cs typeface="Calibri"/>
              <a:sym typeface="Calibri"/>
            </a:endParaRPr>
          </a:p>
        </p:txBody>
      </p:sp>
      <p:sp>
        <p:nvSpPr>
          <p:cNvPr id="688" name="Google Shape;688;g386fa9f7404_4_213"/>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5</a:t>
            </a:r>
            <a:endParaRPr b="0" i="0" sz="1100" u="none" cap="none" strike="noStrike">
              <a:solidFill>
                <a:schemeClr val="dk1"/>
              </a:solidFill>
              <a:latin typeface="Calibri"/>
              <a:ea typeface="Calibri"/>
              <a:cs typeface="Calibri"/>
              <a:sym typeface="Calibri"/>
            </a:endParaRPr>
          </a:p>
        </p:txBody>
      </p:sp>
      <p:sp>
        <p:nvSpPr>
          <p:cNvPr id="689" name="Google Shape;689;g386fa9f7404_4_213"/>
          <p:cNvSpPr/>
          <p:nvPr/>
        </p:nvSpPr>
        <p:spPr>
          <a:xfrm>
            <a:off x="548640" y="1036320"/>
            <a:ext cx="110947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Before the file runs, the OS kernel imposes hard limits. These cannot be bypassed by the file — they are enforced by the kernel itself, not our code.</a:t>
            </a:r>
            <a:endParaRPr b="0" i="0" sz="1700" u="none" cap="none" strike="noStrike">
              <a:solidFill>
                <a:schemeClr val="dk1"/>
              </a:solidFill>
              <a:latin typeface="Calibri"/>
              <a:ea typeface="Calibri"/>
              <a:cs typeface="Calibri"/>
              <a:sym typeface="Calibri"/>
            </a:endParaRPr>
          </a:p>
        </p:txBody>
      </p:sp>
      <p:sp>
        <p:nvSpPr>
          <p:cNvPr id="690" name="Google Shape;690;g386fa9f7404_4_213"/>
          <p:cNvSpPr/>
          <p:nvPr/>
        </p:nvSpPr>
        <p:spPr>
          <a:xfrm>
            <a:off x="487680" y="1731264"/>
            <a:ext cx="2292096"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386fa9f7404_4_213"/>
          <p:cNvSpPr/>
          <p:nvPr/>
        </p:nvSpPr>
        <p:spPr>
          <a:xfrm>
            <a:off x="609600" y="1731264"/>
            <a:ext cx="2048256"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Limit</a:t>
            </a:r>
            <a:endParaRPr b="0" i="0" sz="1500" u="none" cap="none" strike="noStrike">
              <a:solidFill>
                <a:schemeClr val="dk1"/>
              </a:solidFill>
              <a:latin typeface="Calibri"/>
              <a:ea typeface="Calibri"/>
              <a:cs typeface="Calibri"/>
              <a:sym typeface="Calibri"/>
            </a:endParaRPr>
          </a:p>
        </p:txBody>
      </p:sp>
      <p:sp>
        <p:nvSpPr>
          <p:cNvPr id="692" name="Google Shape;692;g386fa9f7404_4_213"/>
          <p:cNvSpPr/>
          <p:nvPr/>
        </p:nvSpPr>
        <p:spPr>
          <a:xfrm>
            <a:off x="2865120" y="1731264"/>
            <a:ext cx="2072640"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g386fa9f7404_4_213"/>
          <p:cNvSpPr/>
          <p:nvPr/>
        </p:nvSpPr>
        <p:spPr>
          <a:xfrm>
            <a:off x="2987040" y="1731264"/>
            <a:ext cx="18288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Value</a:t>
            </a:r>
            <a:endParaRPr b="0" i="0" sz="1500" u="none" cap="none" strike="noStrike">
              <a:solidFill>
                <a:schemeClr val="dk1"/>
              </a:solidFill>
              <a:latin typeface="Calibri"/>
              <a:ea typeface="Calibri"/>
              <a:cs typeface="Calibri"/>
              <a:sym typeface="Calibri"/>
            </a:endParaRPr>
          </a:p>
        </p:txBody>
      </p:sp>
      <p:sp>
        <p:nvSpPr>
          <p:cNvPr id="694" name="Google Shape;694;g386fa9f7404_4_213"/>
          <p:cNvSpPr/>
          <p:nvPr/>
        </p:nvSpPr>
        <p:spPr>
          <a:xfrm>
            <a:off x="5023104" y="1731264"/>
            <a:ext cx="5340096"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g386fa9f7404_4_213"/>
          <p:cNvSpPr/>
          <p:nvPr/>
        </p:nvSpPr>
        <p:spPr>
          <a:xfrm>
            <a:off x="5145024" y="1731264"/>
            <a:ext cx="5096256"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What it prevents</a:t>
            </a:r>
            <a:endParaRPr b="0" i="0" sz="1500" u="none" cap="none" strike="noStrike">
              <a:solidFill>
                <a:schemeClr val="dk1"/>
              </a:solidFill>
              <a:latin typeface="Calibri"/>
              <a:ea typeface="Calibri"/>
              <a:cs typeface="Calibri"/>
              <a:sym typeface="Calibri"/>
            </a:endParaRPr>
          </a:p>
        </p:txBody>
      </p:sp>
      <p:sp>
        <p:nvSpPr>
          <p:cNvPr id="696" name="Google Shape;696;g386fa9f7404_4_213"/>
          <p:cNvSpPr/>
          <p:nvPr/>
        </p:nvSpPr>
        <p:spPr>
          <a:xfrm>
            <a:off x="10460736" y="1731264"/>
            <a:ext cx="1487424"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g386fa9f7404_4_213"/>
          <p:cNvSpPr/>
          <p:nvPr/>
        </p:nvSpPr>
        <p:spPr>
          <a:xfrm>
            <a:off x="10582656" y="1731264"/>
            <a:ext cx="1243584"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Kernel call</a:t>
            </a:r>
            <a:endParaRPr b="0" i="0" sz="1500" u="none" cap="none" strike="noStrike">
              <a:solidFill>
                <a:schemeClr val="dk1"/>
              </a:solidFill>
              <a:latin typeface="Calibri"/>
              <a:ea typeface="Calibri"/>
              <a:cs typeface="Calibri"/>
              <a:sym typeface="Calibri"/>
            </a:endParaRPr>
          </a:p>
        </p:txBody>
      </p:sp>
      <p:sp>
        <p:nvSpPr>
          <p:cNvPr id="698" name="Google Shape;698;g386fa9f7404_4_213"/>
          <p:cNvSpPr/>
          <p:nvPr/>
        </p:nvSpPr>
        <p:spPr>
          <a:xfrm>
            <a:off x="487680" y="2255520"/>
            <a:ext cx="2292096"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386fa9f7404_4_213"/>
          <p:cNvSpPr/>
          <p:nvPr/>
        </p:nvSpPr>
        <p:spPr>
          <a:xfrm>
            <a:off x="2865120" y="2255520"/>
            <a:ext cx="2072640" cy="463296"/>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g386fa9f7404_4_213"/>
          <p:cNvSpPr/>
          <p:nvPr/>
        </p:nvSpPr>
        <p:spPr>
          <a:xfrm>
            <a:off x="5023104" y="2255520"/>
            <a:ext cx="5340096"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386fa9f7404_4_213"/>
          <p:cNvSpPr/>
          <p:nvPr/>
        </p:nvSpPr>
        <p:spPr>
          <a:xfrm>
            <a:off x="10460736" y="2255520"/>
            <a:ext cx="1487424"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g386fa9f7404_4_213"/>
          <p:cNvSpPr/>
          <p:nvPr/>
        </p:nvSpPr>
        <p:spPr>
          <a:xfrm>
            <a:off x="609600" y="2255520"/>
            <a:ext cx="2048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Virtual Memory (RAM)</a:t>
            </a:r>
            <a:endParaRPr b="0" i="0" sz="1300" u="none" cap="none" strike="noStrike">
              <a:solidFill>
                <a:schemeClr val="dk1"/>
              </a:solidFill>
              <a:latin typeface="Calibri"/>
              <a:ea typeface="Calibri"/>
              <a:cs typeface="Calibri"/>
              <a:sym typeface="Calibri"/>
            </a:endParaRPr>
          </a:p>
        </p:txBody>
      </p:sp>
      <p:sp>
        <p:nvSpPr>
          <p:cNvPr id="703" name="Google Shape;703;g386fa9f7404_4_213"/>
          <p:cNvSpPr/>
          <p:nvPr/>
        </p:nvSpPr>
        <p:spPr>
          <a:xfrm>
            <a:off x="2987040" y="2255520"/>
            <a:ext cx="18288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500"/>
              <a:buFont typeface="Calibri"/>
              <a:buNone/>
            </a:pPr>
            <a:r>
              <a:rPr b="1" i="0" lang="en-US" sz="1500" u="none" cap="none" strike="noStrike">
                <a:solidFill>
                  <a:srgbClr val="2471A3"/>
                </a:solidFill>
                <a:latin typeface="Calibri"/>
                <a:ea typeface="Calibri"/>
                <a:cs typeface="Calibri"/>
                <a:sym typeface="Calibri"/>
              </a:rPr>
              <a:t>128 MB</a:t>
            </a:r>
            <a:endParaRPr b="0" i="0" sz="1500" u="none" cap="none" strike="noStrike">
              <a:solidFill>
                <a:schemeClr val="dk1"/>
              </a:solidFill>
              <a:latin typeface="Calibri"/>
              <a:ea typeface="Calibri"/>
              <a:cs typeface="Calibri"/>
              <a:sym typeface="Calibri"/>
            </a:endParaRPr>
          </a:p>
        </p:txBody>
      </p:sp>
      <p:sp>
        <p:nvSpPr>
          <p:cNvPr id="704" name="Google Shape;704;g386fa9f7404_4_213"/>
          <p:cNvSpPr/>
          <p:nvPr/>
        </p:nvSpPr>
        <p:spPr>
          <a:xfrm>
            <a:off x="5145024" y="2255520"/>
            <a:ext cx="5096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Memory exhaustion / large payload decompression</a:t>
            </a:r>
            <a:endParaRPr b="0" i="0" sz="1300" u="none" cap="none" strike="noStrike">
              <a:solidFill>
                <a:schemeClr val="dk1"/>
              </a:solidFill>
              <a:latin typeface="Calibri"/>
              <a:ea typeface="Calibri"/>
              <a:cs typeface="Calibri"/>
              <a:sym typeface="Calibri"/>
            </a:endParaRPr>
          </a:p>
        </p:txBody>
      </p:sp>
      <p:sp>
        <p:nvSpPr>
          <p:cNvPr id="705" name="Google Shape;705;g386fa9f7404_4_213"/>
          <p:cNvSpPr/>
          <p:nvPr/>
        </p:nvSpPr>
        <p:spPr>
          <a:xfrm>
            <a:off x="10582656" y="2255520"/>
            <a:ext cx="1243584"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1" lang="en-US" sz="1300" u="none" cap="none" strike="noStrike">
                <a:solidFill>
                  <a:srgbClr val="717D7E"/>
                </a:solidFill>
                <a:latin typeface="Calibri"/>
                <a:ea typeface="Calibri"/>
                <a:cs typeface="Calibri"/>
                <a:sym typeface="Calibri"/>
              </a:rPr>
              <a:t>RLIMIT_AS</a:t>
            </a:r>
            <a:endParaRPr b="0" i="0" sz="1300" u="none" cap="none" strike="noStrike">
              <a:solidFill>
                <a:schemeClr val="dk1"/>
              </a:solidFill>
              <a:latin typeface="Calibri"/>
              <a:ea typeface="Calibri"/>
              <a:cs typeface="Calibri"/>
              <a:sym typeface="Calibri"/>
            </a:endParaRPr>
          </a:p>
        </p:txBody>
      </p:sp>
      <p:sp>
        <p:nvSpPr>
          <p:cNvPr id="706" name="Google Shape;706;g386fa9f7404_4_213"/>
          <p:cNvSpPr/>
          <p:nvPr/>
        </p:nvSpPr>
        <p:spPr>
          <a:xfrm>
            <a:off x="487680" y="2743200"/>
            <a:ext cx="2292096"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g386fa9f7404_4_213"/>
          <p:cNvSpPr/>
          <p:nvPr/>
        </p:nvSpPr>
        <p:spPr>
          <a:xfrm>
            <a:off x="2865120" y="2743200"/>
            <a:ext cx="2072640" cy="463296"/>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g386fa9f7404_4_213"/>
          <p:cNvSpPr/>
          <p:nvPr/>
        </p:nvSpPr>
        <p:spPr>
          <a:xfrm>
            <a:off x="5023104" y="2743200"/>
            <a:ext cx="5340096"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g386fa9f7404_4_213"/>
          <p:cNvSpPr/>
          <p:nvPr/>
        </p:nvSpPr>
        <p:spPr>
          <a:xfrm>
            <a:off x="10460736" y="2743200"/>
            <a:ext cx="1487424"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386fa9f7404_4_213"/>
          <p:cNvSpPr/>
          <p:nvPr/>
        </p:nvSpPr>
        <p:spPr>
          <a:xfrm>
            <a:off x="609600" y="2743200"/>
            <a:ext cx="2048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CPU Time</a:t>
            </a:r>
            <a:endParaRPr b="0" i="0" sz="1300" u="none" cap="none" strike="noStrike">
              <a:solidFill>
                <a:schemeClr val="dk1"/>
              </a:solidFill>
              <a:latin typeface="Calibri"/>
              <a:ea typeface="Calibri"/>
              <a:cs typeface="Calibri"/>
              <a:sym typeface="Calibri"/>
            </a:endParaRPr>
          </a:p>
        </p:txBody>
      </p:sp>
      <p:sp>
        <p:nvSpPr>
          <p:cNvPr id="711" name="Google Shape;711;g386fa9f7404_4_213"/>
          <p:cNvSpPr/>
          <p:nvPr/>
        </p:nvSpPr>
        <p:spPr>
          <a:xfrm>
            <a:off x="2987040" y="2743200"/>
            <a:ext cx="18288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500"/>
              <a:buFont typeface="Calibri"/>
              <a:buNone/>
            </a:pPr>
            <a:r>
              <a:rPr b="1" i="0" lang="en-US" sz="1500" u="none" cap="none" strike="noStrike">
                <a:solidFill>
                  <a:srgbClr val="2471A3"/>
                </a:solidFill>
                <a:latin typeface="Calibri"/>
                <a:ea typeface="Calibri"/>
                <a:cs typeface="Calibri"/>
                <a:sym typeface="Calibri"/>
              </a:rPr>
              <a:t>20 sec</a:t>
            </a:r>
            <a:endParaRPr b="0" i="0" sz="1500" u="none" cap="none" strike="noStrike">
              <a:solidFill>
                <a:schemeClr val="dk1"/>
              </a:solidFill>
              <a:latin typeface="Calibri"/>
              <a:ea typeface="Calibri"/>
              <a:cs typeface="Calibri"/>
              <a:sym typeface="Calibri"/>
            </a:endParaRPr>
          </a:p>
        </p:txBody>
      </p:sp>
      <p:sp>
        <p:nvSpPr>
          <p:cNvPr id="712" name="Google Shape;712;g386fa9f7404_4_213"/>
          <p:cNvSpPr/>
          <p:nvPr/>
        </p:nvSpPr>
        <p:spPr>
          <a:xfrm>
            <a:off x="5145024" y="2743200"/>
            <a:ext cx="5096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Infinite loops / CPU exhaustion attacks</a:t>
            </a:r>
            <a:endParaRPr b="0" i="0" sz="1300" u="none" cap="none" strike="noStrike">
              <a:solidFill>
                <a:schemeClr val="dk1"/>
              </a:solidFill>
              <a:latin typeface="Calibri"/>
              <a:ea typeface="Calibri"/>
              <a:cs typeface="Calibri"/>
              <a:sym typeface="Calibri"/>
            </a:endParaRPr>
          </a:p>
        </p:txBody>
      </p:sp>
      <p:sp>
        <p:nvSpPr>
          <p:cNvPr id="713" name="Google Shape;713;g386fa9f7404_4_213"/>
          <p:cNvSpPr/>
          <p:nvPr/>
        </p:nvSpPr>
        <p:spPr>
          <a:xfrm>
            <a:off x="10582656" y="2743200"/>
            <a:ext cx="1243584"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1" lang="en-US" sz="1300" u="none" cap="none" strike="noStrike">
                <a:solidFill>
                  <a:srgbClr val="717D7E"/>
                </a:solidFill>
                <a:latin typeface="Calibri"/>
                <a:ea typeface="Calibri"/>
                <a:cs typeface="Calibri"/>
                <a:sym typeface="Calibri"/>
              </a:rPr>
              <a:t>RLIMIT_CPU</a:t>
            </a:r>
            <a:endParaRPr b="0" i="0" sz="1300" u="none" cap="none" strike="noStrike">
              <a:solidFill>
                <a:schemeClr val="dk1"/>
              </a:solidFill>
              <a:latin typeface="Calibri"/>
              <a:ea typeface="Calibri"/>
              <a:cs typeface="Calibri"/>
              <a:sym typeface="Calibri"/>
            </a:endParaRPr>
          </a:p>
        </p:txBody>
      </p:sp>
      <p:sp>
        <p:nvSpPr>
          <p:cNvPr id="714" name="Google Shape;714;g386fa9f7404_4_213"/>
          <p:cNvSpPr/>
          <p:nvPr/>
        </p:nvSpPr>
        <p:spPr>
          <a:xfrm>
            <a:off x="487680" y="3230880"/>
            <a:ext cx="2292096"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g386fa9f7404_4_213"/>
          <p:cNvSpPr/>
          <p:nvPr/>
        </p:nvSpPr>
        <p:spPr>
          <a:xfrm>
            <a:off x="2865120" y="3230880"/>
            <a:ext cx="2072640" cy="463296"/>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g386fa9f7404_4_213"/>
          <p:cNvSpPr/>
          <p:nvPr/>
        </p:nvSpPr>
        <p:spPr>
          <a:xfrm>
            <a:off x="5023104" y="3230880"/>
            <a:ext cx="5340096"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386fa9f7404_4_213"/>
          <p:cNvSpPr/>
          <p:nvPr/>
        </p:nvSpPr>
        <p:spPr>
          <a:xfrm>
            <a:off x="10460736" y="3230880"/>
            <a:ext cx="1487424"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g386fa9f7404_4_213"/>
          <p:cNvSpPr/>
          <p:nvPr/>
        </p:nvSpPr>
        <p:spPr>
          <a:xfrm>
            <a:off x="609600" y="3230880"/>
            <a:ext cx="2048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File Size</a:t>
            </a:r>
            <a:endParaRPr b="0" i="0" sz="1300" u="none" cap="none" strike="noStrike">
              <a:solidFill>
                <a:schemeClr val="dk1"/>
              </a:solidFill>
              <a:latin typeface="Calibri"/>
              <a:ea typeface="Calibri"/>
              <a:cs typeface="Calibri"/>
              <a:sym typeface="Calibri"/>
            </a:endParaRPr>
          </a:p>
        </p:txBody>
      </p:sp>
      <p:sp>
        <p:nvSpPr>
          <p:cNvPr id="719" name="Google Shape;719;g386fa9f7404_4_213"/>
          <p:cNvSpPr/>
          <p:nvPr/>
        </p:nvSpPr>
        <p:spPr>
          <a:xfrm>
            <a:off x="2987040" y="3230880"/>
            <a:ext cx="18288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500"/>
              <a:buFont typeface="Calibri"/>
              <a:buNone/>
            </a:pPr>
            <a:r>
              <a:rPr b="1" i="0" lang="en-US" sz="1500" u="none" cap="none" strike="noStrike">
                <a:solidFill>
                  <a:srgbClr val="2471A3"/>
                </a:solidFill>
                <a:latin typeface="Calibri"/>
                <a:ea typeface="Calibri"/>
                <a:cs typeface="Calibri"/>
                <a:sym typeface="Calibri"/>
              </a:rPr>
              <a:t>32 MB</a:t>
            </a:r>
            <a:endParaRPr b="0" i="0" sz="1500" u="none" cap="none" strike="noStrike">
              <a:solidFill>
                <a:schemeClr val="dk1"/>
              </a:solidFill>
              <a:latin typeface="Calibri"/>
              <a:ea typeface="Calibri"/>
              <a:cs typeface="Calibri"/>
              <a:sym typeface="Calibri"/>
            </a:endParaRPr>
          </a:p>
        </p:txBody>
      </p:sp>
      <p:sp>
        <p:nvSpPr>
          <p:cNvPr id="720" name="Google Shape;720;g386fa9f7404_4_213"/>
          <p:cNvSpPr/>
          <p:nvPr/>
        </p:nvSpPr>
        <p:spPr>
          <a:xfrm>
            <a:off x="5145024" y="3230880"/>
            <a:ext cx="5096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Writing large files or exfiltrating data to disk</a:t>
            </a:r>
            <a:endParaRPr b="0" i="0" sz="1300" u="none" cap="none" strike="noStrike">
              <a:solidFill>
                <a:schemeClr val="dk1"/>
              </a:solidFill>
              <a:latin typeface="Calibri"/>
              <a:ea typeface="Calibri"/>
              <a:cs typeface="Calibri"/>
              <a:sym typeface="Calibri"/>
            </a:endParaRPr>
          </a:p>
        </p:txBody>
      </p:sp>
      <p:sp>
        <p:nvSpPr>
          <p:cNvPr id="721" name="Google Shape;721;g386fa9f7404_4_213"/>
          <p:cNvSpPr/>
          <p:nvPr/>
        </p:nvSpPr>
        <p:spPr>
          <a:xfrm>
            <a:off x="10582656" y="3230880"/>
            <a:ext cx="1243584"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1" lang="en-US" sz="1300" u="none" cap="none" strike="noStrike">
                <a:solidFill>
                  <a:srgbClr val="717D7E"/>
                </a:solidFill>
                <a:latin typeface="Calibri"/>
                <a:ea typeface="Calibri"/>
                <a:cs typeface="Calibri"/>
                <a:sym typeface="Calibri"/>
              </a:rPr>
              <a:t>RLIMIT_FSIZE</a:t>
            </a:r>
            <a:endParaRPr b="0" i="0" sz="1300" u="none" cap="none" strike="noStrike">
              <a:solidFill>
                <a:schemeClr val="dk1"/>
              </a:solidFill>
              <a:latin typeface="Calibri"/>
              <a:ea typeface="Calibri"/>
              <a:cs typeface="Calibri"/>
              <a:sym typeface="Calibri"/>
            </a:endParaRPr>
          </a:p>
        </p:txBody>
      </p:sp>
      <p:sp>
        <p:nvSpPr>
          <p:cNvPr id="722" name="Google Shape;722;g386fa9f7404_4_213"/>
          <p:cNvSpPr/>
          <p:nvPr/>
        </p:nvSpPr>
        <p:spPr>
          <a:xfrm>
            <a:off x="487680" y="3718560"/>
            <a:ext cx="2292096"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g386fa9f7404_4_213"/>
          <p:cNvSpPr/>
          <p:nvPr/>
        </p:nvSpPr>
        <p:spPr>
          <a:xfrm>
            <a:off x="2865120" y="3718560"/>
            <a:ext cx="2072640" cy="463296"/>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386fa9f7404_4_213"/>
          <p:cNvSpPr/>
          <p:nvPr/>
        </p:nvSpPr>
        <p:spPr>
          <a:xfrm>
            <a:off x="5023104" y="3718560"/>
            <a:ext cx="5340096"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g386fa9f7404_4_213"/>
          <p:cNvSpPr/>
          <p:nvPr/>
        </p:nvSpPr>
        <p:spPr>
          <a:xfrm>
            <a:off x="10460736" y="3718560"/>
            <a:ext cx="1487424"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386fa9f7404_4_213"/>
          <p:cNvSpPr/>
          <p:nvPr/>
        </p:nvSpPr>
        <p:spPr>
          <a:xfrm>
            <a:off x="609600" y="3718560"/>
            <a:ext cx="2048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Child Processes</a:t>
            </a:r>
            <a:endParaRPr b="0" i="0" sz="1300" u="none" cap="none" strike="noStrike">
              <a:solidFill>
                <a:schemeClr val="dk1"/>
              </a:solidFill>
              <a:latin typeface="Calibri"/>
              <a:ea typeface="Calibri"/>
              <a:cs typeface="Calibri"/>
              <a:sym typeface="Calibri"/>
            </a:endParaRPr>
          </a:p>
        </p:txBody>
      </p:sp>
      <p:sp>
        <p:nvSpPr>
          <p:cNvPr id="727" name="Google Shape;727;g386fa9f7404_4_213"/>
          <p:cNvSpPr/>
          <p:nvPr/>
        </p:nvSpPr>
        <p:spPr>
          <a:xfrm>
            <a:off x="2987040" y="3718560"/>
            <a:ext cx="18288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500"/>
              <a:buFont typeface="Calibri"/>
              <a:buNone/>
            </a:pPr>
            <a:r>
              <a:rPr b="1" i="0" lang="en-US" sz="1500" u="none" cap="none" strike="noStrike">
                <a:solidFill>
                  <a:srgbClr val="2471A3"/>
                </a:solidFill>
                <a:latin typeface="Calibri"/>
                <a:ea typeface="Calibri"/>
                <a:cs typeface="Calibri"/>
                <a:sym typeface="Calibri"/>
              </a:rPr>
              <a:t>50</a:t>
            </a:r>
            <a:endParaRPr b="0" i="0" sz="1500" u="none" cap="none" strike="noStrike">
              <a:solidFill>
                <a:schemeClr val="dk1"/>
              </a:solidFill>
              <a:latin typeface="Calibri"/>
              <a:ea typeface="Calibri"/>
              <a:cs typeface="Calibri"/>
              <a:sym typeface="Calibri"/>
            </a:endParaRPr>
          </a:p>
        </p:txBody>
      </p:sp>
      <p:sp>
        <p:nvSpPr>
          <p:cNvPr id="728" name="Google Shape;728;g386fa9f7404_4_213"/>
          <p:cNvSpPr/>
          <p:nvPr/>
        </p:nvSpPr>
        <p:spPr>
          <a:xfrm>
            <a:off x="5145024" y="3718560"/>
            <a:ext cx="5096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Fork bombs (spawning thousands of processes)</a:t>
            </a:r>
            <a:endParaRPr b="0" i="0" sz="1300" u="none" cap="none" strike="noStrike">
              <a:solidFill>
                <a:schemeClr val="dk1"/>
              </a:solidFill>
              <a:latin typeface="Calibri"/>
              <a:ea typeface="Calibri"/>
              <a:cs typeface="Calibri"/>
              <a:sym typeface="Calibri"/>
            </a:endParaRPr>
          </a:p>
        </p:txBody>
      </p:sp>
      <p:sp>
        <p:nvSpPr>
          <p:cNvPr id="729" name="Google Shape;729;g386fa9f7404_4_213"/>
          <p:cNvSpPr/>
          <p:nvPr/>
        </p:nvSpPr>
        <p:spPr>
          <a:xfrm>
            <a:off x="10582656" y="3718560"/>
            <a:ext cx="1243584"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1" lang="en-US" sz="1300" u="none" cap="none" strike="noStrike">
                <a:solidFill>
                  <a:srgbClr val="717D7E"/>
                </a:solidFill>
                <a:latin typeface="Calibri"/>
                <a:ea typeface="Calibri"/>
                <a:cs typeface="Calibri"/>
                <a:sym typeface="Calibri"/>
              </a:rPr>
              <a:t>RLIMIT_NPROC</a:t>
            </a:r>
            <a:endParaRPr b="0" i="0" sz="1300" u="none" cap="none" strike="noStrike">
              <a:solidFill>
                <a:schemeClr val="dk1"/>
              </a:solidFill>
              <a:latin typeface="Calibri"/>
              <a:ea typeface="Calibri"/>
              <a:cs typeface="Calibri"/>
              <a:sym typeface="Calibri"/>
            </a:endParaRPr>
          </a:p>
        </p:txBody>
      </p:sp>
      <p:sp>
        <p:nvSpPr>
          <p:cNvPr id="730" name="Google Shape;730;g386fa9f7404_4_213"/>
          <p:cNvSpPr/>
          <p:nvPr/>
        </p:nvSpPr>
        <p:spPr>
          <a:xfrm>
            <a:off x="487680" y="4206240"/>
            <a:ext cx="2292096"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386fa9f7404_4_213"/>
          <p:cNvSpPr/>
          <p:nvPr/>
        </p:nvSpPr>
        <p:spPr>
          <a:xfrm>
            <a:off x="2865120" y="4206240"/>
            <a:ext cx="2072640" cy="463296"/>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386fa9f7404_4_213"/>
          <p:cNvSpPr/>
          <p:nvPr/>
        </p:nvSpPr>
        <p:spPr>
          <a:xfrm>
            <a:off x="5023104" y="4206240"/>
            <a:ext cx="5340096"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g386fa9f7404_4_213"/>
          <p:cNvSpPr/>
          <p:nvPr/>
        </p:nvSpPr>
        <p:spPr>
          <a:xfrm>
            <a:off x="10460736" y="4206240"/>
            <a:ext cx="1487424" cy="463296"/>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g386fa9f7404_4_213"/>
          <p:cNvSpPr/>
          <p:nvPr/>
        </p:nvSpPr>
        <p:spPr>
          <a:xfrm>
            <a:off x="609600" y="4206240"/>
            <a:ext cx="2048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Core Dump</a:t>
            </a:r>
            <a:endParaRPr b="0" i="0" sz="1300" u="none" cap="none" strike="noStrike">
              <a:solidFill>
                <a:schemeClr val="dk1"/>
              </a:solidFill>
              <a:latin typeface="Calibri"/>
              <a:ea typeface="Calibri"/>
              <a:cs typeface="Calibri"/>
              <a:sym typeface="Calibri"/>
            </a:endParaRPr>
          </a:p>
        </p:txBody>
      </p:sp>
      <p:sp>
        <p:nvSpPr>
          <p:cNvPr id="735" name="Google Shape;735;g386fa9f7404_4_213"/>
          <p:cNvSpPr/>
          <p:nvPr/>
        </p:nvSpPr>
        <p:spPr>
          <a:xfrm>
            <a:off x="2987040" y="4206240"/>
            <a:ext cx="18288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500"/>
              <a:buFont typeface="Calibri"/>
              <a:buNone/>
            </a:pPr>
            <a:r>
              <a:rPr b="1" i="0" lang="en-US" sz="1500" u="none" cap="none" strike="noStrike">
                <a:solidFill>
                  <a:srgbClr val="2471A3"/>
                </a:solidFill>
                <a:latin typeface="Calibri"/>
                <a:ea typeface="Calibri"/>
                <a:cs typeface="Calibri"/>
                <a:sym typeface="Calibri"/>
              </a:rPr>
              <a:t>0 bytes</a:t>
            </a:r>
            <a:endParaRPr b="0" i="0" sz="1500" u="none" cap="none" strike="noStrike">
              <a:solidFill>
                <a:schemeClr val="dk1"/>
              </a:solidFill>
              <a:latin typeface="Calibri"/>
              <a:ea typeface="Calibri"/>
              <a:cs typeface="Calibri"/>
              <a:sym typeface="Calibri"/>
            </a:endParaRPr>
          </a:p>
        </p:txBody>
      </p:sp>
      <p:sp>
        <p:nvSpPr>
          <p:cNvPr id="736" name="Google Shape;736;g386fa9f7404_4_213"/>
          <p:cNvSpPr/>
          <p:nvPr/>
        </p:nvSpPr>
        <p:spPr>
          <a:xfrm>
            <a:off x="5145024" y="4206240"/>
            <a:ext cx="5096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Prevents memory contents being written to disk</a:t>
            </a:r>
            <a:endParaRPr b="0" i="0" sz="1300" u="none" cap="none" strike="noStrike">
              <a:solidFill>
                <a:schemeClr val="dk1"/>
              </a:solidFill>
              <a:latin typeface="Calibri"/>
              <a:ea typeface="Calibri"/>
              <a:cs typeface="Calibri"/>
              <a:sym typeface="Calibri"/>
            </a:endParaRPr>
          </a:p>
        </p:txBody>
      </p:sp>
      <p:sp>
        <p:nvSpPr>
          <p:cNvPr id="737" name="Google Shape;737;g386fa9f7404_4_213"/>
          <p:cNvSpPr/>
          <p:nvPr/>
        </p:nvSpPr>
        <p:spPr>
          <a:xfrm>
            <a:off x="10582656" y="4206240"/>
            <a:ext cx="1243584"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1" lang="en-US" sz="1300" u="none" cap="none" strike="noStrike">
                <a:solidFill>
                  <a:srgbClr val="717D7E"/>
                </a:solidFill>
                <a:latin typeface="Calibri"/>
                <a:ea typeface="Calibri"/>
                <a:cs typeface="Calibri"/>
                <a:sym typeface="Calibri"/>
              </a:rPr>
              <a:t>RLIMIT_CORE</a:t>
            </a:r>
            <a:endParaRPr b="0" i="0" sz="1300" u="none" cap="none" strike="noStrike">
              <a:solidFill>
                <a:schemeClr val="dk1"/>
              </a:solidFill>
              <a:latin typeface="Calibri"/>
              <a:ea typeface="Calibri"/>
              <a:cs typeface="Calibri"/>
              <a:sym typeface="Calibri"/>
            </a:endParaRPr>
          </a:p>
        </p:txBody>
      </p:sp>
      <p:sp>
        <p:nvSpPr>
          <p:cNvPr id="738" name="Google Shape;738;g386fa9f7404_4_213"/>
          <p:cNvSpPr/>
          <p:nvPr/>
        </p:nvSpPr>
        <p:spPr>
          <a:xfrm>
            <a:off x="487680" y="4693920"/>
            <a:ext cx="2292096"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g386fa9f7404_4_213"/>
          <p:cNvSpPr/>
          <p:nvPr/>
        </p:nvSpPr>
        <p:spPr>
          <a:xfrm>
            <a:off x="2865120" y="4693920"/>
            <a:ext cx="2072640" cy="463296"/>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g386fa9f7404_4_213"/>
          <p:cNvSpPr/>
          <p:nvPr/>
        </p:nvSpPr>
        <p:spPr>
          <a:xfrm>
            <a:off x="5023104" y="4693920"/>
            <a:ext cx="5340096"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g386fa9f7404_4_213"/>
          <p:cNvSpPr/>
          <p:nvPr/>
        </p:nvSpPr>
        <p:spPr>
          <a:xfrm>
            <a:off x="10460736" y="4693920"/>
            <a:ext cx="1487424" cy="463296"/>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g386fa9f7404_4_213"/>
          <p:cNvSpPr/>
          <p:nvPr/>
        </p:nvSpPr>
        <p:spPr>
          <a:xfrm>
            <a:off x="609600" y="4693920"/>
            <a:ext cx="2048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Wall Clock Timeout</a:t>
            </a:r>
            <a:endParaRPr b="0" i="0" sz="1300" u="none" cap="none" strike="noStrike">
              <a:solidFill>
                <a:schemeClr val="dk1"/>
              </a:solidFill>
              <a:latin typeface="Calibri"/>
              <a:ea typeface="Calibri"/>
              <a:cs typeface="Calibri"/>
              <a:sym typeface="Calibri"/>
            </a:endParaRPr>
          </a:p>
        </p:txBody>
      </p:sp>
      <p:sp>
        <p:nvSpPr>
          <p:cNvPr id="743" name="Google Shape;743;g386fa9f7404_4_213"/>
          <p:cNvSpPr/>
          <p:nvPr/>
        </p:nvSpPr>
        <p:spPr>
          <a:xfrm>
            <a:off x="2987040" y="4693920"/>
            <a:ext cx="18288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500"/>
              <a:buFont typeface="Calibri"/>
              <a:buNone/>
            </a:pPr>
            <a:r>
              <a:rPr b="1" i="0" lang="en-US" sz="1500" u="none" cap="none" strike="noStrike">
                <a:solidFill>
                  <a:srgbClr val="2471A3"/>
                </a:solidFill>
                <a:latin typeface="Calibri"/>
                <a:ea typeface="Calibri"/>
                <a:cs typeface="Calibri"/>
                <a:sym typeface="Calibri"/>
              </a:rPr>
              <a:t>30 sec</a:t>
            </a:r>
            <a:endParaRPr b="0" i="0" sz="1500" u="none" cap="none" strike="noStrike">
              <a:solidFill>
                <a:schemeClr val="dk1"/>
              </a:solidFill>
              <a:latin typeface="Calibri"/>
              <a:ea typeface="Calibri"/>
              <a:cs typeface="Calibri"/>
              <a:sym typeface="Calibri"/>
            </a:endParaRPr>
          </a:p>
        </p:txBody>
      </p:sp>
      <p:sp>
        <p:nvSpPr>
          <p:cNvPr id="744" name="Google Shape;744;g386fa9f7404_4_213"/>
          <p:cNvSpPr/>
          <p:nvPr/>
        </p:nvSpPr>
        <p:spPr>
          <a:xfrm>
            <a:off x="5145024" y="4693920"/>
            <a:ext cx="50962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Malware that sleeps and waits before acting</a:t>
            </a:r>
            <a:endParaRPr b="0" i="0" sz="1300" u="none" cap="none" strike="noStrike">
              <a:solidFill>
                <a:schemeClr val="dk1"/>
              </a:solidFill>
              <a:latin typeface="Calibri"/>
              <a:ea typeface="Calibri"/>
              <a:cs typeface="Calibri"/>
              <a:sym typeface="Calibri"/>
            </a:endParaRPr>
          </a:p>
        </p:txBody>
      </p:sp>
      <p:sp>
        <p:nvSpPr>
          <p:cNvPr id="745" name="Google Shape;745;g386fa9f7404_4_213"/>
          <p:cNvSpPr/>
          <p:nvPr/>
        </p:nvSpPr>
        <p:spPr>
          <a:xfrm>
            <a:off x="10582656" y="4693920"/>
            <a:ext cx="1243584"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1" lang="en-US" sz="1300" u="none" cap="none" strike="noStrike">
                <a:solidFill>
                  <a:srgbClr val="717D7E"/>
                </a:solidFill>
                <a:latin typeface="Calibri"/>
                <a:ea typeface="Calibri"/>
                <a:cs typeface="Calibri"/>
                <a:sym typeface="Calibri"/>
              </a:rPr>
              <a:t>Watchdog thread</a:t>
            </a:r>
            <a:endParaRPr b="0" i="0" sz="1300" u="none" cap="none" strike="noStrike">
              <a:solidFill>
                <a:schemeClr val="dk1"/>
              </a:solidFill>
              <a:latin typeface="Calibri"/>
              <a:ea typeface="Calibri"/>
              <a:cs typeface="Calibri"/>
              <a:sym typeface="Calibri"/>
            </a:endParaRPr>
          </a:p>
        </p:txBody>
      </p:sp>
      <p:sp>
        <p:nvSpPr>
          <p:cNvPr id="746" name="Google Shape;746;g386fa9f7404_4_213"/>
          <p:cNvSpPr/>
          <p:nvPr/>
        </p:nvSpPr>
        <p:spPr>
          <a:xfrm>
            <a:off x="487680" y="5218176"/>
            <a:ext cx="11216640" cy="707136"/>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g386fa9f7404_4_213"/>
          <p:cNvSpPr/>
          <p:nvPr/>
        </p:nvSpPr>
        <p:spPr>
          <a:xfrm>
            <a:off x="731520" y="5218176"/>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0" i="0" lang="en-US" sz="1500" u="none" cap="none" strike="noStrike">
                <a:solidFill>
                  <a:srgbClr val="1B3A5C"/>
                </a:solidFill>
                <a:latin typeface="Calibri"/>
                <a:ea typeface="Calibri"/>
                <a:cs typeface="Calibri"/>
                <a:sym typeface="Calibri"/>
              </a:rPr>
              <a:t>Kernel-level limits set via setrlimit() — a POSIX standard on all Linux systems. Applied before exec() via preexec_fn. The file cannot override OS-level constraints.</a:t>
            </a:r>
            <a:endParaRPr b="0" i="0" sz="1500" u="none" cap="none" strike="noStrike">
              <a:solidFill>
                <a:schemeClr val="dk1"/>
              </a:solidFill>
              <a:latin typeface="Calibri"/>
              <a:ea typeface="Calibri"/>
              <a:cs typeface="Calibri"/>
              <a:sym typeface="Calibri"/>
            </a:endParaRPr>
          </a:p>
        </p:txBody>
      </p:sp>
      <p:sp>
        <p:nvSpPr>
          <p:cNvPr id="748" name="Google Shape;748;g386fa9f7404_4_213"/>
          <p:cNvSpPr/>
          <p:nvPr/>
        </p:nvSpPr>
        <p:spPr>
          <a:xfrm>
            <a:off x="487680" y="5974080"/>
            <a:ext cx="11216640"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g386fa9f7404_4_213"/>
          <p:cNvSpPr/>
          <p:nvPr/>
        </p:nvSpPr>
        <p:spPr>
          <a:xfrm>
            <a:off x="585216" y="5974080"/>
            <a:ext cx="109728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 Python docs: resource.setrlimit() — docs.python.org/3/library/resource.html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754" name="Shape 754"/>
        <p:cNvGrpSpPr/>
        <p:nvPr/>
      </p:nvGrpSpPr>
      <p:grpSpPr>
        <a:xfrm>
          <a:off x="0" y="0"/>
          <a:ext cx="0" cy="0"/>
          <a:chOff x="0" y="0"/>
          <a:chExt cx="0" cy="0"/>
        </a:xfrm>
      </p:grpSpPr>
      <p:sp>
        <p:nvSpPr>
          <p:cNvPr id="755" name="Google Shape;755;g386fa9f7404_4_281"/>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g386fa9f7404_4_281"/>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3 — How the Environment Is Built</a:t>
            </a:r>
            <a:endParaRPr b="0" i="0" sz="2700" u="none" cap="none" strike="noStrike">
              <a:solidFill>
                <a:schemeClr val="dk1"/>
              </a:solidFill>
              <a:latin typeface="Calibri"/>
              <a:ea typeface="Calibri"/>
              <a:cs typeface="Calibri"/>
              <a:sym typeface="Calibri"/>
            </a:endParaRPr>
          </a:p>
        </p:txBody>
      </p:sp>
      <p:sp>
        <p:nvSpPr>
          <p:cNvPr id="757" name="Google Shape;757;g386fa9f7404_4_281"/>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5 Code</a:t>
            </a:r>
            <a:endParaRPr b="0" i="0" sz="1100" u="none" cap="none" strike="noStrike">
              <a:solidFill>
                <a:schemeClr val="dk1"/>
              </a:solidFill>
              <a:latin typeface="Calibri"/>
              <a:ea typeface="Calibri"/>
              <a:cs typeface="Calibri"/>
              <a:sym typeface="Calibri"/>
            </a:endParaRPr>
          </a:p>
        </p:txBody>
      </p:sp>
      <p:sp>
        <p:nvSpPr>
          <p:cNvPr id="758" name="Google Shape;758;g386fa9f7404_4_281"/>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Three setup steps before execution — each closes a specific evasion vector that malware commonly exploits.</a:t>
            </a:r>
            <a:endParaRPr b="0" i="0" sz="1700" u="none" cap="none" strike="noStrike">
              <a:solidFill>
                <a:schemeClr val="dk1"/>
              </a:solidFill>
              <a:latin typeface="Calibri"/>
              <a:ea typeface="Calibri"/>
              <a:cs typeface="Calibri"/>
              <a:sym typeface="Calibri"/>
            </a:endParaRPr>
          </a:p>
        </p:txBody>
      </p:sp>
      <p:sp>
        <p:nvSpPr>
          <p:cNvPr id="759" name="Google Shape;759;g386fa9f7404_4_281"/>
          <p:cNvSpPr/>
          <p:nvPr/>
        </p:nvSpPr>
        <p:spPr>
          <a:xfrm>
            <a:off x="487680" y="1645920"/>
            <a:ext cx="11216640" cy="1194816"/>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g386fa9f7404_4_281"/>
          <p:cNvSpPr/>
          <p:nvPr/>
        </p:nvSpPr>
        <p:spPr>
          <a:xfrm>
            <a:off x="487680" y="1645920"/>
            <a:ext cx="633984" cy="119481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g386fa9f7404_4_281"/>
          <p:cNvSpPr/>
          <p:nvPr/>
        </p:nvSpPr>
        <p:spPr>
          <a:xfrm>
            <a:off x="487680" y="1645920"/>
            <a:ext cx="633984" cy="11948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200"/>
              <a:buFont typeface="Calibri"/>
              <a:buNone/>
            </a:pPr>
            <a:r>
              <a:rPr b="1" i="0" lang="en-US" sz="1200" u="none" cap="none" strike="noStrike">
                <a:solidFill>
                  <a:srgbClr val="AED6F1"/>
                </a:solidFill>
                <a:latin typeface="Calibri"/>
                <a:ea typeface="Calibri"/>
                <a:cs typeface="Calibri"/>
                <a:sym typeface="Calibri"/>
              </a:rPr>
              <a:t>Step 1</a:t>
            </a:r>
            <a:endParaRPr b="0" i="0" sz="1200" u="none" cap="none" strike="noStrike">
              <a:solidFill>
                <a:schemeClr val="dk1"/>
              </a:solidFill>
              <a:latin typeface="Calibri"/>
              <a:ea typeface="Calibri"/>
              <a:cs typeface="Calibri"/>
              <a:sym typeface="Calibri"/>
            </a:endParaRPr>
          </a:p>
        </p:txBody>
      </p:sp>
      <p:sp>
        <p:nvSpPr>
          <p:cNvPr id="762" name="Google Shape;762;g386fa9f7404_4_281"/>
          <p:cNvSpPr/>
          <p:nvPr/>
        </p:nvSpPr>
        <p:spPr>
          <a:xfrm>
            <a:off x="1280160" y="1731264"/>
            <a:ext cx="6461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preexec_fn — Limits Before exec()</a:t>
            </a:r>
            <a:endParaRPr b="0" i="0" sz="1600" u="none" cap="none" strike="noStrike">
              <a:solidFill>
                <a:schemeClr val="dk1"/>
              </a:solidFill>
              <a:latin typeface="Calibri"/>
              <a:ea typeface="Calibri"/>
              <a:cs typeface="Calibri"/>
              <a:sym typeface="Calibri"/>
            </a:endParaRPr>
          </a:p>
        </p:txBody>
      </p:sp>
      <p:sp>
        <p:nvSpPr>
          <p:cNvPr id="763" name="Google Shape;763;g386fa9f7404_4_281"/>
          <p:cNvSpPr/>
          <p:nvPr/>
        </p:nvSpPr>
        <p:spPr>
          <a:xfrm>
            <a:off x="1280160" y="2157984"/>
            <a:ext cx="6339840" cy="5852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subprocess.Popen accepts a preexec_fn argument — a function called in the child process after fork() but before exec(). We call setrlimit() here. The limits are enforced before any malicious code runs.</a:t>
            </a:r>
            <a:endParaRPr b="0" i="0" sz="1400" u="none" cap="none" strike="noStrike">
              <a:solidFill>
                <a:schemeClr val="dk1"/>
              </a:solidFill>
              <a:latin typeface="Calibri"/>
              <a:ea typeface="Calibri"/>
              <a:cs typeface="Calibri"/>
              <a:sym typeface="Calibri"/>
            </a:endParaRPr>
          </a:p>
        </p:txBody>
      </p:sp>
      <p:sp>
        <p:nvSpPr>
          <p:cNvPr id="764" name="Google Shape;764;g386fa9f7404_4_281"/>
          <p:cNvSpPr/>
          <p:nvPr/>
        </p:nvSpPr>
        <p:spPr>
          <a:xfrm>
            <a:off x="7863840" y="1743456"/>
            <a:ext cx="3755136" cy="487680"/>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g386fa9f7404_4_281"/>
          <p:cNvSpPr/>
          <p:nvPr/>
        </p:nvSpPr>
        <p:spPr>
          <a:xfrm>
            <a:off x="7985760" y="1743456"/>
            <a:ext cx="353568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Why: No gap window where malware runs without constraints.</a:t>
            </a:r>
            <a:endParaRPr b="0" i="0" sz="1300" u="none" cap="none" strike="noStrike">
              <a:solidFill>
                <a:schemeClr val="dk1"/>
              </a:solidFill>
              <a:latin typeface="Calibri"/>
              <a:ea typeface="Calibri"/>
              <a:cs typeface="Calibri"/>
              <a:sym typeface="Calibri"/>
            </a:endParaRPr>
          </a:p>
        </p:txBody>
      </p:sp>
      <p:sp>
        <p:nvSpPr>
          <p:cNvPr id="766" name="Google Shape;766;g386fa9f7404_4_281"/>
          <p:cNvSpPr/>
          <p:nvPr/>
        </p:nvSpPr>
        <p:spPr>
          <a:xfrm>
            <a:off x="7863840" y="2316480"/>
            <a:ext cx="3755136"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g386fa9f7404_4_281"/>
          <p:cNvSpPr/>
          <p:nvPr/>
        </p:nvSpPr>
        <p:spPr>
          <a:xfrm>
            <a:off x="7949184" y="2316480"/>
            <a:ext cx="3608832"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preexec_fn = _apply_resource_limits</a:t>
            </a:r>
            <a:endParaRPr b="0" i="0" sz="1100" u="none" cap="none" strike="noStrike">
              <a:solidFill>
                <a:schemeClr val="dk1"/>
              </a:solidFill>
              <a:latin typeface="Calibri"/>
              <a:ea typeface="Calibri"/>
              <a:cs typeface="Calibri"/>
              <a:sym typeface="Calibri"/>
            </a:endParaRPr>
          </a:p>
        </p:txBody>
      </p:sp>
      <p:sp>
        <p:nvSpPr>
          <p:cNvPr id="768" name="Google Shape;768;g386fa9f7404_4_281"/>
          <p:cNvSpPr/>
          <p:nvPr/>
        </p:nvSpPr>
        <p:spPr>
          <a:xfrm>
            <a:off x="487680" y="2962656"/>
            <a:ext cx="11216640" cy="1194816"/>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g386fa9f7404_4_281"/>
          <p:cNvSpPr/>
          <p:nvPr/>
        </p:nvSpPr>
        <p:spPr>
          <a:xfrm>
            <a:off x="487680" y="2962656"/>
            <a:ext cx="633984" cy="119481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g386fa9f7404_4_281"/>
          <p:cNvSpPr/>
          <p:nvPr/>
        </p:nvSpPr>
        <p:spPr>
          <a:xfrm>
            <a:off x="487680" y="2962656"/>
            <a:ext cx="633984" cy="11948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200"/>
              <a:buFont typeface="Calibri"/>
              <a:buNone/>
            </a:pPr>
            <a:r>
              <a:rPr b="1" i="0" lang="en-US" sz="1200" u="none" cap="none" strike="noStrike">
                <a:solidFill>
                  <a:srgbClr val="AED6F1"/>
                </a:solidFill>
                <a:latin typeface="Calibri"/>
                <a:ea typeface="Calibri"/>
                <a:cs typeface="Calibri"/>
                <a:sym typeface="Calibri"/>
              </a:rPr>
              <a:t>Step 2</a:t>
            </a:r>
            <a:endParaRPr b="0" i="0" sz="1200" u="none" cap="none" strike="noStrike">
              <a:solidFill>
                <a:schemeClr val="dk1"/>
              </a:solidFill>
              <a:latin typeface="Calibri"/>
              <a:ea typeface="Calibri"/>
              <a:cs typeface="Calibri"/>
              <a:sym typeface="Calibri"/>
            </a:endParaRPr>
          </a:p>
        </p:txBody>
      </p:sp>
      <p:sp>
        <p:nvSpPr>
          <p:cNvPr id="771" name="Google Shape;771;g386fa9f7404_4_281"/>
          <p:cNvSpPr/>
          <p:nvPr/>
        </p:nvSpPr>
        <p:spPr>
          <a:xfrm>
            <a:off x="1280160" y="3048000"/>
            <a:ext cx="6461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Empty Environment Variables  ( env={} )</a:t>
            </a:r>
            <a:endParaRPr b="0" i="0" sz="1600" u="none" cap="none" strike="noStrike">
              <a:solidFill>
                <a:schemeClr val="dk1"/>
              </a:solidFill>
              <a:latin typeface="Calibri"/>
              <a:ea typeface="Calibri"/>
              <a:cs typeface="Calibri"/>
              <a:sym typeface="Calibri"/>
            </a:endParaRPr>
          </a:p>
        </p:txBody>
      </p:sp>
      <p:sp>
        <p:nvSpPr>
          <p:cNvPr id="772" name="Google Shape;772;g386fa9f7404_4_281"/>
          <p:cNvSpPr/>
          <p:nvPr/>
        </p:nvSpPr>
        <p:spPr>
          <a:xfrm>
            <a:off x="1280160" y="3474720"/>
            <a:ext cx="6339840" cy="5852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We pass a completely empty environment dictionary. The child process has no PATH, no HOME, no USER — nothing.</a:t>
            </a:r>
            <a:endParaRPr b="0" i="0" sz="1400" u="none" cap="none" strike="noStrike">
              <a:solidFill>
                <a:schemeClr val="dk1"/>
              </a:solidFill>
              <a:latin typeface="Calibri"/>
              <a:ea typeface="Calibri"/>
              <a:cs typeface="Calibri"/>
              <a:sym typeface="Calibri"/>
            </a:endParaRPr>
          </a:p>
        </p:txBody>
      </p:sp>
      <p:sp>
        <p:nvSpPr>
          <p:cNvPr id="773" name="Google Shape;773;g386fa9f7404_4_281"/>
          <p:cNvSpPr/>
          <p:nvPr/>
        </p:nvSpPr>
        <p:spPr>
          <a:xfrm>
            <a:off x="7863840" y="3060192"/>
            <a:ext cx="3755136" cy="487680"/>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g386fa9f7404_4_281"/>
          <p:cNvSpPr/>
          <p:nvPr/>
        </p:nvSpPr>
        <p:spPr>
          <a:xfrm>
            <a:off x="7985760" y="3060192"/>
            <a:ext cx="353568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Why: Malware checks for env vars like 'SANDBOX', 'ANALYSIS_MODE', specific usernames to detect analysis tools. Empty env defeats this evasion.</a:t>
            </a:r>
            <a:endParaRPr b="0" i="0" sz="1300" u="none" cap="none" strike="noStrike">
              <a:solidFill>
                <a:schemeClr val="dk1"/>
              </a:solidFill>
              <a:latin typeface="Calibri"/>
              <a:ea typeface="Calibri"/>
              <a:cs typeface="Calibri"/>
              <a:sym typeface="Calibri"/>
            </a:endParaRPr>
          </a:p>
        </p:txBody>
      </p:sp>
      <p:sp>
        <p:nvSpPr>
          <p:cNvPr id="775" name="Google Shape;775;g386fa9f7404_4_281"/>
          <p:cNvSpPr/>
          <p:nvPr/>
        </p:nvSpPr>
        <p:spPr>
          <a:xfrm>
            <a:off x="7863840" y="3633216"/>
            <a:ext cx="3755136"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386fa9f7404_4_281"/>
          <p:cNvSpPr/>
          <p:nvPr/>
        </p:nvSpPr>
        <p:spPr>
          <a:xfrm>
            <a:off x="7949184" y="3633216"/>
            <a:ext cx="3608832"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env = {}  # no env variable leakage</a:t>
            </a:r>
            <a:endParaRPr b="0" i="0" sz="1100" u="none" cap="none" strike="noStrike">
              <a:solidFill>
                <a:schemeClr val="dk1"/>
              </a:solidFill>
              <a:latin typeface="Calibri"/>
              <a:ea typeface="Calibri"/>
              <a:cs typeface="Calibri"/>
              <a:sym typeface="Calibri"/>
            </a:endParaRPr>
          </a:p>
        </p:txBody>
      </p:sp>
      <p:sp>
        <p:nvSpPr>
          <p:cNvPr id="777" name="Google Shape;777;g386fa9f7404_4_281"/>
          <p:cNvSpPr/>
          <p:nvPr/>
        </p:nvSpPr>
        <p:spPr>
          <a:xfrm>
            <a:off x="487680" y="4279392"/>
            <a:ext cx="11216640" cy="1194816"/>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g386fa9f7404_4_281"/>
          <p:cNvSpPr/>
          <p:nvPr/>
        </p:nvSpPr>
        <p:spPr>
          <a:xfrm>
            <a:off x="487680" y="4279392"/>
            <a:ext cx="633984" cy="119481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386fa9f7404_4_281"/>
          <p:cNvSpPr/>
          <p:nvPr/>
        </p:nvSpPr>
        <p:spPr>
          <a:xfrm>
            <a:off x="487680" y="4279392"/>
            <a:ext cx="633984" cy="11948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200"/>
              <a:buFont typeface="Calibri"/>
              <a:buNone/>
            </a:pPr>
            <a:r>
              <a:rPr b="1" i="0" lang="en-US" sz="1200" u="none" cap="none" strike="noStrike">
                <a:solidFill>
                  <a:srgbClr val="AED6F1"/>
                </a:solidFill>
                <a:latin typeface="Calibri"/>
                <a:ea typeface="Calibri"/>
                <a:cs typeface="Calibri"/>
                <a:sym typeface="Calibri"/>
              </a:rPr>
              <a:t>Step 3</a:t>
            </a:r>
            <a:endParaRPr b="0" i="0" sz="1200" u="none" cap="none" strike="noStrike">
              <a:solidFill>
                <a:schemeClr val="dk1"/>
              </a:solidFill>
              <a:latin typeface="Calibri"/>
              <a:ea typeface="Calibri"/>
              <a:cs typeface="Calibri"/>
              <a:sym typeface="Calibri"/>
            </a:endParaRPr>
          </a:p>
        </p:txBody>
      </p:sp>
      <p:sp>
        <p:nvSpPr>
          <p:cNvPr id="780" name="Google Shape;780;g386fa9f7404_4_281"/>
          <p:cNvSpPr/>
          <p:nvPr/>
        </p:nvSpPr>
        <p:spPr>
          <a:xfrm>
            <a:off x="1280160" y="4364736"/>
            <a:ext cx="6461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Isolated Working Directory</a:t>
            </a:r>
            <a:endParaRPr b="0" i="0" sz="1600" u="none" cap="none" strike="noStrike">
              <a:solidFill>
                <a:schemeClr val="dk1"/>
              </a:solidFill>
              <a:latin typeface="Calibri"/>
              <a:ea typeface="Calibri"/>
              <a:cs typeface="Calibri"/>
              <a:sym typeface="Calibri"/>
            </a:endParaRPr>
          </a:p>
        </p:txBody>
      </p:sp>
      <p:sp>
        <p:nvSpPr>
          <p:cNvPr id="781" name="Google Shape;781;g386fa9f7404_4_281"/>
          <p:cNvSpPr/>
          <p:nvPr/>
        </p:nvSpPr>
        <p:spPr>
          <a:xfrm>
            <a:off x="1280160" y="4791456"/>
            <a:ext cx="6339840" cy="5852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The file runs from a freshly created temp directory. Any files it creates, modifies, or deletes are contained inside this directory.</a:t>
            </a:r>
            <a:endParaRPr b="0" i="0" sz="1400" u="none" cap="none" strike="noStrike">
              <a:solidFill>
                <a:schemeClr val="dk1"/>
              </a:solidFill>
              <a:latin typeface="Calibri"/>
              <a:ea typeface="Calibri"/>
              <a:cs typeface="Calibri"/>
              <a:sym typeface="Calibri"/>
            </a:endParaRPr>
          </a:p>
        </p:txBody>
      </p:sp>
      <p:sp>
        <p:nvSpPr>
          <p:cNvPr id="782" name="Google Shape;782;g386fa9f7404_4_281"/>
          <p:cNvSpPr/>
          <p:nvPr/>
        </p:nvSpPr>
        <p:spPr>
          <a:xfrm>
            <a:off x="7863840" y="4376928"/>
            <a:ext cx="3755136" cy="487680"/>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g386fa9f7404_4_281"/>
          <p:cNvSpPr/>
          <p:nvPr/>
        </p:nvSpPr>
        <p:spPr>
          <a:xfrm>
            <a:off x="7985760" y="4376928"/>
            <a:ext cx="353568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Why: Contains all file system side effects. Cleaned up after execution. No contamination of the real system.</a:t>
            </a:r>
            <a:endParaRPr b="0" i="0" sz="1300" u="none" cap="none" strike="noStrike">
              <a:solidFill>
                <a:schemeClr val="dk1"/>
              </a:solidFill>
              <a:latin typeface="Calibri"/>
              <a:ea typeface="Calibri"/>
              <a:cs typeface="Calibri"/>
              <a:sym typeface="Calibri"/>
            </a:endParaRPr>
          </a:p>
        </p:txBody>
      </p:sp>
      <p:sp>
        <p:nvSpPr>
          <p:cNvPr id="784" name="Google Shape;784;g386fa9f7404_4_281"/>
          <p:cNvSpPr/>
          <p:nvPr/>
        </p:nvSpPr>
        <p:spPr>
          <a:xfrm>
            <a:off x="7863840" y="4949952"/>
            <a:ext cx="3755136" cy="43891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386fa9f7404_4_281"/>
          <p:cNvSpPr/>
          <p:nvPr/>
        </p:nvSpPr>
        <p:spPr>
          <a:xfrm>
            <a:off x="7949184" y="4949952"/>
            <a:ext cx="3608832"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cwd = tempfile.mkdtemp(prefix='sandbox_exec_')</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0" name="Shape 790"/>
        <p:cNvGrpSpPr/>
        <p:nvPr/>
      </p:nvGrpSpPr>
      <p:grpSpPr>
        <a:xfrm>
          <a:off x="0" y="0"/>
          <a:ext cx="0" cy="0"/>
          <a:chOff x="0" y="0"/>
          <a:chExt cx="0" cy="0"/>
        </a:xfrm>
      </p:grpSpPr>
      <p:sp>
        <p:nvSpPr>
          <p:cNvPr id="791" name="Google Shape;791;g386fa9f7404_4_316"/>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g386fa9f7404_4_316"/>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4 — Why We Use the /proc Filesystem</a:t>
            </a:r>
            <a:endParaRPr b="0" i="0" sz="2700" u="none" cap="none" strike="noStrike">
              <a:solidFill>
                <a:schemeClr val="dk1"/>
              </a:solidFill>
              <a:latin typeface="Calibri"/>
              <a:ea typeface="Calibri"/>
              <a:cs typeface="Calibri"/>
              <a:sym typeface="Calibri"/>
            </a:endParaRPr>
          </a:p>
        </p:txBody>
      </p:sp>
      <p:sp>
        <p:nvSpPr>
          <p:cNvPr id="793" name="Google Shape;793;g386fa9f7404_4_316"/>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6 Theory</a:t>
            </a:r>
            <a:endParaRPr b="0" i="0" sz="1100" u="none" cap="none" strike="noStrike">
              <a:solidFill>
                <a:schemeClr val="dk1"/>
              </a:solidFill>
              <a:latin typeface="Calibri"/>
              <a:ea typeface="Calibri"/>
              <a:cs typeface="Calibri"/>
              <a:sym typeface="Calibri"/>
            </a:endParaRPr>
          </a:p>
        </p:txBody>
      </p:sp>
      <p:sp>
        <p:nvSpPr>
          <p:cNvPr id="794" name="Google Shape;794;g386fa9f7404_4_316"/>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All four monitors read from a single source: the Linux /proc filesystem. Understanding it is essential before the monitor slides.</a:t>
            </a:r>
            <a:endParaRPr b="0" i="0" sz="1700" u="none" cap="none" strike="noStrike">
              <a:solidFill>
                <a:schemeClr val="dk1"/>
              </a:solidFill>
              <a:latin typeface="Calibri"/>
              <a:ea typeface="Calibri"/>
              <a:cs typeface="Calibri"/>
              <a:sym typeface="Calibri"/>
            </a:endParaRPr>
          </a:p>
        </p:txBody>
      </p:sp>
      <p:sp>
        <p:nvSpPr>
          <p:cNvPr id="795" name="Google Shape;795;g386fa9f7404_4_316"/>
          <p:cNvSpPr/>
          <p:nvPr/>
        </p:nvSpPr>
        <p:spPr>
          <a:xfrm>
            <a:off x="487680" y="1645920"/>
            <a:ext cx="7132320" cy="2048256"/>
          </a:xfrm>
          <a:prstGeom prst="rect">
            <a:avLst/>
          </a:prstGeom>
          <a:solidFill>
            <a:srgbClr val="1B3A5C"/>
          </a:solidFill>
          <a:ln cap="flat" cmpd="sng" w="12700">
            <a:solidFill>
              <a:srgbClr val="1B3A5C"/>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g386fa9f7404_4_316"/>
          <p:cNvSpPr/>
          <p:nvPr/>
        </p:nvSpPr>
        <p:spPr>
          <a:xfrm>
            <a:off x="670560" y="1731264"/>
            <a:ext cx="68275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700"/>
              <a:buFont typeface="Calibri"/>
              <a:buNone/>
            </a:pPr>
            <a:r>
              <a:rPr b="1" i="0" lang="en-US" sz="1700" u="none" cap="none" strike="noStrike">
                <a:solidFill>
                  <a:srgbClr val="AED6F1"/>
                </a:solidFill>
                <a:latin typeface="Calibri"/>
                <a:ea typeface="Calibri"/>
                <a:cs typeface="Calibri"/>
                <a:sym typeface="Calibri"/>
              </a:rPr>
              <a:t>What is /proc?</a:t>
            </a:r>
            <a:endParaRPr b="0" i="0" sz="1700" u="none" cap="none" strike="noStrike">
              <a:solidFill>
                <a:schemeClr val="dk1"/>
              </a:solidFill>
              <a:latin typeface="Calibri"/>
              <a:ea typeface="Calibri"/>
              <a:cs typeface="Calibri"/>
              <a:sym typeface="Calibri"/>
            </a:endParaRPr>
          </a:p>
        </p:txBody>
      </p:sp>
      <p:sp>
        <p:nvSpPr>
          <p:cNvPr id="797" name="Google Shape;797;g386fa9f7404_4_316"/>
          <p:cNvSpPr/>
          <p:nvPr/>
        </p:nvSpPr>
        <p:spPr>
          <a:xfrm>
            <a:off x="670560" y="2194560"/>
            <a:ext cx="6851904" cy="1402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/proc is a virtual filesystem maintained by the Linux kernel. It is not a real folder on disk — it lives in memory and exposes the kernel's internal state as readable files.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Every running process gets its own folder: /proc/&lt;PID&gt;/</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Contains: open files, network connections, memory usage, capabilities.</a:t>
            </a:r>
            <a:endParaRPr b="0" i="0" sz="1400" u="none" cap="none" strike="noStrike">
              <a:solidFill>
                <a:schemeClr val="dk1"/>
              </a:solidFill>
              <a:latin typeface="Calibri"/>
              <a:ea typeface="Calibri"/>
              <a:cs typeface="Calibri"/>
              <a:sym typeface="Calibri"/>
            </a:endParaRPr>
          </a:p>
        </p:txBody>
      </p:sp>
      <p:sp>
        <p:nvSpPr>
          <p:cNvPr id="798" name="Google Shape;798;g386fa9f7404_4_316"/>
          <p:cNvSpPr/>
          <p:nvPr/>
        </p:nvSpPr>
        <p:spPr>
          <a:xfrm>
            <a:off x="7863840" y="1645920"/>
            <a:ext cx="3840480" cy="2048256"/>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g386fa9f7404_4_316"/>
          <p:cNvSpPr/>
          <p:nvPr/>
        </p:nvSpPr>
        <p:spPr>
          <a:xfrm>
            <a:off x="8022336" y="1731264"/>
            <a:ext cx="353568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Why /proc, not strace or eBPF?</a:t>
            </a:r>
            <a:endParaRPr b="0" i="0" sz="1500" u="none" cap="none" strike="noStrike">
              <a:solidFill>
                <a:schemeClr val="dk1"/>
              </a:solidFill>
              <a:latin typeface="Calibri"/>
              <a:ea typeface="Calibri"/>
              <a:cs typeface="Calibri"/>
              <a:sym typeface="Calibri"/>
            </a:endParaRPr>
          </a:p>
        </p:txBody>
      </p:sp>
      <p:sp>
        <p:nvSpPr>
          <p:cNvPr id="800" name="Google Shape;800;g386fa9f7404_4_316"/>
          <p:cNvSpPr/>
          <p:nvPr/>
        </p:nvSpPr>
        <p:spPr>
          <a:xfrm>
            <a:off x="8046720" y="2316480"/>
            <a:ext cx="97536" cy="97536"/>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g386fa9f7404_4_316"/>
          <p:cNvSpPr/>
          <p:nvPr/>
        </p:nvSpPr>
        <p:spPr>
          <a:xfrm>
            <a:off x="8229600" y="2267712"/>
            <a:ext cx="331622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Always available — no install</a:t>
            </a:r>
            <a:endParaRPr b="0" i="0" sz="1300" u="none" cap="none" strike="noStrike">
              <a:solidFill>
                <a:schemeClr val="dk1"/>
              </a:solidFill>
              <a:latin typeface="Calibri"/>
              <a:ea typeface="Calibri"/>
              <a:cs typeface="Calibri"/>
              <a:sym typeface="Calibri"/>
            </a:endParaRPr>
          </a:p>
        </p:txBody>
      </p:sp>
      <p:sp>
        <p:nvSpPr>
          <p:cNvPr id="802" name="Google Shape;802;g386fa9f7404_4_316"/>
          <p:cNvSpPr/>
          <p:nvPr/>
        </p:nvSpPr>
        <p:spPr>
          <a:xfrm>
            <a:off x="8046720" y="2657856"/>
            <a:ext cx="97536" cy="97536"/>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g386fa9f7404_4_316"/>
          <p:cNvSpPr/>
          <p:nvPr/>
        </p:nvSpPr>
        <p:spPr>
          <a:xfrm>
            <a:off x="8229600" y="2609088"/>
            <a:ext cx="331622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Cannot be spoofed by monitored process</a:t>
            </a:r>
            <a:endParaRPr b="0" i="0" sz="1300" u="none" cap="none" strike="noStrike">
              <a:solidFill>
                <a:schemeClr val="dk1"/>
              </a:solidFill>
              <a:latin typeface="Calibri"/>
              <a:ea typeface="Calibri"/>
              <a:cs typeface="Calibri"/>
              <a:sym typeface="Calibri"/>
            </a:endParaRPr>
          </a:p>
        </p:txBody>
      </p:sp>
      <p:sp>
        <p:nvSpPr>
          <p:cNvPr id="804" name="Google Shape;804;g386fa9f7404_4_316"/>
          <p:cNvSpPr/>
          <p:nvPr/>
        </p:nvSpPr>
        <p:spPr>
          <a:xfrm>
            <a:off x="8046720" y="2999232"/>
            <a:ext cx="97536" cy="97536"/>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g386fa9f7404_4_316"/>
          <p:cNvSpPr/>
          <p:nvPr/>
        </p:nvSpPr>
        <p:spPr>
          <a:xfrm>
            <a:off x="8229600" y="2950464"/>
            <a:ext cx="331622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Microsecond read time</a:t>
            </a:r>
            <a:endParaRPr b="0" i="0" sz="1300" u="none" cap="none" strike="noStrike">
              <a:solidFill>
                <a:schemeClr val="dk1"/>
              </a:solidFill>
              <a:latin typeface="Calibri"/>
              <a:ea typeface="Calibri"/>
              <a:cs typeface="Calibri"/>
              <a:sym typeface="Calibri"/>
            </a:endParaRPr>
          </a:p>
        </p:txBody>
      </p:sp>
      <p:sp>
        <p:nvSpPr>
          <p:cNvPr id="806" name="Google Shape;806;g386fa9f7404_4_316"/>
          <p:cNvSpPr/>
          <p:nvPr/>
        </p:nvSpPr>
        <p:spPr>
          <a:xfrm>
            <a:off x="8046720" y="3340608"/>
            <a:ext cx="97536" cy="97536"/>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g386fa9f7404_4_316"/>
          <p:cNvSpPr/>
          <p:nvPr/>
        </p:nvSpPr>
        <p:spPr>
          <a:xfrm>
            <a:off x="8229600" y="3291840"/>
            <a:ext cx="331622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No code injection needed</a:t>
            </a:r>
            <a:endParaRPr b="0" i="0" sz="1300" u="none" cap="none" strike="noStrike">
              <a:solidFill>
                <a:schemeClr val="dk1"/>
              </a:solidFill>
              <a:latin typeface="Calibri"/>
              <a:ea typeface="Calibri"/>
              <a:cs typeface="Calibri"/>
              <a:sym typeface="Calibri"/>
            </a:endParaRPr>
          </a:p>
        </p:txBody>
      </p:sp>
      <p:sp>
        <p:nvSpPr>
          <p:cNvPr id="808" name="Google Shape;808;g386fa9f7404_4_316"/>
          <p:cNvSpPr/>
          <p:nvPr/>
        </p:nvSpPr>
        <p:spPr>
          <a:xfrm>
            <a:off x="487680" y="3925824"/>
            <a:ext cx="11216640" cy="1828800"/>
          </a:xfrm>
          <a:prstGeom prst="rect">
            <a:avLst/>
          </a:prstGeom>
          <a:solidFill>
            <a:srgbClr val="EAF4FB"/>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g386fa9f7404_4_316"/>
          <p:cNvSpPr/>
          <p:nvPr/>
        </p:nvSpPr>
        <p:spPr>
          <a:xfrm>
            <a:off x="707136" y="3998976"/>
            <a:ext cx="10972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Key /proc paths used by our monitors  (polling interval: 200ms):</a:t>
            </a:r>
            <a:endParaRPr b="0" i="0" sz="1500" u="none" cap="none" strike="noStrike">
              <a:solidFill>
                <a:schemeClr val="dk1"/>
              </a:solidFill>
              <a:latin typeface="Calibri"/>
              <a:ea typeface="Calibri"/>
              <a:cs typeface="Calibri"/>
              <a:sym typeface="Calibri"/>
            </a:endParaRPr>
          </a:p>
        </p:txBody>
      </p:sp>
      <p:sp>
        <p:nvSpPr>
          <p:cNvPr id="810" name="Google Shape;810;g386fa9f7404_4_316"/>
          <p:cNvSpPr/>
          <p:nvPr/>
        </p:nvSpPr>
        <p:spPr>
          <a:xfrm>
            <a:off x="707136" y="4437888"/>
            <a:ext cx="30480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/proc/&lt;PID&gt;/fd/</a:t>
            </a:r>
            <a:endParaRPr b="0" i="0" sz="1300" u="none" cap="none" strike="noStrike">
              <a:solidFill>
                <a:schemeClr val="dk1"/>
              </a:solidFill>
              <a:latin typeface="Calibri"/>
              <a:ea typeface="Calibri"/>
              <a:cs typeface="Calibri"/>
              <a:sym typeface="Calibri"/>
            </a:endParaRPr>
          </a:p>
        </p:txBody>
      </p:sp>
      <p:sp>
        <p:nvSpPr>
          <p:cNvPr id="811" name="Google Shape;811;g386fa9f7404_4_316"/>
          <p:cNvSpPr/>
          <p:nvPr/>
        </p:nvSpPr>
        <p:spPr>
          <a:xfrm>
            <a:off x="3877056" y="4437888"/>
            <a:ext cx="12801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1" lang="en-US" sz="1200" u="none" cap="none" strike="noStrike">
                <a:solidFill>
                  <a:srgbClr val="717D7E"/>
                </a:solidFill>
                <a:latin typeface="Calibri"/>
                <a:ea typeface="Calibri"/>
                <a:cs typeface="Calibri"/>
                <a:sym typeface="Calibri"/>
              </a:rPr>
              <a:t>Monitor 1</a:t>
            </a:r>
            <a:endParaRPr b="0" i="0" sz="1200" u="none" cap="none" strike="noStrike">
              <a:solidFill>
                <a:schemeClr val="dk1"/>
              </a:solidFill>
              <a:latin typeface="Calibri"/>
              <a:ea typeface="Calibri"/>
              <a:cs typeface="Calibri"/>
              <a:sym typeface="Calibri"/>
            </a:endParaRPr>
          </a:p>
        </p:txBody>
      </p:sp>
      <p:sp>
        <p:nvSpPr>
          <p:cNvPr id="812" name="Google Shape;812;g386fa9f7404_4_316"/>
          <p:cNvSpPr/>
          <p:nvPr/>
        </p:nvSpPr>
        <p:spPr>
          <a:xfrm>
            <a:off x="5242560" y="4437888"/>
            <a:ext cx="62788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  Symlinks to open files → file path + write detection</a:t>
            </a:r>
            <a:endParaRPr b="0" i="0" sz="1300" u="none" cap="none" strike="noStrike">
              <a:solidFill>
                <a:schemeClr val="dk1"/>
              </a:solidFill>
              <a:latin typeface="Calibri"/>
              <a:ea typeface="Calibri"/>
              <a:cs typeface="Calibri"/>
              <a:sym typeface="Calibri"/>
            </a:endParaRPr>
          </a:p>
        </p:txBody>
      </p:sp>
      <p:sp>
        <p:nvSpPr>
          <p:cNvPr id="813" name="Google Shape;813;g386fa9f7404_4_316"/>
          <p:cNvSpPr/>
          <p:nvPr/>
        </p:nvSpPr>
        <p:spPr>
          <a:xfrm>
            <a:off x="707136" y="4754880"/>
            <a:ext cx="30480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/proc/&lt;PID&gt;/fdinfo/</a:t>
            </a:r>
            <a:endParaRPr b="0" i="0" sz="1300" u="none" cap="none" strike="noStrike">
              <a:solidFill>
                <a:schemeClr val="dk1"/>
              </a:solidFill>
              <a:latin typeface="Calibri"/>
              <a:ea typeface="Calibri"/>
              <a:cs typeface="Calibri"/>
              <a:sym typeface="Calibri"/>
            </a:endParaRPr>
          </a:p>
        </p:txBody>
      </p:sp>
      <p:sp>
        <p:nvSpPr>
          <p:cNvPr id="814" name="Google Shape;814;g386fa9f7404_4_316"/>
          <p:cNvSpPr/>
          <p:nvPr/>
        </p:nvSpPr>
        <p:spPr>
          <a:xfrm>
            <a:off x="3877056" y="4754880"/>
            <a:ext cx="12801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1" lang="en-US" sz="1200" u="none" cap="none" strike="noStrike">
                <a:solidFill>
                  <a:srgbClr val="717D7E"/>
                </a:solidFill>
                <a:latin typeface="Calibri"/>
                <a:ea typeface="Calibri"/>
                <a:cs typeface="Calibri"/>
                <a:sym typeface="Calibri"/>
              </a:rPr>
              <a:t>Monitor 1</a:t>
            </a:r>
            <a:endParaRPr b="0" i="0" sz="1200" u="none" cap="none" strike="noStrike">
              <a:solidFill>
                <a:schemeClr val="dk1"/>
              </a:solidFill>
              <a:latin typeface="Calibri"/>
              <a:ea typeface="Calibri"/>
              <a:cs typeface="Calibri"/>
              <a:sym typeface="Calibri"/>
            </a:endParaRPr>
          </a:p>
        </p:txBody>
      </p:sp>
      <p:sp>
        <p:nvSpPr>
          <p:cNvPr id="815" name="Google Shape;815;g386fa9f7404_4_316"/>
          <p:cNvSpPr/>
          <p:nvPr/>
        </p:nvSpPr>
        <p:spPr>
          <a:xfrm>
            <a:off x="5242560" y="4754880"/>
            <a:ext cx="62788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  Open flags (octal) → confirms if file is opened for writing</a:t>
            </a:r>
            <a:endParaRPr b="0" i="0" sz="1300" u="none" cap="none" strike="noStrike">
              <a:solidFill>
                <a:schemeClr val="dk1"/>
              </a:solidFill>
              <a:latin typeface="Calibri"/>
              <a:ea typeface="Calibri"/>
              <a:cs typeface="Calibri"/>
              <a:sym typeface="Calibri"/>
            </a:endParaRPr>
          </a:p>
        </p:txBody>
      </p:sp>
      <p:sp>
        <p:nvSpPr>
          <p:cNvPr id="816" name="Google Shape;816;g386fa9f7404_4_316"/>
          <p:cNvSpPr/>
          <p:nvPr/>
        </p:nvSpPr>
        <p:spPr>
          <a:xfrm>
            <a:off x="707136" y="5071872"/>
            <a:ext cx="30480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/proc/net/tcp</a:t>
            </a:r>
            <a:endParaRPr b="0" i="0" sz="1300" u="none" cap="none" strike="noStrike">
              <a:solidFill>
                <a:schemeClr val="dk1"/>
              </a:solidFill>
              <a:latin typeface="Calibri"/>
              <a:ea typeface="Calibri"/>
              <a:cs typeface="Calibri"/>
              <a:sym typeface="Calibri"/>
            </a:endParaRPr>
          </a:p>
        </p:txBody>
      </p:sp>
      <p:sp>
        <p:nvSpPr>
          <p:cNvPr id="817" name="Google Shape;817;g386fa9f7404_4_316"/>
          <p:cNvSpPr/>
          <p:nvPr/>
        </p:nvSpPr>
        <p:spPr>
          <a:xfrm>
            <a:off x="3877056" y="5071872"/>
            <a:ext cx="12801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1" lang="en-US" sz="1200" u="none" cap="none" strike="noStrike">
                <a:solidFill>
                  <a:srgbClr val="717D7E"/>
                </a:solidFill>
                <a:latin typeface="Calibri"/>
                <a:ea typeface="Calibri"/>
                <a:cs typeface="Calibri"/>
                <a:sym typeface="Calibri"/>
              </a:rPr>
              <a:t>Monitor 2</a:t>
            </a:r>
            <a:endParaRPr b="0" i="0" sz="1200" u="none" cap="none" strike="noStrike">
              <a:solidFill>
                <a:schemeClr val="dk1"/>
              </a:solidFill>
              <a:latin typeface="Calibri"/>
              <a:ea typeface="Calibri"/>
              <a:cs typeface="Calibri"/>
              <a:sym typeface="Calibri"/>
            </a:endParaRPr>
          </a:p>
        </p:txBody>
      </p:sp>
      <p:sp>
        <p:nvSpPr>
          <p:cNvPr id="818" name="Google Shape;818;g386fa9f7404_4_316"/>
          <p:cNvSpPr/>
          <p:nvPr/>
        </p:nvSpPr>
        <p:spPr>
          <a:xfrm>
            <a:off x="5242560" y="5071872"/>
            <a:ext cx="62788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  All TCP connections system-wide → diff detects new connections</a:t>
            </a:r>
            <a:endParaRPr b="0" i="0" sz="1300" u="none" cap="none" strike="noStrike">
              <a:solidFill>
                <a:schemeClr val="dk1"/>
              </a:solidFill>
              <a:latin typeface="Calibri"/>
              <a:ea typeface="Calibri"/>
              <a:cs typeface="Calibri"/>
              <a:sym typeface="Calibri"/>
            </a:endParaRPr>
          </a:p>
        </p:txBody>
      </p:sp>
      <p:sp>
        <p:nvSpPr>
          <p:cNvPr id="819" name="Google Shape;819;g386fa9f7404_4_316"/>
          <p:cNvSpPr/>
          <p:nvPr/>
        </p:nvSpPr>
        <p:spPr>
          <a:xfrm>
            <a:off x="707136" y="5388864"/>
            <a:ext cx="30480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/proc/&lt;PID&gt;/status</a:t>
            </a:r>
            <a:endParaRPr b="0" i="0" sz="1300" u="none" cap="none" strike="noStrike">
              <a:solidFill>
                <a:schemeClr val="dk1"/>
              </a:solidFill>
              <a:latin typeface="Calibri"/>
              <a:ea typeface="Calibri"/>
              <a:cs typeface="Calibri"/>
              <a:sym typeface="Calibri"/>
            </a:endParaRPr>
          </a:p>
        </p:txBody>
      </p:sp>
      <p:sp>
        <p:nvSpPr>
          <p:cNvPr id="820" name="Google Shape;820;g386fa9f7404_4_316"/>
          <p:cNvSpPr/>
          <p:nvPr/>
        </p:nvSpPr>
        <p:spPr>
          <a:xfrm>
            <a:off x="3877056" y="5388864"/>
            <a:ext cx="12801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1" lang="en-US" sz="1200" u="none" cap="none" strike="noStrike">
                <a:solidFill>
                  <a:srgbClr val="717D7E"/>
                </a:solidFill>
                <a:latin typeface="Calibri"/>
                <a:ea typeface="Calibri"/>
                <a:cs typeface="Calibri"/>
                <a:sym typeface="Calibri"/>
              </a:rPr>
              <a:t>Monitor 4</a:t>
            </a:r>
            <a:endParaRPr b="0" i="0" sz="1200" u="none" cap="none" strike="noStrike">
              <a:solidFill>
                <a:schemeClr val="dk1"/>
              </a:solidFill>
              <a:latin typeface="Calibri"/>
              <a:ea typeface="Calibri"/>
              <a:cs typeface="Calibri"/>
              <a:sym typeface="Calibri"/>
            </a:endParaRPr>
          </a:p>
        </p:txBody>
      </p:sp>
      <p:sp>
        <p:nvSpPr>
          <p:cNvPr id="821" name="Google Shape;821;g386fa9f7404_4_316"/>
          <p:cNvSpPr/>
          <p:nvPr/>
        </p:nvSpPr>
        <p:spPr>
          <a:xfrm>
            <a:off x="5242560" y="5388864"/>
            <a:ext cx="62788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  VmRSS (memory), CapEff (capabilities) → privilege/memory changes</a:t>
            </a:r>
            <a:endParaRPr b="0" i="0" sz="1300" u="none" cap="none" strike="noStrike">
              <a:solidFill>
                <a:schemeClr val="dk1"/>
              </a:solidFill>
              <a:latin typeface="Calibri"/>
              <a:ea typeface="Calibri"/>
              <a:cs typeface="Calibri"/>
              <a:sym typeface="Calibri"/>
            </a:endParaRPr>
          </a:p>
        </p:txBody>
      </p:sp>
      <p:sp>
        <p:nvSpPr>
          <p:cNvPr id="822" name="Google Shape;822;g386fa9f7404_4_316"/>
          <p:cNvSpPr/>
          <p:nvPr/>
        </p:nvSpPr>
        <p:spPr>
          <a:xfrm>
            <a:off x="487680" y="5949696"/>
            <a:ext cx="11216640"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g386fa9f7404_4_316"/>
          <p:cNvSpPr/>
          <p:nvPr/>
        </p:nvSpPr>
        <p:spPr>
          <a:xfrm>
            <a:off x="585216" y="5949696"/>
            <a:ext cx="109728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 Cozzi et al. (2018) Understanding Linux Malware, IEEE S&amp;P — ieeexplore.ieee.org/document/8418602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828" name="Shape 828"/>
        <p:cNvGrpSpPr/>
        <p:nvPr/>
      </p:nvGrpSpPr>
      <p:grpSpPr>
        <a:xfrm>
          <a:off x="0" y="0"/>
          <a:ext cx="0" cy="0"/>
          <a:chOff x="0" y="0"/>
          <a:chExt cx="0" cy="0"/>
        </a:xfrm>
      </p:grpSpPr>
      <p:sp>
        <p:nvSpPr>
          <p:cNvPr id="829" name="Google Shape;829;g386fa9f7404_4_353"/>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g386fa9f7404_4_353"/>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4 — Monitor 1: File System</a:t>
            </a:r>
            <a:endParaRPr b="0" i="0" sz="2700" u="none" cap="none" strike="noStrike">
              <a:solidFill>
                <a:schemeClr val="dk1"/>
              </a:solidFill>
              <a:latin typeface="Calibri"/>
              <a:ea typeface="Calibri"/>
              <a:cs typeface="Calibri"/>
              <a:sym typeface="Calibri"/>
            </a:endParaRPr>
          </a:p>
        </p:txBody>
      </p:sp>
      <p:sp>
        <p:nvSpPr>
          <p:cNvPr id="831" name="Google Shape;831;g386fa9f7404_4_353"/>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6 — FileSystemMonitor</a:t>
            </a:r>
            <a:endParaRPr b="0" i="0" sz="1100" u="none" cap="none" strike="noStrike">
              <a:solidFill>
                <a:schemeClr val="dk1"/>
              </a:solidFill>
              <a:latin typeface="Calibri"/>
              <a:ea typeface="Calibri"/>
              <a:cs typeface="Calibri"/>
              <a:sym typeface="Calibri"/>
            </a:endParaRPr>
          </a:p>
        </p:txBody>
      </p:sp>
      <p:sp>
        <p:nvSpPr>
          <p:cNvPr id="832" name="Google Shape;832;g386fa9f7404_4_353"/>
          <p:cNvSpPr/>
          <p:nvPr/>
        </p:nvSpPr>
        <p:spPr>
          <a:xfrm>
            <a:off x="487680" y="1072896"/>
            <a:ext cx="11216640" cy="115824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g386fa9f7404_4_353"/>
          <p:cNvSpPr/>
          <p:nvPr/>
        </p:nvSpPr>
        <p:spPr>
          <a:xfrm>
            <a:off x="707136" y="1097280"/>
            <a:ext cx="1706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500"/>
              <a:buFont typeface="Calibri"/>
              <a:buNone/>
            </a:pPr>
            <a:r>
              <a:rPr b="1" i="0" lang="en-US" sz="1500" u="none" cap="none" strike="noStrike">
                <a:solidFill>
                  <a:srgbClr val="AED6F1"/>
                </a:solidFill>
                <a:latin typeface="Calibri"/>
                <a:ea typeface="Calibri"/>
                <a:cs typeface="Calibri"/>
                <a:sym typeface="Calibri"/>
              </a:rPr>
              <a:t>Mechanism:</a:t>
            </a:r>
            <a:endParaRPr b="0" i="0" sz="1500" u="none" cap="none" strike="noStrike">
              <a:solidFill>
                <a:schemeClr val="dk1"/>
              </a:solidFill>
              <a:latin typeface="Calibri"/>
              <a:ea typeface="Calibri"/>
              <a:cs typeface="Calibri"/>
              <a:sym typeface="Calibri"/>
            </a:endParaRPr>
          </a:p>
        </p:txBody>
      </p:sp>
      <p:sp>
        <p:nvSpPr>
          <p:cNvPr id="834" name="Google Shape;834;g386fa9f7404_4_353"/>
          <p:cNvSpPr/>
          <p:nvPr/>
        </p:nvSpPr>
        <p:spPr>
          <a:xfrm>
            <a:off x="707136" y="1463040"/>
            <a:ext cx="1078992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Reads /proc/&lt;PID&gt;/fd/ — one symlink per open file, pointing to the actual path.</a:t>
            </a:r>
            <a:endParaRPr b="0" i="0" sz="1400" u="none" cap="none" strike="noStrike">
              <a:solidFill>
                <a:schemeClr val="dk1"/>
              </a:solidFill>
              <a:latin typeface="Calibri"/>
              <a:ea typeface="Calibri"/>
              <a:cs typeface="Calibri"/>
              <a:sym typeface="Calibri"/>
            </a:endParaRPr>
          </a:p>
        </p:txBody>
      </p:sp>
      <p:sp>
        <p:nvSpPr>
          <p:cNvPr id="835" name="Google Shape;835;g386fa9f7404_4_353"/>
          <p:cNvSpPr/>
          <p:nvPr/>
        </p:nvSpPr>
        <p:spPr>
          <a:xfrm>
            <a:off x="707136" y="1804416"/>
            <a:ext cx="1078992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Reads /proc/&lt;PID&gt;/fdinfo/&lt;fd&gt; — the open flags (octal). O_WRONLY bit set = file is being written. O_RDWR bit = read+write.</a:t>
            </a:r>
            <a:endParaRPr b="0" i="0" sz="1400" u="none" cap="none" strike="noStrike">
              <a:solidFill>
                <a:schemeClr val="dk1"/>
              </a:solidFill>
              <a:latin typeface="Calibri"/>
              <a:ea typeface="Calibri"/>
              <a:cs typeface="Calibri"/>
              <a:sym typeface="Calibri"/>
            </a:endParaRPr>
          </a:p>
        </p:txBody>
      </p:sp>
      <p:sp>
        <p:nvSpPr>
          <p:cNvPr id="836" name="Google Shape;836;g386fa9f7404_4_353"/>
          <p:cNvSpPr/>
          <p:nvPr/>
        </p:nvSpPr>
        <p:spPr>
          <a:xfrm>
            <a:off x="548640" y="2438400"/>
            <a:ext cx="1109472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Suspicious paths — any write here is flagged:</a:t>
            </a:r>
            <a:endParaRPr b="0" i="0" sz="1500" u="none" cap="none" strike="noStrike">
              <a:solidFill>
                <a:schemeClr val="dk1"/>
              </a:solidFill>
              <a:latin typeface="Calibri"/>
              <a:ea typeface="Calibri"/>
              <a:cs typeface="Calibri"/>
              <a:sym typeface="Calibri"/>
            </a:endParaRPr>
          </a:p>
        </p:txBody>
      </p:sp>
      <p:sp>
        <p:nvSpPr>
          <p:cNvPr id="837" name="Google Shape;837;g386fa9f7404_4_353"/>
          <p:cNvSpPr/>
          <p:nvPr/>
        </p:nvSpPr>
        <p:spPr>
          <a:xfrm>
            <a:off x="487680" y="2926080"/>
            <a:ext cx="5547360" cy="48768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g386fa9f7404_4_353"/>
          <p:cNvSpPr/>
          <p:nvPr/>
        </p:nvSpPr>
        <p:spPr>
          <a:xfrm>
            <a:off x="633984" y="2926080"/>
            <a:ext cx="24384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/tmp  /var/tmp</a:t>
            </a:r>
            <a:endParaRPr b="0" i="0" sz="1300" u="none" cap="none" strike="noStrike">
              <a:solidFill>
                <a:schemeClr val="dk1"/>
              </a:solidFill>
              <a:latin typeface="Calibri"/>
              <a:ea typeface="Calibri"/>
              <a:cs typeface="Calibri"/>
              <a:sym typeface="Calibri"/>
            </a:endParaRPr>
          </a:p>
        </p:txBody>
      </p:sp>
      <p:sp>
        <p:nvSpPr>
          <p:cNvPr id="839" name="Google Shape;839;g386fa9f7404_4_353"/>
          <p:cNvSpPr/>
          <p:nvPr/>
        </p:nvSpPr>
        <p:spPr>
          <a:xfrm>
            <a:off x="3169920" y="2926080"/>
            <a:ext cx="26822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Classic dropper locations for hidden files</a:t>
            </a:r>
            <a:endParaRPr b="0" i="0" sz="1300" u="none" cap="none" strike="noStrike">
              <a:solidFill>
                <a:schemeClr val="dk1"/>
              </a:solidFill>
              <a:latin typeface="Calibri"/>
              <a:ea typeface="Calibri"/>
              <a:cs typeface="Calibri"/>
              <a:sym typeface="Calibri"/>
            </a:endParaRPr>
          </a:p>
        </p:txBody>
      </p:sp>
      <p:sp>
        <p:nvSpPr>
          <p:cNvPr id="840" name="Google Shape;840;g386fa9f7404_4_353"/>
          <p:cNvSpPr/>
          <p:nvPr/>
        </p:nvSpPr>
        <p:spPr>
          <a:xfrm>
            <a:off x="6217920" y="2926080"/>
            <a:ext cx="5547360" cy="48768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g386fa9f7404_4_353"/>
          <p:cNvSpPr/>
          <p:nvPr/>
        </p:nvSpPr>
        <p:spPr>
          <a:xfrm>
            <a:off x="6364224" y="2926080"/>
            <a:ext cx="24384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/etc/cron*  /etc/init.d</a:t>
            </a:r>
            <a:endParaRPr b="0" i="0" sz="1300" u="none" cap="none" strike="noStrike">
              <a:solidFill>
                <a:schemeClr val="dk1"/>
              </a:solidFill>
              <a:latin typeface="Calibri"/>
              <a:ea typeface="Calibri"/>
              <a:cs typeface="Calibri"/>
              <a:sym typeface="Calibri"/>
            </a:endParaRPr>
          </a:p>
        </p:txBody>
      </p:sp>
      <p:sp>
        <p:nvSpPr>
          <p:cNvPr id="842" name="Google Shape;842;g386fa9f7404_4_353"/>
          <p:cNvSpPr/>
          <p:nvPr/>
        </p:nvSpPr>
        <p:spPr>
          <a:xfrm>
            <a:off x="8900160" y="2926080"/>
            <a:ext cx="26822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Persistence — startup / scheduled execution</a:t>
            </a:r>
            <a:endParaRPr b="0" i="0" sz="1300" u="none" cap="none" strike="noStrike">
              <a:solidFill>
                <a:schemeClr val="dk1"/>
              </a:solidFill>
              <a:latin typeface="Calibri"/>
              <a:ea typeface="Calibri"/>
              <a:cs typeface="Calibri"/>
              <a:sym typeface="Calibri"/>
            </a:endParaRPr>
          </a:p>
        </p:txBody>
      </p:sp>
      <p:sp>
        <p:nvSpPr>
          <p:cNvPr id="843" name="Google Shape;843;g386fa9f7404_4_353"/>
          <p:cNvSpPr/>
          <p:nvPr/>
        </p:nvSpPr>
        <p:spPr>
          <a:xfrm>
            <a:off x="487680" y="3474720"/>
            <a:ext cx="5547360" cy="48768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g386fa9f7404_4_353"/>
          <p:cNvSpPr/>
          <p:nvPr/>
        </p:nvSpPr>
        <p:spPr>
          <a:xfrm>
            <a:off x="633984" y="3474720"/>
            <a:ext cx="24384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/etc/passwd  /etc/shadow</a:t>
            </a:r>
            <a:endParaRPr b="0" i="0" sz="1300" u="none" cap="none" strike="noStrike">
              <a:solidFill>
                <a:schemeClr val="dk1"/>
              </a:solidFill>
              <a:latin typeface="Calibri"/>
              <a:ea typeface="Calibri"/>
              <a:cs typeface="Calibri"/>
              <a:sym typeface="Calibri"/>
            </a:endParaRPr>
          </a:p>
        </p:txBody>
      </p:sp>
      <p:sp>
        <p:nvSpPr>
          <p:cNvPr id="845" name="Google Shape;845;g386fa9f7404_4_353"/>
          <p:cNvSpPr/>
          <p:nvPr/>
        </p:nvSpPr>
        <p:spPr>
          <a:xfrm>
            <a:off x="3169920" y="3474720"/>
            <a:ext cx="26822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Credential theft</a:t>
            </a:r>
            <a:endParaRPr b="0" i="0" sz="1300" u="none" cap="none" strike="noStrike">
              <a:solidFill>
                <a:schemeClr val="dk1"/>
              </a:solidFill>
              <a:latin typeface="Calibri"/>
              <a:ea typeface="Calibri"/>
              <a:cs typeface="Calibri"/>
              <a:sym typeface="Calibri"/>
            </a:endParaRPr>
          </a:p>
        </p:txBody>
      </p:sp>
      <p:sp>
        <p:nvSpPr>
          <p:cNvPr id="846" name="Google Shape;846;g386fa9f7404_4_353"/>
          <p:cNvSpPr/>
          <p:nvPr/>
        </p:nvSpPr>
        <p:spPr>
          <a:xfrm>
            <a:off x="6217920" y="3474720"/>
            <a:ext cx="5547360" cy="48768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g386fa9f7404_4_353"/>
          <p:cNvSpPr/>
          <p:nvPr/>
        </p:nvSpPr>
        <p:spPr>
          <a:xfrm>
            <a:off x="6364224" y="3474720"/>
            <a:ext cx="24384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/.ssh/</a:t>
            </a:r>
            <a:endParaRPr b="0" i="0" sz="1300" u="none" cap="none" strike="noStrike">
              <a:solidFill>
                <a:schemeClr val="dk1"/>
              </a:solidFill>
              <a:latin typeface="Calibri"/>
              <a:ea typeface="Calibri"/>
              <a:cs typeface="Calibri"/>
              <a:sym typeface="Calibri"/>
            </a:endParaRPr>
          </a:p>
        </p:txBody>
      </p:sp>
      <p:sp>
        <p:nvSpPr>
          <p:cNvPr id="848" name="Google Shape;848;g386fa9f7404_4_353"/>
          <p:cNvSpPr/>
          <p:nvPr/>
        </p:nvSpPr>
        <p:spPr>
          <a:xfrm>
            <a:off x="8900160" y="3474720"/>
            <a:ext cx="26822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SSH backdoor via authorized_keys</a:t>
            </a:r>
            <a:endParaRPr b="0" i="0" sz="1300" u="none" cap="none" strike="noStrike">
              <a:solidFill>
                <a:schemeClr val="dk1"/>
              </a:solidFill>
              <a:latin typeface="Calibri"/>
              <a:ea typeface="Calibri"/>
              <a:cs typeface="Calibri"/>
              <a:sym typeface="Calibri"/>
            </a:endParaRPr>
          </a:p>
        </p:txBody>
      </p:sp>
      <p:sp>
        <p:nvSpPr>
          <p:cNvPr id="849" name="Google Shape;849;g386fa9f7404_4_353"/>
          <p:cNvSpPr/>
          <p:nvPr/>
        </p:nvSpPr>
        <p:spPr>
          <a:xfrm>
            <a:off x="487680" y="4023360"/>
            <a:ext cx="5547360" cy="48768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g386fa9f7404_4_353"/>
          <p:cNvSpPr/>
          <p:nvPr/>
        </p:nvSpPr>
        <p:spPr>
          <a:xfrm>
            <a:off x="633984" y="4023360"/>
            <a:ext cx="24384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/dev/mem  /dev/kmem</a:t>
            </a:r>
            <a:endParaRPr b="0" i="0" sz="1300" u="none" cap="none" strike="noStrike">
              <a:solidFill>
                <a:schemeClr val="dk1"/>
              </a:solidFill>
              <a:latin typeface="Calibri"/>
              <a:ea typeface="Calibri"/>
              <a:cs typeface="Calibri"/>
              <a:sym typeface="Calibri"/>
            </a:endParaRPr>
          </a:p>
        </p:txBody>
      </p:sp>
      <p:sp>
        <p:nvSpPr>
          <p:cNvPr id="851" name="Google Shape;851;g386fa9f7404_4_353"/>
          <p:cNvSpPr/>
          <p:nvPr/>
        </p:nvSpPr>
        <p:spPr>
          <a:xfrm>
            <a:off x="3169920" y="4023360"/>
            <a:ext cx="26822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Raw memory access</a:t>
            </a:r>
            <a:endParaRPr b="0" i="0" sz="1300" u="none" cap="none" strike="noStrike">
              <a:solidFill>
                <a:schemeClr val="dk1"/>
              </a:solidFill>
              <a:latin typeface="Calibri"/>
              <a:ea typeface="Calibri"/>
              <a:cs typeface="Calibri"/>
              <a:sym typeface="Calibri"/>
            </a:endParaRPr>
          </a:p>
        </p:txBody>
      </p:sp>
      <p:sp>
        <p:nvSpPr>
          <p:cNvPr id="852" name="Google Shape;852;g386fa9f7404_4_353"/>
          <p:cNvSpPr/>
          <p:nvPr/>
        </p:nvSpPr>
        <p:spPr>
          <a:xfrm>
            <a:off x="6217920" y="4023360"/>
            <a:ext cx="5547360" cy="48768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g386fa9f7404_4_353"/>
          <p:cNvSpPr/>
          <p:nvPr/>
        </p:nvSpPr>
        <p:spPr>
          <a:xfrm>
            <a:off x="6364224" y="4023360"/>
            <a:ext cx="24384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/proc/sys</a:t>
            </a:r>
            <a:endParaRPr b="0" i="0" sz="1300" u="none" cap="none" strike="noStrike">
              <a:solidFill>
                <a:schemeClr val="dk1"/>
              </a:solidFill>
              <a:latin typeface="Calibri"/>
              <a:ea typeface="Calibri"/>
              <a:cs typeface="Calibri"/>
              <a:sym typeface="Calibri"/>
            </a:endParaRPr>
          </a:p>
        </p:txBody>
      </p:sp>
      <p:sp>
        <p:nvSpPr>
          <p:cNvPr id="854" name="Google Shape;854;g386fa9f7404_4_353"/>
          <p:cNvSpPr/>
          <p:nvPr/>
        </p:nvSpPr>
        <p:spPr>
          <a:xfrm>
            <a:off x="8900160" y="4023360"/>
            <a:ext cx="268224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Kernel parameter modification</a:t>
            </a:r>
            <a:endParaRPr b="0" i="0" sz="1300" u="none" cap="none" strike="noStrike">
              <a:solidFill>
                <a:schemeClr val="dk1"/>
              </a:solidFill>
              <a:latin typeface="Calibri"/>
              <a:ea typeface="Calibri"/>
              <a:cs typeface="Calibri"/>
              <a:sym typeface="Calibri"/>
            </a:endParaRPr>
          </a:p>
        </p:txBody>
      </p:sp>
      <p:sp>
        <p:nvSpPr>
          <p:cNvPr id="855" name="Google Shape;855;g386fa9f7404_4_353"/>
          <p:cNvSpPr/>
          <p:nvPr/>
        </p:nvSpPr>
        <p:spPr>
          <a:xfrm>
            <a:off x="487680" y="4657344"/>
            <a:ext cx="11216640" cy="1280160"/>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g386fa9f7404_4_353"/>
          <p:cNvSpPr/>
          <p:nvPr/>
        </p:nvSpPr>
        <p:spPr>
          <a:xfrm>
            <a:off x="731520" y="4681728"/>
            <a:ext cx="390144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g386fa9f7404_4_353"/>
          <p:cNvSpPr/>
          <p:nvPr/>
        </p:nvSpPr>
        <p:spPr>
          <a:xfrm>
            <a:off x="731520" y="4681728"/>
            <a:ext cx="390144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000"/>
              <a:buFont typeface="Calibri"/>
              <a:buNone/>
            </a:pPr>
            <a:r>
              <a:rPr b="1" i="0" lang="en-US" sz="1000" u="none" cap="none" strike="noStrike">
                <a:solidFill>
                  <a:srgbClr val="AED6F1"/>
                </a:solidFill>
                <a:latin typeface="Calibri"/>
                <a:ea typeface="Calibri"/>
                <a:cs typeface="Calibri"/>
                <a:sym typeface="Calibri"/>
              </a:rPr>
              <a:t>WORKED EXAMPLE — malware.py (Notebook Section 6 Demo)</a:t>
            </a:r>
            <a:endParaRPr b="0" i="0" sz="1000" u="none" cap="none" strike="noStrike">
              <a:solidFill>
                <a:schemeClr val="dk1"/>
              </a:solidFill>
              <a:latin typeface="Calibri"/>
              <a:ea typeface="Calibri"/>
              <a:cs typeface="Calibri"/>
              <a:sym typeface="Calibri"/>
            </a:endParaRPr>
          </a:p>
        </p:txBody>
      </p:sp>
      <p:sp>
        <p:nvSpPr>
          <p:cNvPr id="858" name="Google Shape;858;g386fa9f7404_4_353"/>
          <p:cNvSpPr/>
          <p:nvPr/>
        </p:nvSpPr>
        <p:spPr>
          <a:xfrm>
            <a:off x="731520" y="5096256"/>
            <a:ext cx="792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File opens /tmp/.hidden_malware.py  with O_WRONLY flags</a:t>
            </a:r>
            <a:endParaRPr b="0" i="0" sz="1500" u="none" cap="none" strike="noStrike">
              <a:solidFill>
                <a:schemeClr val="dk1"/>
              </a:solidFill>
              <a:latin typeface="Calibri"/>
              <a:ea typeface="Calibri"/>
              <a:cs typeface="Calibri"/>
              <a:sym typeface="Calibri"/>
            </a:endParaRPr>
          </a:p>
        </p:txBody>
      </p:sp>
      <p:sp>
        <p:nvSpPr>
          <p:cNvPr id="859" name="Google Shape;859;g386fa9f7404_4_353"/>
          <p:cNvSpPr/>
          <p:nvPr/>
        </p:nvSpPr>
        <p:spPr>
          <a:xfrm>
            <a:off x="8802624" y="5096256"/>
            <a:ext cx="2682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6F1E"/>
              </a:buClr>
              <a:buSzPts val="1500"/>
              <a:buFont typeface="Calibri"/>
              <a:buNone/>
            </a:pPr>
            <a:r>
              <a:rPr b="1" i="0" lang="en-US" sz="1500" u="none" cap="none" strike="noStrike">
                <a:solidFill>
                  <a:srgbClr val="CA6F1E"/>
                </a:solidFill>
                <a:latin typeface="Calibri"/>
                <a:ea typeface="Calibri"/>
                <a:cs typeface="Calibri"/>
                <a:sym typeface="Calibri"/>
              </a:rPr>
              <a:t>→  file_write_executable  +30</a:t>
            </a:r>
            <a:endParaRPr b="0" i="0" sz="1500" u="none" cap="none" strike="noStrike">
              <a:solidFill>
                <a:schemeClr val="dk1"/>
              </a:solidFill>
              <a:latin typeface="Calibri"/>
              <a:ea typeface="Calibri"/>
              <a:cs typeface="Calibri"/>
              <a:sym typeface="Calibri"/>
            </a:endParaRPr>
          </a:p>
        </p:txBody>
      </p:sp>
      <p:sp>
        <p:nvSpPr>
          <p:cNvPr id="860" name="Google Shape;860;g386fa9f7404_4_353"/>
          <p:cNvSpPr/>
          <p:nvPr/>
        </p:nvSpPr>
        <p:spPr>
          <a:xfrm>
            <a:off x="731520" y="5510784"/>
            <a:ext cx="109728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300"/>
              <a:buFont typeface="Calibri"/>
              <a:buNone/>
            </a:pPr>
            <a:r>
              <a:rPr b="0" i="1" lang="en-US" sz="1300" u="none" cap="none" strike="noStrike">
                <a:solidFill>
                  <a:srgbClr val="5D8AA8"/>
                </a:solidFill>
                <a:latin typeface="Calibri"/>
                <a:ea typeface="Calibri"/>
                <a:cs typeface="Calibri"/>
                <a:sym typeface="Calibri"/>
              </a:rPr>
              <a:t>/tmp/ = suspicious path  +  .py extension = executable type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4" name="Shape 864"/>
        <p:cNvGrpSpPr/>
        <p:nvPr/>
      </p:nvGrpSpPr>
      <p:grpSpPr>
        <a:xfrm>
          <a:off x="0" y="0"/>
          <a:ext cx="0" cy="0"/>
          <a:chOff x="0" y="0"/>
          <a:chExt cx="0" cy="0"/>
        </a:xfrm>
      </p:grpSpPr>
      <p:sp>
        <p:nvSpPr>
          <p:cNvPr id="865" name="Google Shape;865;g386fa9f7404_4_389"/>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g386fa9f7404_4_389"/>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Monitor 1 — Why These Paths Are Suspicious</a:t>
            </a:r>
            <a:endParaRPr b="0" i="0" sz="2700" u="none" cap="none" strike="noStrike">
              <a:solidFill>
                <a:schemeClr val="dk1"/>
              </a:solidFill>
              <a:latin typeface="Calibri"/>
              <a:ea typeface="Calibri"/>
              <a:cs typeface="Calibri"/>
              <a:sym typeface="Calibri"/>
            </a:endParaRPr>
          </a:p>
        </p:txBody>
      </p:sp>
      <p:sp>
        <p:nvSpPr>
          <p:cNvPr id="867" name="Google Shape;867;g386fa9f7404_4_389"/>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File System Monitor</a:t>
            </a:r>
            <a:endParaRPr b="0" i="0" sz="1100" u="none" cap="none" strike="noStrike">
              <a:solidFill>
                <a:schemeClr val="dk1"/>
              </a:solidFill>
              <a:latin typeface="Calibri"/>
              <a:ea typeface="Calibri"/>
              <a:cs typeface="Calibri"/>
              <a:sym typeface="Calibri"/>
            </a:endParaRPr>
          </a:p>
        </p:txBody>
      </p:sp>
      <p:sp>
        <p:nvSpPr>
          <p:cNvPr id="868" name="Google Shape;868;g386fa9f7404_4_389"/>
          <p:cNvSpPr/>
          <p:nvPr/>
        </p:nvSpPr>
        <p:spPr>
          <a:xfrm>
            <a:off x="487680" y="1072896"/>
            <a:ext cx="11216640" cy="63398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g386fa9f7404_4_389"/>
          <p:cNvSpPr/>
          <p:nvPr/>
        </p:nvSpPr>
        <p:spPr>
          <a:xfrm>
            <a:off x="487680" y="1072896"/>
            <a:ext cx="121920" cy="633984"/>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g386fa9f7404_4_389"/>
          <p:cNvSpPr/>
          <p:nvPr/>
        </p:nvSpPr>
        <p:spPr>
          <a:xfrm>
            <a:off x="755904" y="1072896"/>
            <a:ext cx="10789920" cy="6339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A drone data file has no legitimate reason to write to any of these locations. Any write here is immediately flagged.</a:t>
            </a:r>
            <a:endParaRPr b="0" i="0" sz="1700" u="none" cap="none" strike="noStrike">
              <a:solidFill>
                <a:schemeClr val="dk1"/>
              </a:solidFill>
              <a:latin typeface="Calibri"/>
              <a:ea typeface="Calibri"/>
              <a:cs typeface="Calibri"/>
              <a:sym typeface="Calibri"/>
            </a:endParaRPr>
          </a:p>
        </p:txBody>
      </p:sp>
      <p:sp>
        <p:nvSpPr>
          <p:cNvPr id="871" name="Google Shape;871;g386fa9f7404_4_389"/>
          <p:cNvSpPr/>
          <p:nvPr/>
        </p:nvSpPr>
        <p:spPr>
          <a:xfrm>
            <a:off x="487680" y="1889760"/>
            <a:ext cx="5547360" cy="1121664"/>
          </a:xfrm>
          <a:prstGeom prst="rect">
            <a:avLst/>
          </a:prstGeom>
          <a:solidFill>
            <a:srgbClr val="EAF4FB"/>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g386fa9f7404_4_389"/>
          <p:cNvSpPr/>
          <p:nvPr/>
        </p:nvSpPr>
        <p:spPr>
          <a:xfrm>
            <a:off x="487680" y="1889760"/>
            <a:ext cx="5547360" cy="36576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g386fa9f7404_4_389"/>
          <p:cNvSpPr/>
          <p:nvPr/>
        </p:nvSpPr>
        <p:spPr>
          <a:xfrm>
            <a:off x="609600" y="1889760"/>
            <a:ext cx="3169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/tmp  and  /var/tmp</a:t>
            </a:r>
            <a:endParaRPr b="0" i="0" sz="1300" u="none" cap="none" strike="noStrike">
              <a:solidFill>
                <a:schemeClr val="dk1"/>
              </a:solidFill>
              <a:latin typeface="Calibri"/>
              <a:ea typeface="Calibri"/>
              <a:cs typeface="Calibri"/>
              <a:sym typeface="Calibri"/>
            </a:endParaRPr>
          </a:p>
        </p:txBody>
      </p:sp>
      <p:sp>
        <p:nvSpPr>
          <p:cNvPr id="874" name="Google Shape;874;g386fa9f7404_4_389"/>
          <p:cNvSpPr/>
          <p:nvPr/>
        </p:nvSpPr>
        <p:spPr>
          <a:xfrm>
            <a:off x="3840480" y="1889760"/>
            <a:ext cx="2072640"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Dropper location</a:t>
            </a:r>
            <a:endParaRPr b="0" i="0" sz="1300" u="none" cap="none" strike="noStrike">
              <a:solidFill>
                <a:schemeClr val="dk1"/>
              </a:solidFill>
              <a:latin typeface="Calibri"/>
              <a:ea typeface="Calibri"/>
              <a:cs typeface="Calibri"/>
              <a:sym typeface="Calibri"/>
            </a:endParaRPr>
          </a:p>
        </p:txBody>
      </p:sp>
      <p:sp>
        <p:nvSpPr>
          <p:cNvPr id="875" name="Google Shape;875;g386fa9f7404_4_389"/>
          <p:cNvSpPr/>
          <p:nvPr/>
        </p:nvSpPr>
        <p:spPr>
          <a:xfrm>
            <a:off x="633984" y="2328672"/>
            <a:ext cx="524256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Temporary folders — no write permissions needed. Malware drops executables here silently before running them.</a:t>
            </a:r>
            <a:endParaRPr b="0" i="0" sz="1300" u="none" cap="none" strike="noStrike">
              <a:solidFill>
                <a:schemeClr val="dk1"/>
              </a:solidFill>
              <a:latin typeface="Calibri"/>
              <a:ea typeface="Calibri"/>
              <a:cs typeface="Calibri"/>
              <a:sym typeface="Calibri"/>
            </a:endParaRPr>
          </a:p>
        </p:txBody>
      </p:sp>
      <p:sp>
        <p:nvSpPr>
          <p:cNvPr id="876" name="Google Shape;876;g386fa9f7404_4_389"/>
          <p:cNvSpPr/>
          <p:nvPr/>
        </p:nvSpPr>
        <p:spPr>
          <a:xfrm>
            <a:off x="6242304" y="1889760"/>
            <a:ext cx="5547360" cy="1121664"/>
          </a:xfrm>
          <a:prstGeom prst="rect">
            <a:avLst/>
          </a:prstGeom>
          <a:solidFill>
            <a:srgbClr val="EAF4FB"/>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g386fa9f7404_4_389"/>
          <p:cNvSpPr/>
          <p:nvPr/>
        </p:nvSpPr>
        <p:spPr>
          <a:xfrm>
            <a:off x="6242304" y="1889760"/>
            <a:ext cx="5547360" cy="3657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g386fa9f7404_4_389"/>
          <p:cNvSpPr/>
          <p:nvPr/>
        </p:nvSpPr>
        <p:spPr>
          <a:xfrm>
            <a:off x="6364224" y="1889760"/>
            <a:ext cx="3169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/etc/cron*  and  /etc/init.d</a:t>
            </a:r>
            <a:endParaRPr b="0" i="0" sz="1300" u="none" cap="none" strike="noStrike">
              <a:solidFill>
                <a:schemeClr val="dk1"/>
              </a:solidFill>
              <a:latin typeface="Calibri"/>
              <a:ea typeface="Calibri"/>
              <a:cs typeface="Calibri"/>
              <a:sym typeface="Calibri"/>
            </a:endParaRPr>
          </a:p>
        </p:txBody>
      </p:sp>
      <p:sp>
        <p:nvSpPr>
          <p:cNvPr id="879" name="Google Shape;879;g386fa9f7404_4_389"/>
          <p:cNvSpPr/>
          <p:nvPr/>
        </p:nvSpPr>
        <p:spPr>
          <a:xfrm>
            <a:off x="9595104" y="1889760"/>
            <a:ext cx="2072640"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Persistence mechanism</a:t>
            </a:r>
            <a:endParaRPr b="0" i="0" sz="1300" u="none" cap="none" strike="noStrike">
              <a:solidFill>
                <a:schemeClr val="dk1"/>
              </a:solidFill>
              <a:latin typeface="Calibri"/>
              <a:ea typeface="Calibri"/>
              <a:cs typeface="Calibri"/>
              <a:sym typeface="Calibri"/>
            </a:endParaRPr>
          </a:p>
        </p:txBody>
      </p:sp>
      <p:sp>
        <p:nvSpPr>
          <p:cNvPr id="880" name="Google Shape;880;g386fa9f7404_4_389"/>
          <p:cNvSpPr/>
          <p:nvPr/>
        </p:nvSpPr>
        <p:spPr>
          <a:xfrm>
            <a:off x="6388608" y="2328672"/>
            <a:ext cx="524256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System startup and schedule files. Writing here arranges for the malware to run again automatically on reboot or on a timer.</a:t>
            </a:r>
            <a:endParaRPr b="0" i="0" sz="1300" u="none" cap="none" strike="noStrike">
              <a:solidFill>
                <a:schemeClr val="dk1"/>
              </a:solidFill>
              <a:latin typeface="Calibri"/>
              <a:ea typeface="Calibri"/>
              <a:cs typeface="Calibri"/>
              <a:sym typeface="Calibri"/>
            </a:endParaRPr>
          </a:p>
        </p:txBody>
      </p:sp>
      <p:sp>
        <p:nvSpPr>
          <p:cNvPr id="881" name="Google Shape;881;g386fa9f7404_4_389"/>
          <p:cNvSpPr/>
          <p:nvPr/>
        </p:nvSpPr>
        <p:spPr>
          <a:xfrm>
            <a:off x="487680" y="3108960"/>
            <a:ext cx="5547360" cy="1121664"/>
          </a:xfrm>
          <a:prstGeom prst="rect">
            <a:avLst/>
          </a:prstGeom>
          <a:solidFill>
            <a:srgbClr val="EAF4FB"/>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g386fa9f7404_4_389"/>
          <p:cNvSpPr/>
          <p:nvPr/>
        </p:nvSpPr>
        <p:spPr>
          <a:xfrm>
            <a:off x="487680" y="3108960"/>
            <a:ext cx="5547360" cy="3657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g386fa9f7404_4_389"/>
          <p:cNvSpPr/>
          <p:nvPr/>
        </p:nvSpPr>
        <p:spPr>
          <a:xfrm>
            <a:off x="609600" y="3108960"/>
            <a:ext cx="3169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/etc/passwd  and  /etc/shadow</a:t>
            </a:r>
            <a:endParaRPr b="0" i="0" sz="1300" u="none" cap="none" strike="noStrike">
              <a:solidFill>
                <a:schemeClr val="dk1"/>
              </a:solidFill>
              <a:latin typeface="Calibri"/>
              <a:ea typeface="Calibri"/>
              <a:cs typeface="Calibri"/>
              <a:sym typeface="Calibri"/>
            </a:endParaRPr>
          </a:p>
        </p:txBody>
      </p:sp>
      <p:sp>
        <p:nvSpPr>
          <p:cNvPr id="884" name="Google Shape;884;g386fa9f7404_4_389"/>
          <p:cNvSpPr/>
          <p:nvPr/>
        </p:nvSpPr>
        <p:spPr>
          <a:xfrm>
            <a:off x="3840480" y="3108960"/>
            <a:ext cx="2072640"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Credential access</a:t>
            </a:r>
            <a:endParaRPr b="0" i="0" sz="1300" u="none" cap="none" strike="noStrike">
              <a:solidFill>
                <a:schemeClr val="dk1"/>
              </a:solidFill>
              <a:latin typeface="Calibri"/>
              <a:ea typeface="Calibri"/>
              <a:cs typeface="Calibri"/>
              <a:sym typeface="Calibri"/>
            </a:endParaRPr>
          </a:p>
        </p:txBody>
      </p:sp>
      <p:sp>
        <p:nvSpPr>
          <p:cNvPr id="885" name="Google Shape;885;g386fa9f7404_4_389"/>
          <p:cNvSpPr/>
          <p:nvPr/>
        </p:nvSpPr>
        <p:spPr>
          <a:xfrm>
            <a:off x="633984" y="3547872"/>
            <a:ext cx="524256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User accounts and password hashes. Writing here creates a backdoor account or modifies existing credentials.</a:t>
            </a:r>
            <a:endParaRPr b="0" i="0" sz="1300" u="none" cap="none" strike="noStrike">
              <a:solidFill>
                <a:schemeClr val="dk1"/>
              </a:solidFill>
              <a:latin typeface="Calibri"/>
              <a:ea typeface="Calibri"/>
              <a:cs typeface="Calibri"/>
              <a:sym typeface="Calibri"/>
            </a:endParaRPr>
          </a:p>
        </p:txBody>
      </p:sp>
      <p:sp>
        <p:nvSpPr>
          <p:cNvPr id="886" name="Google Shape;886;g386fa9f7404_4_389"/>
          <p:cNvSpPr/>
          <p:nvPr/>
        </p:nvSpPr>
        <p:spPr>
          <a:xfrm>
            <a:off x="6242304" y="3108960"/>
            <a:ext cx="5547360" cy="1121664"/>
          </a:xfrm>
          <a:prstGeom prst="rect">
            <a:avLst/>
          </a:prstGeom>
          <a:solidFill>
            <a:srgbClr val="EAF4FB"/>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g386fa9f7404_4_389"/>
          <p:cNvSpPr/>
          <p:nvPr/>
        </p:nvSpPr>
        <p:spPr>
          <a:xfrm>
            <a:off x="6242304" y="3108960"/>
            <a:ext cx="5547360" cy="36576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g386fa9f7404_4_389"/>
          <p:cNvSpPr/>
          <p:nvPr/>
        </p:nvSpPr>
        <p:spPr>
          <a:xfrm>
            <a:off x="6364224" y="3108960"/>
            <a:ext cx="3169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/.ssh/  and  /root</a:t>
            </a:r>
            <a:endParaRPr b="0" i="0" sz="1300" u="none" cap="none" strike="noStrike">
              <a:solidFill>
                <a:schemeClr val="dk1"/>
              </a:solidFill>
              <a:latin typeface="Calibri"/>
              <a:ea typeface="Calibri"/>
              <a:cs typeface="Calibri"/>
              <a:sym typeface="Calibri"/>
            </a:endParaRPr>
          </a:p>
        </p:txBody>
      </p:sp>
      <p:sp>
        <p:nvSpPr>
          <p:cNvPr id="889" name="Google Shape;889;g386fa9f7404_4_389"/>
          <p:cNvSpPr/>
          <p:nvPr/>
        </p:nvSpPr>
        <p:spPr>
          <a:xfrm>
            <a:off x="9595104" y="3108960"/>
            <a:ext cx="2072640"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Permanent remote access</a:t>
            </a:r>
            <a:endParaRPr b="0" i="0" sz="1300" u="none" cap="none" strike="noStrike">
              <a:solidFill>
                <a:schemeClr val="dk1"/>
              </a:solidFill>
              <a:latin typeface="Calibri"/>
              <a:ea typeface="Calibri"/>
              <a:cs typeface="Calibri"/>
              <a:sym typeface="Calibri"/>
            </a:endParaRPr>
          </a:p>
        </p:txBody>
      </p:sp>
      <p:sp>
        <p:nvSpPr>
          <p:cNvPr id="890" name="Google Shape;890;g386fa9f7404_4_389"/>
          <p:cNvSpPr/>
          <p:nvPr/>
        </p:nvSpPr>
        <p:spPr>
          <a:xfrm>
            <a:off x="6388608" y="3547872"/>
            <a:ext cx="524256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SSH keys enable passwordless remote login. Adding an attacker-controlled key grants permanent access without any password.</a:t>
            </a:r>
            <a:endParaRPr b="0" i="0" sz="1300" u="none" cap="none" strike="noStrike">
              <a:solidFill>
                <a:schemeClr val="dk1"/>
              </a:solidFill>
              <a:latin typeface="Calibri"/>
              <a:ea typeface="Calibri"/>
              <a:cs typeface="Calibri"/>
              <a:sym typeface="Calibri"/>
            </a:endParaRPr>
          </a:p>
        </p:txBody>
      </p:sp>
      <p:sp>
        <p:nvSpPr>
          <p:cNvPr id="891" name="Google Shape;891;g386fa9f7404_4_389"/>
          <p:cNvSpPr/>
          <p:nvPr/>
        </p:nvSpPr>
        <p:spPr>
          <a:xfrm>
            <a:off x="487680" y="4328160"/>
            <a:ext cx="5547360" cy="1121664"/>
          </a:xfrm>
          <a:prstGeom prst="rect">
            <a:avLst/>
          </a:prstGeom>
          <a:solidFill>
            <a:srgbClr val="EAF4FB"/>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g386fa9f7404_4_389"/>
          <p:cNvSpPr/>
          <p:nvPr/>
        </p:nvSpPr>
        <p:spPr>
          <a:xfrm>
            <a:off x="487680" y="4328160"/>
            <a:ext cx="5547360" cy="3657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g386fa9f7404_4_389"/>
          <p:cNvSpPr/>
          <p:nvPr/>
        </p:nvSpPr>
        <p:spPr>
          <a:xfrm>
            <a:off x="609600" y="4328160"/>
            <a:ext cx="3169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/dev/mem  and  /dev/kmem</a:t>
            </a:r>
            <a:endParaRPr b="0" i="0" sz="1300" u="none" cap="none" strike="noStrike">
              <a:solidFill>
                <a:schemeClr val="dk1"/>
              </a:solidFill>
              <a:latin typeface="Calibri"/>
              <a:ea typeface="Calibri"/>
              <a:cs typeface="Calibri"/>
              <a:sym typeface="Calibri"/>
            </a:endParaRPr>
          </a:p>
        </p:txBody>
      </p:sp>
      <p:sp>
        <p:nvSpPr>
          <p:cNvPr id="894" name="Google Shape;894;g386fa9f7404_4_389"/>
          <p:cNvSpPr/>
          <p:nvPr/>
        </p:nvSpPr>
        <p:spPr>
          <a:xfrm>
            <a:off x="3840480" y="4328160"/>
            <a:ext cx="2072640"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Kernel-level attack</a:t>
            </a:r>
            <a:endParaRPr b="0" i="0" sz="1300" u="none" cap="none" strike="noStrike">
              <a:solidFill>
                <a:schemeClr val="dk1"/>
              </a:solidFill>
              <a:latin typeface="Calibri"/>
              <a:ea typeface="Calibri"/>
              <a:cs typeface="Calibri"/>
              <a:sym typeface="Calibri"/>
            </a:endParaRPr>
          </a:p>
        </p:txBody>
      </p:sp>
      <p:sp>
        <p:nvSpPr>
          <p:cNvPr id="895" name="Google Shape;895;g386fa9f7404_4_389"/>
          <p:cNvSpPr/>
          <p:nvPr/>
        </p:nvSpPr>
        <p:spPr>
          <a:xfrm>
            <a:off x="633984" y="4767072"/>
            <a:ext cx="524256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Raw memory devices. Writing here gives direct access to kernel memory — used for rootkit installation or hiding malware from all monitoring tools.</a:t>
            </a:r>
            <a:endParaRPr b="0" i="0" sz="1300" u="none" cap="none" strike="noStrike">
              <a:solidFill>
                <a:schemeClr val="dk1"/>
              </a:solidFill>
              <a:latin typeface="Calibri"/>
              <a:ea typeface="Calibri"/>
              <a:cs typeface="Calibri"/>
              <a:sym typeface="Calibri"/>
            </a:endParaRPr>
          </a:p>
        </p:txBody>
      </p:sp>
      <p:sp>
        <p:nvSpPr>
          <p:cNvPr id="896" name="Google Shape;896;g386fa9f7404_4_389"/>
          <p:cNvSpPr/>
          <p:nvPr/>
        </p:nvSpPr>
        <p:spPr>
          <a:xfrm>
            <a:off x="6242304" y="4328160"/>
            <a:ext cx="5547360" cy="1121664"/>
          </a:xfrm>
          <a:prstGeom prst="rect">
            <a:avLst/>
          </a:prstGeom>
          <a:solidFill>
            <a:srgbClr val="EAF4FB"/>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g386fa9f7404_4_389"/>
          <p:cNvSpPr/>
          <p:nvPr/>
        </p:nvSpPr>
        <p:spPr>
          <a:xfrm>
            <a:off x="6242304" y="4328160"/>
            <a:ext cx="5547360" cy="3657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g386fa9f7404_4_389"/>
          <p:cNvSpPr/>
          <p:nvPr/>
        </p:nvSpPr>
        <p:spPr>
          <a:xfrm>
            <a:off x="6364224" y="4328160"/>
            <a:ext cx="3169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/proc/sys</a:t>
            </a:r>
            <a:endParaRPr b="0" i="0" sz="1300" u="none" cap="none" strike="noStrike">
              <a:solidFill>
                <a:schemeClr val="dk1"/>
              </a:solidFill>
              <a:latin typeface="Calibri"/>
              <a:ea typeface="Calibri"/>
              <a:cs typeface="Calibri"/>
              <a:sym typeface="Calibri"/>
            </a:endParaRPr>
          </a:p>
        </p:txBody>
      </p:sp>
      <p:sp>
        <p:nvSpPr>
          <p:cNvPr id="899" name="Google Shape;899;g386fa9f7404_4_389"/>
          <p:cNvSpPr/>
          <p:nvPr/>
        </p:nvSpPr>
        <p:spPr>
          <a:xfrm>
            <a:off x="9595104" y="4328160"/>
            <a:ext cx="2072640"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Kernel parameter tampering</a:t>
            </a:r>
            <a:endParaRPr b="0" i="0" sz="1300" u="none" cap="none" strike="noStrike">
              <a:solidFill>
                <a:schemeClr val="dk1"/>
              </a:solidFill>
              <a:latin typeface="Calibri"/>
              <a:ea typeface="Calibri"/>
              <a:cs typeface="Calibri"/>
              <a:sym typeface="Calibri"/>
            </a:endParaRPr>
          </a:p>
        </p:txBody>
      </p:sp>
      <p:sp>
        <p:nvSpPr>
          <p:cNvPr id="900" name="Google Shape;900;g386fa9f7404_4_389"/>
          <p:cNvSpPr/>
          <p:nvPr/>
        </p:nvSpPr>
        <p:spPr>
          <a:xfrm>
            <a:off x="6388608" y="4767072"/>
            <a:ext cx="5242560" cy="60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Live kernel configuration. Writing here modifies OS behaviour at runtime — for example, disabling security features.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904" name="Shape 904"/>
        <p:cNvGrpSpPr/>
        <p:nvPr/>
      </p:nvGrpSpPr>
      <p:grpSpPr>
        <a:xfrm>
          <a:off x="0" y="0"/>
          <a:ext cx="0" cy="0"/>
          <a:chOff x="0" y="0"/>
          <a:chExt cx="0" cy="0"/>
        </a:xfrm>
      </p:grpSpPr>
      <p:sp>
        <p:nvSpPr>
          <p:cNvPr id="905" name="Google Shape;905;g386fa9f7404_4_428"/>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g386fa9f7404_4_428"/>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Monitor 1 — Reading vs Writing, and Two Severity Levels</a:t>
            </a:r>
            <a:endParaRPr b="0" i="0" sz="2700" u="none" cap="none" strike="noStrike">
              <a:solidFill>
                <a:schemeClr val="dk1"/>
              </a:solidFill>
              <a:latin typeface="Calibri"/>
              <a:ea typeface="Calibri"/>
              <a:cs typeface="Calibri"/>
              <a:sym typeface="Calibri"/>
            </a:endParaRPr>
          </a:p>
        </p:txBody>
      </p:sp>
      <p:sp>
        <p:nvSpPr>
          <p:cNvPr id="907" name="Google Shape;907;g386fa9f7404_4_428"/>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File System Monitor</a:t>
            </a:r>
            <a:endParaRPr b="0" i="0" sz="1100" u="none" cap="none" strike="noStrike">
              <a:solidFill>
                <a:schemeClr val="dk1"/>
              </a:solidFill>
              <a:latin typeface="Calibri"/>
              <a:ea typeface="Calibri"/>
              <a:cs typeface="Calibri"/>
              <a:sym typeface="Calibri"/>
            </a:endParaRPr>
          </a:p>
        </p:txBody>
      </p:sp>
      <p:sp>
        <p:nvSpPr>
          <p:cNvPr id="908" name="Google Shape;908;g386fa9f7404_4_428"/>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Not every file access is alarming. The key distinction is whether the process is reading or writing.</a:t>
            </a:r>
            <a:endParaRPr b="0" i="0" sz="1700" u="none" cap="none" strike="noStrike">
              <a:solidFill>
                <a:schemeClr val="dk1"/>
              </a:solidFill>
              <a:latin typeface="Calibri"/>
              <a:ea typeface="Calibri"/>
              <a:cs typeface="Calibri"/>
              <a:sym typeface="Calibri"/>
            </a:endParaRPr>
          </a:p>
        </p:txBody>
      </p:sp>
      <p:sp>
        <p:nvSpPr>
          <p:cNvPr id="909" name="Google Shape;909;g386fa9f7404_4_428"/>
          <p:cNvSpPr/>
          <p:nvPr/>
        </p:nvSpPr>
        <p:spPr>
          <a:xfrm>
            <a:off x="487680" y="1645920"/>
            <a:ext cx="5340096" cy="2414016"/>
          </a:xfrm>
          <a:prstGeom prst="rect">
            <a:avLst/>
          </a:prstGeom>
          <a:solidFill>
            <a:srgbClr val="D5F5E3"/>
          </a:solidFill>
          <a:ln cap="flat" cmpd="sng" w="1905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g386fa9f7404_4_428"/>
          <p:cNvSpPr/>
          <p:nvPr/>
        </p:nvSpPr>
        <p:spPr>
          <a:xfrm>
            <a:off x="487680" y="1645920"/>
            <a:ext cx="5340096" cy="512064"/>
          </a:xfrm>
          <a:prstGeom prst="rect">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g386fa9f7404_4_428"/>
          <p:cNvSpPr/>
          <p:nvPr/>
        </p:nvSpPr>
        <p:spPr>
          <a:xfrm>
            <a:off x="633984" y="1645920"/>
            <a:ext cx="509625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  READING a suspicious path</a:t>
            </a:r>
            <a:endParaRPr b="0" i="0" sz="1600" u="none" cap="none" strike="noStrike">
              <a:solidFill>
                <a:schemeClr val="dk1"/>
              </a:solidFill>
              <a:latin typeface="Calibri"/>
              <a:ea typeface="Calibri"/>
              <a:cs typeface="Calibri"/>
              <a:sym typeface="Calibri"/>
            </a:endParaRPr>
          </a:p>
        </p:txBody>
      </p:sp>
      <p:sp>
        <p:nvSpPr>
          <p:cNvPr id="912" name="Google Shape;912;g386fa9f7404_4_428"/>
          <p:cNvSpPr/>
          <p:nvPr/>
        </p:nvSpPr>
        <p:spPr>
          <a:xfrm>
            <a:off x="633984" y="2243328"/>
            <a:ext cx="5096256" cy="792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Many programs legitimately read /etc/passwd to look up user info, or read /etc/hosts to resolve hostnames. Reading is passive — the system is unchanged.</a:t>
            </a:r>
            <a:endParaRPr b="0" i="0" sz="1400" u="none" cap="none" strike="noStrike">
              <a:solidFill>
                <a:schemeClr val="dk1"/>
              </a:solidFill>
              <a:latin typeface="Calibri"/>
              <a:ea typeface="Calibri"/>
              <a:cs typeface="Calibri"/>
              <a:sym typeface="Calibri"/>
            </a:endParaRPr>
          </a:p>
        </p:txBody>
      </p:sp>
      <p:sp>
        <p:nvSpPr>
          <p:cNvPr id="913" name="Google Shape;913;g386fa9f7404_4_428"/>
          <p:cNvSpPr/>
          <p:nvPr/>
        </p:nvSpPr>
        <p:spPr>
          <a:xfrm>
            <a:off x="670560" y="3194304"/>
            <a:ext cx="4998720" cy="707136"/>
          </a:xfrm>
          <a:prstGeom prst="rect">
            <a:avLst/>
          </a:prstGeom>
          <a:solidFill>
            <a:srgbClr val="FFFFFF"/>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g386fa9f7404_4_428"/>
          <p:cNvSpPr/>
          <p:nvPr/>
        </p:nvSpPr>
        <p:spPr>
          <a:xfrm>
            <a:off x="829056" y="3194304"/>
            <a:ext cx="4681728"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8449"/>
              </a:buClr>
              <a:buSzPts val="1400"/>
              <a:buFont typeface="Calibri"/>
              <a:buNone/>
            </a:pPr>
            <a:r>
              <a:rPr b="0" i="0" lang="en-US" sz="1400" u="none" cap="none" strike="noStrike">
                <a:solidFill>
                  <a:srgbClr val="1E8449"/>
                </a:solidFill>
                <a:latin typeface="Calibri"/>
                <a:ea typeface="Calibri"/>
                <a:cs typeface="Calibri"/>
                <a:sym typeface="Calibri"/>
              </a:rPr>
              <a:t>✅ Lower concern — only flagged when combined with other suspicious behaviour</a:t>
            </a:r>
            <a:endParaRPr b="0" i="0" sz="1400" u="none" cap="none" strike="noStrike">
              <a:solidFill>
                <a:schemeClr val="dk1"/>
              </a:solidFill>
              <a:latin typeface="Calibri"/>
              <a:ea typeface="Calibri"/>
              <a:cs typeface="Calibri"/>
              <a:sym typeface="Calibri"/>
            </a:endParaRPr>
          </a:p>
        </p:txBody>
      </p:sp>
      <p:sp>
        <p:nvSpPr>
          <p:cNvPr id="915" name="Google Shape;915;g386fa9f7404_4_428"/>
          <p:cNvSpPr/>
          <p:nvPr/>
        </p:nvSpPr>
        <p:spPr>
          <a:xfrm>
            <a:off x="6364224" y="1645920"/>
            <a:ext cx="5340096" cy="2414016"/>
          </a:xfrm>
          <a:prstGeom prst="rect">
            <a:avLst/>
          </a:prstGeom>
          <a:solidFill>
            <a:srgbClr val="FADBD8"/>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g386fa9f7404_4_428"/>
          <p:cNvSpPr/>
          <p:nvPr/>
        </p:nvSpPr>
        <p:spPr>
          <a:xfrm>
            <a:off x="6364224" y="1645920"/>
            <a:ext cx="5340096" cy="5120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g386fa9f7404_4_428"/>
          <p:cNvSpPr/>
          <p:nvPr/>
        </p:nvSpPr>
        <p:spPr>
          <a:xfrm>
            <a:off x="6510528" y="1645920"/>
            <a:ext cx="509625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  WRITING to a suspicious path</a:t>
            </a:r>
            <a:endParaRPr b="0" i="0" sz="1600" u="none" cap="none" strike="noStrike">
              <a:solidFill>
                <a:schemeClr val="dk1"/>
              </a:solidFill>
              <a:latin typeface="Calibri"/>
              <a:ea typeface="Calibri"/>
              <a:cs typeface="Calibri"/>
              <a:sym typeface="Calibri"/>
            </a:endParaRPr>
          </a:p>
        </p:txBody>
      </p:sp>
      <p:sp>
        <p:nvSpPr>
          <p:cNvPr id="918" name="Google Shape;918;g386fa9f7404_4_428"/>
          <p:cNvSpPr/>
          <p:nvPr/>
        </p:nvSpPr>
        <p:spPr>
          <a:xfrm>
            <a:off x="6510528" y="2243328"/>
            <a:ext cx="5096256" cy="792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A drone data file has no reason to write to /tmp, /etc/cron, or /.ssh. Writing permanently changes the system — it is an active action, not passive observation.</a:t>
            </a:r>
            <a:endParaRPr b="0" i="0" sz="1400" u="none" cap="none" strike="noStrike">
              <a:solidFill>
                <a:schemeClr val="dk1"/>
              </a:solidFill>
              <a:latin typeface="Calibri"/>
              <a:ea typeface="Calibri"/>
              <a:cs typeface="Calibri"/>
              <a:sym typeface="Calibri"/>
            </a:endParaRPr>
          </a:p>
        </p:txBody>
      </p:sp>
      <p:sp>
        <p:nvSpPr>
          <p:cNvPr id="919" name="Google Shape;919;g386fa9f7404_4_428"/>
          <p:cNvSpPr/>
          <p:nvPr/>
        </p:nvSpPr>
        <p:spPr>
          <a:xfrm>
            <a:off x="6547104" y="3194304"/>
            <a:ext cx="4998720" cy="707136"/>
          </a:xfrm>
          <a:prstGeom prst="rect">
            <a:avLst/>
          </a:prstGeom>
          <a:solidFill>
            <a:srgbClr val="FFFFFF"/>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g386fa9f7404_4_428"/>
          <p:cNvSpPr/>
          <p:nvPr/>
        </p:nvSpPr>
        <p:spPr>
          <a:xfrm>
            <a:off x="6705600" y="3194304"/>
            <a:ext cx="4681728"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400"/>
              <a:buFont typeface="Calibri"/>
              <a:buNone/>
            </a:pPr>
            <a:r>
              <a:rPr b="0" i="0" lang="en-US" sz="1400" u="none" cap="none" strike="noStrike">
                <a:solidFill>
                  <a:srgbClr val="C0392B"/>
                </a:solidFill>
                <a:latin typeface="Calibri"/>
                <a:ea typeface="Calibri"/>
                <a:cs typeface="Calibri"/>
                <a:sym typeface="Calibri"/>
              </a:rPr>
              <a:t>🚨 Flagged immediately — score based on path and file type</a:t>
            </a:r>
            <a:endParaRPr b="0" i="0" sz="1400" u="none" cap="none" strike="noStrike">
              <a:solidFill>
                <a:schemeClr val="dk1"/>
              </a:solidFill>
              <a:latin typeface="Calibri"/>
              <a:ea typeface="Calibri"/>
              <a:cs typeface="Calibri"/>
              <a:sym typeface="Calibri"/>
            </a:endParaRPr>
          </a:p>
        </p:txBody>
      </p:sp>
      <p:sp>
        <p:nvSpPr>
          <p:cNvPr id="921" name="Google Shape;921;g386fa9f7404_4_428"/>
          <p:cNvSpPr/>
          <p:nvPr/>
        </p:nvSpPr>
        <p:spPr>
          <a:xfrm>
            <a:off x="548640" y="4169664"/>
            <a:ext cx="11094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Two event categories:</a:t>
            </a:r>
            <a:endParaRPr b="0" i="0" sz="1600" u="none" cap="none" strike="noStrike">
              <a:solidFill>
                <a:schemeClr val="dk1"/>
              </a:solidFill>
              <a:latin typeface="Calibri"/>
              <a:ea typeface="Calibri"/>
              <a:cs typeface="Calibri"/>
              <a:sym typeface="Calibri"/>
            </a:endParaRPr>
          </a:p>
        </p:txBody>
      </p:sp>
      <p:sp>
        <p:nvSpPr>
          <p:cNvPr id="922" name="Google Shape;922;g386fa9f7404_4_428"/>
          <p:cNvSpPr/>
          <p:nvPr/>
        </p:nvSpPr>
        <p:spPr>
          <a:xfrm>
            <a:off x="487680" y="4632960"/>
            <a:ext cx="5340096" cy="1036320"/>
          </a:xfrm>
          <a:prstGeom prst="rect">
            <a:avLst/>
          </a:prstGeom>
          <a:solidFill>
            <a:srgbClr val="FDEBD0"/>
          </a:solidFill>
          <a:ln cap="flat" cmpd="sng" w="1905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g386fa9f7404_4_428"/>
          <p:cNvSpPr/>
          <p:nvPr/>
        </p:nvSpPr>
        <p:spPr>
          <a:xfrm>
            <a:off x="487680" y="4632960"/>
            <a:ext cx="999744" cy="103632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g386fa9f7404_4_428"/>
          <p:cNvSpPr/>
          <p:nvPr/>
        </p:nvSpPr>
        <p:spPr>
          <a:xfrm>
            <a:off x="487680" y="4632960"/>
            <a:ext cx="999744" cy="1036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+30</a:t>
            </a:r>
            <a:endParaRPr b="0" i="0" sz="2700" u="none" cap="none" strike="noStrike">
              <a:solidFill>
                <a:schemeClr val="dk1"/>
              </a:solidFill>
              <a:latin typeface="Calibri"/>
              <a:ea typeface="Calibri"/>
              <a:cs typeface="Calibri"/>
              <a:sym typeface="Calibri"/>
            </a:endParaRPr>
          </a:p>
        </p:txBody>
      </p:sp>
      <p:sp>
        <p:nvSpPr>
          <p:cNvPr id="925" name="Google Shape;925;g386fa9f7404_4_428"/>
          <p:cNvSpPr/>
          <p:nvPr/>
        </p:nvSpPr>
        <p:spPr>
          <a:xfrm>
            <a:off x="1609344" y="4693920"/>
            <a:ext cx="40233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6F1E"/>
              </a:buClr>
              <a:buSzPts val="1500"/>
              <a:buFont typeface="Calibri"/>
              <a:buNone/>
            </a:pPr>
            <a:r>
              <a:rPr b="1" i="0" lang="en-US" sz="1500" u="none" cap="none" strike="noStrike">
                <a:solidFill>
                  <a:srgbClr val="CA6F1E"/>
                </a:solidFill>
                <a:latin typeface="Calibri"/>
                <a:ea typeface="Calibri"/>
                <a:cs typeface="Calibri"/>
                <a:sym typeface="Calibri"/>
              </a:rPr>
              <a:t>file_write_executable</a:t>
            </a:r>
            <a:endParaRPr b="0" i="0" sz="1500" u="none" cap="none" strike="noStrike">
              <a:solidFill>
                <a:schemeClr val="dk1"/>
              </a:solidFill>
              <a:latin typeface="Calibri"/>
              <a:ea typeface="Calibri"/>
              <a:cs typeface="Calibri"/>
              <a:sym typeface="Calibri"/>
            </a:endParaRPr>
          </a:p>
        </p:txBody>
      </p:sp>
      <p:sp>
        <p:nvSpPr>
          <p:cNvPr id="926" name="Google Shape;926;g386fa9f7404_4_428"/>
          <p:cNvSpPr/>
          <p:nvPr/>
        </p:nvSpPr>
        <p:spPr>
          <a:xfrm>
            <a:off x="1609344" y="5084064"/>
            <a:ext cx="402336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Writing a .sh / .py / .elf / .bin to a suspicious path — malware dropping a new executable</a:t>
            </a:r>
            <a:endParaRPr b="0" i="0" sz="1300" u="none" cap="none" strike="noStrike">
              <a:solidFill>
                <a:schemeClr val="dk1"/>
              </a:solidFill>
              <a:latin typeface="Calibri"/>
              <a:ea typeface="Calibri"/>
              <a:cs typeface="Calibri"/>
              <a:sym typeface="Calibri"/>
            </a:endParaRPr>
          </a:p>
        </p:txBody>
      </p:sp>
      <p:sp>
        <p:nvSpPr>
          <p:cNvPr id="927" name="Google Shape;927;g386fa9f7404_4_428"/>
          <p:cNvSpPr/>
          <p:nvPr/>
        </p:nvSpPr>
        <p:spPr>
          <a:xfrm>
            <a:off x="6364224" y="4632960"/>
            <a:ext cx="5340096" cy="1036320"/>
          </a:xfrm>
          <a:prstGeom prst="rect">
            <a:avLst/>
          </a:prstGeom>
          <a:solidFill>
            <a:srgbClr val="D6EAF8"/>
          </a:solidFill>
          <a:ln cap="flat" cmpd="sng" w="1905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g386fa9f7404_4_428"/>
          <p:cNvSpPr/>
          <p:nvPr/>
        </p:nvSpPr>
        <p:spPr>
          <a:xfrm>
            <a:off x="6364224" y="4632960"/>
            <a:ext cx="829056" cy="103632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g386fa9f7404_4_428"/>
          <p:cNvSpPr/>
          <p:nvPr/>
        </p:nvSpPr>
        <p:spPr>
          <a:xfrm>
            <a:off x="6364224" y="4632960"/>
            <a:ext cx="829056" cy="1036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+5</a:t>
            </a:r>
            <a:endParaRPr b="0" i="0" sz="2700" u="none" cap="none" strike="noStrike">
              <a:solidFill>
                <a:schemeClr val="dk1"/>
              </a:solidFill>
              <a:latin typeface="Calibri"/>
              <a:ea typeface="Calibri"/>
              <a:cs typeface="Calibri"/>
              <a:sym typeface="Calibri"/>
            </a:endParaRPr>
          </a:p>
        </p:txBody>
      </p:sp>
      <p:sp>
        <p:nvSpPr>
          <p:cNvPr id="930" name="Google Shape;930;g386fa9f7404_4_428"/>
          <p:cNvSpPr/>
          <p:nvPr/>
        </p:nvSpPr>
        <p:spPr>
          <a:xfrm>
            <a:off x="7315200" y="4693920"/>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500"/>
              <a:buFont typeface="Calibri"/>
              <a:buNone/>
            </a:pPr>
            <a:r>
              <a:rPr b="1" i="0" lang="en-US" sz="1500" u="none" cap="none" strike="noStrike">
                <a:solidFill>
                  <a:srgbClr val="2471A3"/>
                </a:solidFill>
                <a:latin typeface="Calibri"/>
                <a:ea typeface="Calibri"/>
                <a:cs typeface="Calibri"/>
                <a:sym typeface="Calibri"/>
              </a:rPr>
              <a:t>file_system_write</a:t>
            </a:r>
            <a:endParaRPr b="0" i="0" sz="1500" u="none" cap="none" strike="noStrike">
              <a:solidFill>
                <a:schemeClr val="dk1"/>
              </a:solidFill>
              <a:latin typeface="Calibri"/>
              <a:ea typeface="Calibri"/>
              <a:cs typeface="Calibri"/>
              <a:sym typeface="Calibri"/>
            </a:endParaRPr>
          </a:p>
        </p:txBody>
      </p:sp>
      <p:sp>
        <p:nvSpPr>
          <p:cNvPr id="931" name="Google Shape;931;g386fa9f7404_4_428"/>
          <p:cNvSpPr/>
          <p:nvPr/>
        </p:nvSpPr>
        <p:spPr>
          <a:xfrm>
            <a:off x="7315200" y="5084064"/>
            <a:ext cx="420624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Writing a non-executable file to a suspicious path — lower weight, still recorded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5" name="Shape 935"/>
        <p:cNvGrpSpPr/>
        <p:nvPr/>
      </p:nvGrpSpPr>
      <p:grpSpPr>
        <a:xfrm>
          <a:off x="0" y="0"/>
          <a:ext cx="0" cy="0"/>
          <a:chOff x="0" y="0"/>
          <a:chExt cx="0" cy="0"/>
        </a:xfrm>
      </p:grpSpPr>
      <p:sp>
        <p:nvSpPr>
          <p:cNvPr id="936" name="Google Shape;936;g386fa9f7404_4_458"/>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g386fa9f7404_4_458"/>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4 — Monitor 2: Network</a:t>
            </a:r>
            <a:endParaRPr b="0" i="0" sz="2700" u="none" cap="none" strike="noStrike">
              <a:solidFill>
                <a:schemeClr val="dk1"/>
              </a:solidFill>
              <a:latin typeface="Calibri"/>
              <a:ea typeface="Calibri"/>
              <a:cs typeface="Calibri"/>
              <a:sym typeface="Calibri"/>
            </a:endParaRPr>
          </a:p>
        </p:txBody>
      </p:sp>
      <p:sp>
        <p:nvSpPr>
          <p:cNvPr id="938" name="Google Shape;938;g386fa9f7404_4_458"/>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6 — Network Monitor</a:t>
            </a:r>
            <a:endParaRPr b="0" i="0" sz="1100" u="none" cap="none" strike="noStrike">
              <a:solidFill>
                <a:schemeClr val="dk1"/>
              </a:solidFill>
              <a:latin typeface="Calibri"/>
              <a:ea typeface="Calibri"/>
              <a:cs typeface="Calibri"/>
              <a:sym typeface="Calibri"/>
            </a:endParaRPr>
          </a:p>
        </p:txBody>
      </p:sp>
      <p:sp>
        <p:nvSpPr>
          <p:cNvPr id="939" name="Google Shape;939;g386fa9f7404_4_458"/>
          <p:cNvSpPr/>
          <p:nvPr/>
        </p:nvSpPr>
        <p:spPr>
          <a:xfrm>
            <a:off x="487680" y="1072896"/>
            <a:ext cx="11216640" cy="792480"/>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g386fa9f7404_4_458"/>
          <p:cNvSpPr/>
          <p:nvPr/>
        </p:nvSpPr>
        <p:spPr>
          <a:xfrm>
            <a:off x="487680" y="1072896"/>
            <a:ext cx="121920" cy="79248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g386fa9f7404_4_458"/>
          <p:cNvSpPr/>
          <p:nvPr/>
        </p:nvSpPr>
        <p:spPr>
          <a:xfrm>
            <a:off x="755904" y="1072896"/>
            <a:ext cx="10789920" cy="792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0" i="0" lang="en-US" sz="1600" u="none" cap="none" strike="noStrike">
                <a:solidFill>
                  <a:srgbClr val="1B3A5C"/>
                </a:solidFill>
                <a:latin typeface="Calibri"/>
                <a:ea typeface="Calibri"/>
                <a:cs typeface="Calibri"/>
                <a:sym typeface="Calibri"/>
              </a:rPr>
              <a:t>C2 = Command &amp; Control. Once malware runs, it connects back to the attacker's server for instructions. Even a failed attempt is recorded by the kernel — and that is enough for us to catch it.</a:t>
            </a:r>
            <a:endParaRPr b="0" i="0" sz="1600" u="none" cap="none" strike="noStrike">
              <a:solidFill>
                <a:schemeClr val="dk1"/>
              </a:solidFill>
              <a:latin typeface="Calibri"/>
              <a:ea typeface="Calibri"/>
              <a:cs typeface="Calibri"/>
              <a:sym typeface="Calibri"/>
            </a:endParaRPr>
          </a:p>
        </p:txBody>
      </p:sp>
      <p:sp>
        <p:nvSpPr>
          <p:cNvPr id="942" name="Google Shape;942;g386fa9f7404_4_458"/>
          <p:cNvSpPr/>
          <p:nvPr/>
        </p:nvSpPr>
        <p:spPr>
          <a:xfrm>
            <a:off x="548640" y="2048256"/>
            <a:ext cx="1109472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Mechanism — baseline diff on /proc/net/tcp:</a:t>
            </a:r>
            <a:endParaRPr b="0" i="0" sz="1600" u="none" cap="none" strike="noStrike">
              <a:solidFill>
                <a:schemeClr val="dk1"/>
              </a:solidFill>
              <a:latin typeface="Calibri"/>
              <a:ea typeface="Calibri"/>
              <a:cs typeface="Calibri"/>
              <a:sym typeface="Calibri"/>
            </a:endParaRPr>
          </a:p>
        </p:txBody>
      </p:sp>
      <p:sp>
        <p:nvSpPr>
          <p:cNvPr id="943" name="Google Shape;943;g386fa9f7404_4_458"/>
          <p:cNvSpPr/>
          <p:nvPr/>
        </p:nvSpPr>
        <p:spPr>
          <a:xfrm>
            <a:off x="487680" y="2560320"/>
            <a:ext cx="11216640" cy="79248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g386fa9f7404_4_458"/>
          <p:cNvSpPr/>
          <p:nvPr/>
        </p:nvSpPr>
        <p:spPr>
          <a:xfrm>
            <a:off x="670560" y="2706624"/>
            <a:ext cx="243840" cy="24384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g386fa9f7404_4_458"/>
          <p:cNvSpPr/>
          <p:nvPr/>
        </p:nvSpPr>
        <p:spPr>
          <a:xfrm>
            <a:off x="1036320" y="2560320"/>
            <a:ext cx="2926080" cy="792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Before execution:</a:t>
            </a:r>
            <a:endParaRPr b="0" i="0" sz="1400" u="none" cap="none" strike="noStrike">
              <a:solidFill>
                <a:schemeClr val="dk1"/>
              </a:solidFill>
              <a:latin typeface="Calibri"/>
              <a:ea typeface="Calibri"/>
              <a:cs typeface="Calibri"/>
              <a:sym typeface="Calibri"/>
            </a:endParaRPr>
          </a:p>
        </p:txBody>
      </p:sp>
      <p:sp>
        <p:nvSpPr>
          <p:cNvPr id="946" name="Google Shape;946;g386fa9f7404_4_458"/>
          <p:cNvSpPr/>
          <p:nvPr/>
        </p:nvSpPr>
        <p:spPr>
          <a:xfrm>
            <a:off x="4084320" y="2560320"/>
            <a:ext cx="7437120" cy="792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Take a snapshot of /proc/net/tcp — the kernel's live list of all TCP connections on the system. This is the baseline.</a:t>
            </a:r>
            <a:endParaRPr b="0" i="0" sz="1400" u="none" cap="none" strike="noStrike">
              <a:solidFill>
                <a:schemeClr val="dk1"/>
              </a:solidFill>
              <a:latin typeface="Calibri"/>
              <a:ea typeface="Calibri"/>
              <a:cs typeface="Calibri"/>
              <a:sym typeface="Calibri"/>
            </a:endParaRPr>
          </a:p>
        </p:txBody>
      </p:sp>
      <p:sp>
        <p:nvSpPr>
          <p:cNvPr id="947" name="Google Shape;947;g386fa9f7404_4_458"/>
          <p:cNvSpPr/>
          <p:nvPr/>
        </p:nvSpPr>
        <p:spPr>
          <a:xfrm>
            <a:off x="487680" y="3438144"/>
            <a:ext cx="11216640" cy="79248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g386fa9f7404_4_458"/>
          <p:cNvSpPr/>
          <p:nvPr/>
        </p:nvSpPr>
        <p:spPr>
          <a:xfrm>
            <a:off x="670560" y="3584448"/>
            <a:ext cx="243840" cy="24384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g386fa9f7404_4_458"/>
          <p:cNvSpPr/>
          <p:nvPr/>
        </p:nvSpPr>
        <p:spPr>
          <a:xfrm>
            <a:off x="1036320" y="3438144"/>
            <a:ext cx="2926080" cy="792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During execution (every 200ms):</a:t>
            </a:r>
            <a:endParaRPr b="0" i="0" sz="1400" u="none" cap="none" strike="noStrike">
              <a:solidFill>
                <a:schemeClr val="dk1"/>
              </a:solidFill>
              <a:latin typeface="Calibri"/>
              <a:ea typeface="Calibri"/>
              <a:cs typeface="Calibri"/>
              <a:sym typeface="Calibri"/>
            </a:endParaRPr>
          </a:p>
        </p:txBody>
      </p:sp>
      <p:sp>
        <p:nvSpPr>
          <p:cNvPr id="950" name="Google Shape;950;g386fa9f7404_4_458"/>
          <p:cNvSpPr/>
          <p:nvPr/>
        </p:nvSpPr>
        <p:spPr>
          <a:xfrm>
            <a:off x="4084320" y="3438144"/>
            <a:ext cx="7437120" cy="792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Re-read /proc/net/tcp and diff against the baseline. Any new row = new connection attempt. Every 200ms poll.</a:t>
            </a:r>
            <a:endParaRPr b="0" i="0" sz="1400" u="none" cap="none" strike="noStrike">
              <a:solidFill>
                <a:schemeClr val="dk1"/>
              </a:solidFill>
              <a:latin typeface="Calibri"/>
              <a:ea typeface="Calibri"/>
              <a:cs typeface="Calibri"/>
              <a:sym typeface="Calibri"/>
            </a:endParaRPr>
          </a:p>
        </p:txBody>
      </p:sp>
      <p:sp>
        <p:nvSpPr>
          <p:cNvPr id="951" name="Google Shape;951;g386fa9f7404_4_458"/>
          <p:cNvSpPr/>
          <p:nvPr/>
        </p:nvSpPr>
        <p:spPr>
          <a:xfrm>
            <a:off x="487680" y="4315968"/>
            <a:ext cx="11216640" cy="79248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g386fa9f7404_4_458"/>
          <p:cNvSpPr/>
          <p:nvPr/>
        </p:nvSpPr>
        <p:spPr>
          <a:xfrm>
            <a:off x="670560" y="4462272"/>
            <a:ext cx="243840" cy="24384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g386fa9f7404_4_458"/>
          <p:cNvSpPr/>
          <p:nvPr/>
        </p:nvSpPr>
        <p:spPr>
          <a:xfrm>
            <a:off x="1036320" y="4315968"/>
            <a:ext cx="2926080" cy="792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State 02 = SYN_SENT:</a:t>
            </a:r>
            <a:endParaRPr b="0" i="0" sz="1400" u="none" cap="none" strike="noStrike">
              <a:solidFill>
                <a:schemeClr val="dk1"/>
              </a:solidFill>
              <a:latin typeface="Calibri"/>
              <a:ea typeface="Calibri"/>
              <a:cs typeface="Calibri"/>
              <a:sym typeface="Calibri"/>
            </a:endParaRPr>
          </a:p>
        </p:txBody>
      </p:sp>
      <p:sp>
        <p:nvSpPr>
          <p:cNvPr id="954" name="Google Shape;954;g386fa9f7404_4_458"/>
          <p:cNvSpPr/>
          <p:nvPr/>
        </p:nvSpPr>
        <p:spPr>
          <a:xfrm>
            <a:off x="4084320" y="4315968"/>
            <a:ext cx="7437120" cy="792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Even a failed connection attempt appears in the table with state 02. We catch it before the connection is established — or even if it never is.</a:t>
            </a:r>
            <a:endParaRPr b="0" i="0" sz="1400" u="none" cap="none" strike="noStrike">
              <a:solidFill>
                <a:schemeClr val="dk1"/>
              </a:solidFill>
              <a:latin typeface="Calibri"/>
              <a:ea typeface="Calibri"/>
              <a:cs typeface="Calibri"/>
              <a:sym typeface="Calibri"/>
            </a:endParaRPr>
          </a:p>
        </p:txBody>
      </p:sp>
      <p:sp>
        <p:nvSpPr>
          <p:cNvPr id="955" name="Google Shape;955;g386fa9f7404_4_458"/>
          <p:cNvSpPr/>
          <p:nvPr/>
        </p:nvSpPr>
        <p:spPr>
          <a:xfrm>
            <a:off x="487680" y="5242560"/>
            <a:ext cx="11216640" cy="1219200"/>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g386fa9f7404_4_458"/>
          <p:cNvSpPr/>
          <p:nvPr/>
        </p:nvSpPr>
        <p:spPr>
          <a:xfrm>
            <a:off x="731520" y="5266944"/>
            <a:ext cx="292608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g386fa9f7404_4_458"/>
          <p:cNvSpPr/>
          <p:nvPr/>
        </p:nvSpPr>
        <p:spPr>
          <a:xfrm>
            <a:off x="731520" y="5266944"/>
            <a:ext cx="292608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000"/>
              <a:buFont typeface="Calibri"/>
              <a:buNone/>
            </a:pPr>
            <a:r>
              <a:rPr b="1" i="0" lang="en-US" sz="1000" u="none" cap="none" strike="noStrike">
                <a:solidFill>
                  <a:srgbClr val="AED6F1"/>
                </a:solidFill>
                <a:latin typeface="Calibri"/>
                <a:ea typeface="Calibri"/>
                <a:cs typeface="Calibri"/>
                <a:sym typeface="Calibri"/>
              </a:rPr>
              <a:t>WORKED EXAMPLE — malware.py</a:t>
            </a:r>
            <a:endParaRPr b="0" i="0" sz="1000" u="none" cap="none" strike="noStrike">
              <a:solidFill>
                <a:schemeClr val="dk1"/>
              </a:solidFill>
              <a:latin typeface="Calibri"/>
              <a:ea typeface="Calibri"/>
              <a:cs typeface="Calibri"/>
              <a:sym typeface="Calibri"/>
            </a:endParaRPr>
          </a:p>
        </p:txBody>
      </p:sp>
      <p:sp>
        <p:nvSpPr>
          <p:cNvPr id="958" name="Google Shape;958;g386fa9f7404_4_458"/>
          <p:cNvSpPr/>
          <p:nvPr/>
        </p:nvSpPr>
        <p:spPr>
          <a:xfrm>
            <a:off x="731520" y="5669280"/>
            <a:ext cx="841248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socket.connect('203.0.113.42', 4444)  — connection fails (no real internet in sandbox)</a:t>
            </a:r>
            <a:endParaRPr b="0" i="0" sz="1500" u="none" cap="none" strike="noStrike">
              <a:solidFill>
                <a:schemeClr val="dk1"/>
              </a:solidFill>
              <a:latin typeface="Calibri"/>
              <a:ea typeface="Calibri"/>
              <a:cs typeface="Calibri"/>
              <a:sym typeface="Calibri"/>
            </a:endParaRPr>
          </a:p>
        </p:txBody>
      </p:sp>
      <p:sp>
        <p:nvSpPr>
          <p:cNvPr id="959" name="Google Shape;959;g386fa9f7404_4_458"/>
          <p:cNvSpPr/>
          <p:nvPr/>
        </p:nvSpPr>
        <p:spPr>
          <a:xfrm>
            <a:off x="731520" y="6047232"/>
            <a:ext cx="67056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300"/>
              <a:buFont typeface="Calibri"/>
              <a:buNone/>
            </a:pPr>
            <a:r>
              <a:rPr b="0" i="0" lang="en-US" sz="1300" u="none" cap="none" strike="noStrike">
                <a:solidFill>
                  <a:srgbClr val="AED6F1"/>
                </a:solidFill>
                <a:latin typeface="Calibri"/>
                <a:ea typeface="Calibri"/>
                <a:cs typeface="Calibri"/>
                <a:sym typeface="Calibri"/>
              </a:rPr>
              <a:t>→  SYN_SENT in /proc/net/tcp  →  network_connect  →  +25 pts</a:t>
            </a:r>
            <a:endParaRPr b="0" i="0" sz="1300" u="none" cap="none" strike="noStrike">
              <a:solidFill>
                <a:schemeClr val="dk1"/>
              </a:solidFill>
              <a:latin typeface="Calibri"/>
              <a:ea typeface="Calibri"/>
              <a:cs typeface="Calibri"/>
              <a:sym typeface="Calibri"/>
            </a:endParaRPr>
          </a:p>
        </p:txBody>
      </p:sp>
      <p:sp>
        <p:nvSpPr>
          <p:cNvPr id="960" name="Google Shape;960;g386fa9f7404_4_458"/>
          <p:cNvSpPr/>
          <p:nvPr/>
        </p:nvSpPr>
        <p:spPr>
          <a:xfrm>
            <a:off x="7656576" y="6047232"/>
            <a:ext cx="390144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 IOC match at Stage 6  →  +20 more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4" name="Shape 964"/>
        <p:cNvGrpSpPr/>
        <p:nvPr/>
      </p:nvGrpSpPr>
      <p:grpSpPr>
        <a:xfrm>
          <a:off x="0" y="0"/>
          <a:ext cx="0" cy="0"/>
          <a:chOff x="0" y="0"/>
          <a:chExt cx="0" cy="0"/>
        </a:xfrm>
      </p:grpSpPr>
      <p:sp>
        <p:nvSpPr>
          <p:cNvPr id="965" name="Google Shape;965;g386fa9f7404_4_486"/>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g386fa9f7404_4_486"/>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Monitor 2 — How a C2 Attack Unfolds</a:t>
            </a:r>
            <a:endParaRPr b="0" i="0" sz="2700" u="none" cap="none" strike="noStrike">
              <a:solidFill>
                <a:schemeClr val="dk1"/>
              </a:solidFill>
              <a:latin typeface="Calibri"/>
              <a:ea typeface="Calibri"/>
              <a:cs typeface="Calibri"/>
              <a:sym typeface="Calibri"/>
            </a:endParaRPr>
          </a:p>
        </p:txBody>
      </p:sp>
      <p:sp>
        <p:nvSpPr>
          <p:cNvPr id="967" name="Google Shape;967;g386fa9f7404_4_486"/>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Network Monitor</a:t>
            </a:r>
            <a:endParaRPr b="0" i="0" sz="1100" u="none" cap="none" strike="noStrike">
              <a:solidFill>
                <a:schemeClr val="dk1"/>
              </a:solidFill>
              <a:latin typeface="Calibri"/>
              <a:ea typeface="Calibri"/>
              <a:cs typeface="Calibri"/>
              <a:sym typeface="Calibri"/>
            </a:endParaRPr>
          </a:p>
        </p:txBody>
      </p:sp>
      <p:sp>
        <p:nvSpPr>
          <p:cNvPr id="968" name="Google Shape;968;g386fa9f7404_4_486"/>
          <p:cNvSpPr/>
          <p:nvPr/>
        </p:nvSpPr>
        <p:spPr>
          <a:xfrm>
            <a:off x="487680" y="1072896"/>
            <a:ext cx="11216640" cy="63398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g386fa9f7404_4_486"/>
          <p:cNvSpPr/>
          <p:nvPr/>
        </p:nvSpPr>
        <p:spPr>
          <a:xfrm>
            <a:off x="487680" y="1072896"/>
            <a:ext cx="121920" cy="633984"/>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g386fa9f7404_4_486"/>
          <p:cNvSpPr/>
          <p:nvPr/>
        </p:nvSpPr>
        <p:spPr>
          <a:xfrm>
            <a:off x="755904" y="1072896"/>
            <a:ext cx="10789920" cy="6339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The most dangerous thing malware does is establishing a communication channel back to the attacker — Command &amp; Control.</a:t>
            </a:r>
            <a:endParaRPr b="0" i="0" sz="1700" u="none" cap="none" strike="noStrike">
              <a:solidFill>
                <a:schemeClr val="dk1"/>
              </a:solidFill>
              <a:latin typeface="Calibri"/>
              <a:ea typeface="Calibri"/>
              <a:cs typeface="Calibri"/>
              <a:sym typeface="Calibri"/>
            </a:endParaRPr>
          </a:p>
        </p:txBody>
      </p:sp>
      <p:sp>
        <p:nvSpPr>
          <p:cNvPr id="971" name="Google Shape;971;g386fa9f7404_4_486"/>
          <p:cNvSpPr/>
          <p:nvPr/>
        </p:nvSpPr>
        <p:spPr>
          <a:xfrm>
            <a:off x="548640" y="1889760"/>
            <a:ext cx="11094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Step-by-step: what happens when malware with C2 capability runs in our sandbox:</a:t>
            </a:r>
            <a:endParaRPr b="0" i="0" sz="1600" u="none" cap="none" strike="noStrike">
              <a:solidFill>
                <a:schemeClr val="dk1"/>
              </a:solidFill>
              <a:latin typeface="Calibri"/>
              <a:ea typeface="Calibri"/>
              <a:cs typeface="Calibri"/>
              <a:sym typeface="Calibri"/>
            </a:endParaRPr>
          </a:p>
        </p:txBody>
      </p:sp>
      <p:sp>
        <p:nvSpPr>
          <p:cNvPr id="972" name="Google Shape;972;g386fa9f7404_4_486"/>
          <p:cNvSpPr/>
          <p:nvPr/>
        </p:nvSpPr>
        <p:spPr>
          <a:xfrm>
            <a:off x="487680" y="2438400"/>
            <a:ext cx="1975104" cy="2901696"/>
          </a:xfrm>
          <a:prstGeom prst="rect">
            <a:avLst/>
          </a:prstGeom>
          <a:solidFill>
            <a:srgbClr val="EAF4FB"/>
          </a:solidFill>
          <a:ln cap="flat" cmpd="sng" w="12700">
            <a:solidFill>
              <a:srgbClr val="717D7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g386fa9f7404_4_486"/>
          <p:cNvSpPr/>
          <p:nvPr/>
        </p:nvSpPr>
        <p:spPr>
          <a:xfrm>
            <a:off x="1146048" y="2560320"/>
            <a:ext cx="658368" cy="658368"/>
          </a:xfrm>
          <a:prstGeom prst="ellipse">
            <a:avLst/>
          </a:prstGeom>
          <a:solidFill>
            <a:srgbClr val="717D7E"/>
          </a:solidFill>
          <a:ln cap="flat" cmpd="sng" w="12700">
            <a:solidFill>
              <a:srgbClr val="717D7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g386fa9f7404_4_486"/>
          <p:cNvSpPr/>
          <p:nvPr/>
        </p:nvSpPr>
        <p:spPr>
          <a:xfrm>
            <a:off x="1146048" y="2560320"/>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1</a:t>
            </a:r>
            <a:endParaRPr b="0" i="0" sz="1900" u="none" cap="none" strike="noStrike">
              <a:solidFill>
                <a:schemeClr val="dk1"/>
              </a:solidFill>
              <a:latin typeface="Calibri"/>
              <a:ea typeface="Calibri"/>
              <a:cs typeface="Calibri"/>
              <a:sym typeface="Calibri"/>
            </a:endParaRPr>
          </a:p>
        </p:txBody>
      </p:sp>
      <p:sp>
        <p:nvSpPr>
          <p:cNvPr id="975" name="Google Shape;975;g386fa9f7404_4_486"/>
          <p:cNvSpPr/>
          <p:nvPr/>
        </p:nvSpPr>
        <p:spPr>
          <a:xfrm>
            <a:off x="609600" y="3340608"/>
            <a:ext cx="1731264"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File arrives</a:t>
            </a:r>
            <a:endParaRPr b="0" i="0" sz="1400" u="none" cap="none" strike="noStrike">
              <a:solidFill>
                <a:schemeClr val="dk1"/>
              </a:solidFill>
              <a:latin typeface="Calibri"/>
              <a:ea typeface="Calibri"/>
              <a:cs typeface="Calibri"/>
              <a:sym typeface="Calibri"/>
            </a:endParaRPr>
          </a:p>
        </p:txBody>
      </p:sp>
      <p:sp>
        <p:nvSpPr>
          <p:cNvPr id="976" name="Google Shape;976;g386fa9f7404_4_486"/>
          <p:cNvSpPr/>
          <p:nvPr/>
        </p:nvSpPr>
        <p:spPr>
          <a:xfrm>
            <a:off x="609600" y="3852672"/>
            <a:ext cx="1731264" cy="13655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Disguised as drone data. Passes initial format checks by the File Router.</a:t>
            </a:r>
            <a:endParaRPr b="0" i="0" sz="1300" u="none" cap="none" strike="noStrike">
              <a:solidFill>
                <a:schemeClr val="dk1"/>
              </a:solidFill>
              <a:latin typeface="Calibri"/>
              <a:ea typeface="Calibri"/>
              <a:cs typeface="Calibri"/>
              <a:sym typeface="Calibri"/>
            </a:endParaRPr>
          </a:p>
        </p:txBody>
      </p:sp>
      <p:sp>
        <p:nvSpPr>
          <p:cNvPr id="977" name="Google Shape;977;g386fa9f7404_4_486"/>
          <p:cNvSpPr/>
          <p:nvPr/>
        </p:nvSpPr>
        <p:spPr>
          <a:xfrm>
            <a:off x="2474976" y="3511296"/>
            <a:ext cx="195072"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000"/>
              <a:buFont typeface="Calibri"/>
              <a:buNone/>
            </a:pPr>
            <a:r>
              <a:rPr b="1" i="0" lang="en-US" sz="2000" u="none" cap="none" strike="noStrike">
                <a:solidFill>
                  <a:srgbClr val="2471A3"/>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978" name="Google Shape;978;g386fa9f7404_4_486"/>
          <p:cNvSpPr/>
          <p:nvPr/>
        </p:nvSpPr>
        <p:spPr>
          <a:xfrm>
            <a:off x="2657856" y="2438400"/>
            <a:ext cx="1975104" cy="2901696"/>
          </a:xfrm>
          <a:prstGeom prst="rect">
            <a:avLst/>
          </a:prstGeom>
          <a:solidFill>
            <a:srgbClr val="D6EAF8"/>
          </a:solidFill>
          <a:ln cap="flat" cmpd="sng" w="127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g386fa9f7404_4_486"/>
          <p:cNvSpPr/>
          <p:nvPr/>
        </p:nvSpPr>
        <p:spPr>
          <a:xfrm>
            <a:off x="3316224" y="2560320"/>
            <a:ext cx="658368" cy="65836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g386fa9f7404_4_486"/>
          <p:cNvSpPr/>
          <p:nvPr/>
        </p:nvSpPr>
        <p:spPr>
          <a:xfrm>
            <a:off x="3316224" y="2560320"/>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2</a:t>
            </a:r>
            <a:endParaRPr b="0" i="0" sz="1900" u="none" cap="none" strike="noStrike">
              <a:solidFill>
                <a:schemeClr val="dk1"/>
              </a:solidFill>
              <a:latin typeface="Calibri"/>
              <a:ea typeface="Calibri"/>
              <a:cs typeface="Calibri"/>
              <a:sym typeface="Calibri"/>
            </a:endParaRPr>
          </a:p>
        </p:txBody>
      </p:sp>
      <p:sp>
        <p:nvSpPr>
          <p:cNvPr id="981" name="Google Shape;981;g386fa9f7404_4_486"/>
          <p:cNvSpPr/>
          <p:nvPr/>
        </p:nvSpPr>
        <p:spPr>
          <a:xfrm>
            <a:off x="2779776" y="3340608"/>
            <a:ext cx="1731264"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Sandbox executes</a:t>
            </a:r>
            <a:endParaRPr b="0" i="0" sz="1400" u="none" cap="none" strike="noStrike">
              <a:solidFill>
                <a:schemeClr val="dk1"/>
              </a:solidFill>
              <a:latin typeface="Calibri"/>
              <a:ea typeface="Calibri"/>
              <a:cs typeface="Calibri"/>
              <a:sym typeface="Calibri"/>
            </a:endParaRPr>
          </a:p>
        </p:txBody>
      </p:sp>
      <p:sp>
        <p:nvSpPr>
          <p:cNvPr id="982" name="Google Shape;982;g386fa9f7404_4_486"/>
          <p:cNvSpPr/>
          <p:nvPr/>
        </p:nvSpPr>
        <p:spPr>
          <a:xfrm>
            <a:off x="2779776" y="3852672"/>
            <a:ext cx="1731264" cy="13655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Stage 3 limits in place. Four monitors start polling every 200ms.</a:t>
            </a:r>
            <a:endParaRPr b="0" i="0" sz="1300" u="none" cap="none" strike="noStrike">
              <a:solidFill>
                <a:schemeClr val="dk1"/>
              </a:solidFill>
              <a:latin typeface="Calibri"/>
              <a:ea typeface="Calibri"/>
              <a:cs typeface="Calibri"/>
              <a:sym typeface="Calibri"/>
            </a:endParaRPr>
          </a:p>
        </p:txBody>
      </p:sp>
      <p:sp>
        <p:nvSpPr>
          <p:cNvPr id="983" name="Google Shape;983;g386fa9f7404_4_486"/>
          <p:cNvSpPr/>
          <p:nvPr/>
        </p:nvSpPr>
        <p:spPr>
          <a:xfrm>
            <a:off x="4645152" y="3511296"/>
            <a:ext cx="195072"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000"/>
              <a:buFont typeface="Calibri"/>
              <a:buNone/>
            </a:pPr>
            <a:r>
              <a:rPr b="1" i="0" lang="en-US" sz="2000" u="none" cap="none" strike="noStrike">
                <a:solidFill>
                  <a:srgbClr val="2471A3"/>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984" name="Google Shape;984;g386fa9f7404_4_486"/>
          <p:cNvSpPr/>
          <p:nvPr/>
        </p:nvSpPr>
        <p:spPr>
          <a:xfrm>
            <a:off x="4828032" y="2438400"/>
            <a:ext cx="1975104" cy="2901696"/>
          </a:xfrm>
          <a:prstGeom prst="rect">
            <a:avLst/>
          </a:prstGeom>
          <a:solidFill>
            <a:srgbClr val="FDEBD0"/>
          </a:solidFill>
          <a:ln cap="flat" cmpd="sng" w="1270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g386fa9f7404_4_486"/>
          <p:cNvSpPr/>
          <p:nvPr/>
        </p:nvSpPr>
        <p:spPr>
          <a:xfrm>
            <a:off x="5486400" y="2560320"/>
            <a:ext cx="658368" cy="658368"/>
          </a:xfrm>
          <a:prstGeom prst="ellipse">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g386fa9f7404_4_486"/>
          <p:cNvSpPr/>
          <p:nvPr/>
        </p:nvSpPr>
        <p:spPr>
          <a:xfrm>
            <a:off x="5486400" y="2560320"/>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3</a:t>
            </a:r>
            <a:endParaRPr b="0" i="0" sz="1900" u="none" cap="none" strike="noStrike">
              <a:solidFill>
                <a:schemeClr val="dk1"/>
              </a:solidFill>
              <a:latin typeface="Calibri"/>
              <a:ea typeface="Calibri"/>
              <a:cs typeface="Calibri"/>
              <a:sym typeface="Calibri"/>
            </a:endParaRPr>
          </a:p>
        </p:txBody>
      </p:sp>
      <p:sp>
        <p:nvSpPr>
          <p:cNvPr id="987" name="Google Shape;987;g386fa9f7404_4_486"/>
          <p:cNvSpPr/>
          <p:nvPr/>
        </p:nvSpPr>
        <p:spPr>
          <a:xfrm>
            <a:off x="4949952" y="3340608"/>
            <a:ext cx="1731264"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Calls home</a:t>
            </a:r>
            <a:endParaRPr b="0" i="0" sz="1400" u="none" cap="none" strike="noStrike">
              <a:solidFill>
                <a:schemeClr val="dk1"/>
              </a:solidFill>
              <a:latin typeface="Calibri"/>
              <a:ea typeface="Calibri"/>
              <a:cs typeface="Calibri"/>
              <a:sym typeface="Calibri"/>
            </a:endParaRPr>
          </a:p>
        </p:txBody>
      </p:sp>
      <p:sp>
        <p:nvSpPr>
          <p:cNvPr id="988" name="Google Shape;988;g386fa9f7404_4_486"/>
          <p:cNvSpPr/>
          <p:nvPr/>
        </p:nvSpPr>
        <p:spPr>
          <a:xfrm>
            <a:off x="4949952" y="3852672"/>
            <a:ext cx="1731264" cy="13655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Malware issues a TCP connect() to the attacker's server. This is the C2 callback.</a:t>
            </a:r>
            <a:endParaRPr b="0" i="0" sz="1300" u="none" cap="none" strike="noStrike">
              <a:solidFill>
                <a:schemeClr val="dk1"/>
              </a:solidFill>
              <a:latin typeface="Calibri"/>
              <a:ea typeface="Calibri"/>
              <a:cs typeface="Calibri"/>
              <a:sym typeface="Calibri"/>
            </a:endParaRPr>
          </a:p>
        </p:txBody>
      </p:sp>
      <p:sp>
        <p:nvSpPr>
          <p:cNvPr id="989" name="Google Shape;989;g386fa9f7404_4_486"/>
          <p:cNvSpPr/>
          <p:nvPr/>
        </p:nvSpPr>
        <p:spPr>
          <a:xfrm>
            <a:off x="6815328" y="3511296"/>
            <a:ext cx="195072"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000"/>
              <a:buFont typeface="Calibri"/>
              <a:buNone/>
            </a:pPr>
            <a:r>
              <a:rPr b="1" i="0" lang="en-US" sz="2000" u="none" cap="none" strike="noStrike">
                <a:solidFill>
                  <a:srgbClr val="2471A3"/>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990" name="Google Shape;990;g386fa9f7404_4_486"/>
          <p:cNvSpPr/>
          <p:nvPr/>
        </p:nvSpPr>
        <p:spPr>
          <a:xfrm>
            <a:off x="6998208" y="2438400"/>
            <a:ext cx="1975104" cy="2901696"/>
          </a:xfrm>
          <a:prstGeom prst="rect">
            <a:avLst/>
          </a:prstGeom>
          <a:solidFill>
            <a:srgbClr val="D5F5E3"/>
          </a:solidFill>
          <a:ln cap="flat" cmpd="sng" w="2540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g386fa9f7404_4_486"/>
          <p:cNvSpPr/>
          <p:nvPr/>
        </p:nvSpPr>
        <p:spPr>
          <a:xfrm>
            <a:off x="7656576" y="2560320"/>
            <a:ext cx="658368" cy="658368"/>
          </a:xfrm>
          <a:prstGeom prst="ellipse">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g386fa9f7404_4_486"/>
          <p:cNvSpPr/>
          <p:nvPr/>
        </p:nvSpPr>
        <p:spPr>
          <a:xfrm>
            <a:off x="7656576" y="2560320"/>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4</a:t>
            </a:r>
            <a:endParaRPr b="0" i="0" sz="1900" u="none" cap="none" strike="noStrike">
              <a:solidFill>
                <a:schemeClr val="dk1"/>
              </a:solidFill>
              <a:latin typeface="Calibri"/>
              <a:ea typeface="Calibri"/>
              <a:cs typeface="Calibri"/>
              <a:sym typeface="Calibri"/>
            </a:endParaRPr>
          </a:p>
        </p:txBody>
      </p:sp>
      <p:sp>
        <p:nvSpPr>
          <p:cNvPr id="993" name="Google Shape;993;g386fa9f7404_4_486"/>
          <p:cNvSpPr/>
          <p:nvPr/>
        </p:nvSpPr>
        <p:spPr>
          <a:xfrm>
            <a:off x="7120128" y="3340608"/>
            <a:ext cx="1731264"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8449"/>
              </a:buClr>
              <a:buSzPts val="1400"/>
              <a:buFont typeface="Calibri"/>
              <a:buNone/>
            </a:pPr>
            <a:r>
              <a:rPr b="1" i="0" lang="en-US" sz="1400" u="none" cap="none" strike="noStrike">
                <a:solidFill>
                  <a:srgbClr val="1E8449"/>
                </a:solidFill>
                <a:latin typeface="Calibri"/>
                <a:ea typeface="Calibri"/>
                <a:cs typeface="Calibri"/>
                <a:sym typeface="Calibri"/>
              </a:rPr>
              <a:t>Kernel records it</a:t>
            </a:r>
            <a:endParaRPr b="0" i="0" sz="1400" u="none" cap="none" strike="noStrike">
              <a:solidFill>
                <a:schemeClr val="dk1"/>
              </a:solidFill>
              <a:latin typeface="Calibri"/>
              <a:ea typeface="Calibri"/>
              <a:cs typeface="Calibri"/>
              <a:sym typeface="Calibri"/>
            </a:endParaRPr>
          </a:p>
        </p:txBody>
      </p:sp>
      <p:sp>
        <p:nvSpPr>
          <p:cNvPr id="994" name="Google Shape;994;g386fa9f7404_4_486"/>
          <p:cNvSpPr/>
          <p:nvPr/>
        </p:nvSpPr>
        <p:spPr>
          <a:xfrm>
            <a:off x="7120128" y="3852672"/>
            <a:ext cx="1731264" cy="13655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The kernel adds SYN_SENT to /proc/net/tcp immediately — before success or failure.</a:t>
            </a:r>
            <a:endParaRPr b="0" i="0" sz="1300" u="none" cap="none" strike="noStrike">
              <a:solidFill>
                <a:schemeClr val="dk1"/>
              </a:solidFill>
              <a:latin typeface="Calibri"/>
              <a:ea typeface="Calibri"/>
              <a:cs typeface="Calibri"/>
              <a:sym typeface="Calibri"/>
            </a:endParaRPr>
          </a:p>
        </p:txBody>
      </p:sp>
      <p:sp>
        <p:nvSpPr>
          <p:cNvPr id="995" name="Google Shape;995;g386fa9f7404_4_486"/>
          <p:cNvSpPr/>
          <p:nvPr/>
        </p:nvSpPr>
        <p:spPr>
          <a:xfrm>
            <a:off x="8985504" y="3511296"/>
            <a:ext cx="195072"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2000"/>
              <a:buFont typeface="Calibri"/>
              <a:buNone/>
            </a:pPr>
            <a:r>
              <a:rPr b="1" i="0" lang="en-US" sz="2000" u="none" cap="none" strike="noStrike">
                <a:solidFill>
                  <a:srgbClr val="2471A3"/>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996" name="Google Shape;996;g386fa9f7404_4_486"/>
          <p:cNvSpPr/>
          <p:nvPr/>
        </p:nvSpPr>
        <p:spPr>
          <a:xfrm>
            <a:off x="9168384" y="2438400"/>
            <a:ext cx="1975104" cy="2901696"/>
          </a:xfrm>
          <a:prstGeom prst="rect">
            <a:avLst/>
          </a:prstGeom>
          <a:solidFill>
            <a:srgbClr val="D5F5E3"/>
          </a:solidFill>
          <a:ln cap="flat" cmpd="sng" w="2540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g386fa9f7404_4_486"/>
          <p:cNvSpPr/>
          <p:nvPr/>
        </p:nvSpPr>
        <p:spPr>
          <a:xfrm>
            <a:off x="9826752" y="2560320"/>
            <a:ext cx="658368" cy="658368"/>
          </a:xfrm>
          <a:prstGeom prst="ellipse">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g386fa9f7404_4_486"/>
          <p:cNvSpPr/>
          <p:nvPr/>
        </p:nvSpPr>
        <p:spPr>
          <a:xfrm>
            <a:off x="9826752" y="2560320"/>
            <a:ext cx="658368" cy="6583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5</a:t>
            </a:r>
            <a:endParaRPr b="0" i="0" sz="1900" u="none" cap="none" strike="noStrike">
              <a:solidFill>
                <a:schemeClr val="dk1"/>
              </a:solidFill>
              <a:latin typeface="Calibri"/>
              <a:ea typeface="Calibri"/>
              <a:cs typeface="Calibri"/>
              <a:sym typeface="Calibri"/>
            </a:endParaRPr>
          </a:p>
        </p:txBody>
      </p:sp>
      <p:sp>
        <p:nvSpPr>
          <p:cNvPr id="999" name="Google Shape;999;g386fa9f7404_4_486"/>
          <p:cNvSpPr/>
          <p:nvPr/>
        </p:nvSpPr>
        <p:spPr>
          <a:xfrm>
            <a:off x="9290304" y="3340608"/>
            <a:ext cx="1731264"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8449"/>
              </a:buClr>
              <a:buSzPts val="1400"/>
              <a:buFont typeface="Calibri"/>
              <a:buNone/>
            </a:pPr>
            <a:r>
              <a:rPr b="1" i="0" lang="en-US" sz="1400" u="none" cap="none" strike="noStrike">
                <a:solidFill>
                  <a:srgbClr val="1E8449"/>
                </a:solidFill>
                <a:latin typeface="Calibri"/>
                <a:ea typeface="Calibri"/>
                <a:cs typeface="Calibri"/>
                <a:sym typeface="Calibri"/>
              </a:rPr>
              <a:t>Monitor catches it</a:t>
            </a:r>
            <a:endParaRPr b="0" i="0" sz="1400" u="none" cap="none" strike="noStrike">
              <a:solidFill>
                <a:schemeClr val="dk1"/>
              </a:solidFill>
              <a:latin typeface="Calibri"/>
              <a:ea typeface="Calibri"/>
              <a:cs typeface="Calibri"/>
              <a:sym typeface="Calibri"/>
            </a:endParaRPr>
          </a:p>
        </p:txBody>
      </p:sp>
      <p:sp>
        <p:nvSpPr>
          <p:cNvPr id="1000" name="Google Shape;1000;g386fa9f7404_4_486"/>
          <p:cNvSpPr/>
          <p:nvPr/>
        </p:nvSpPr>
        <p:spPr>
          <a:xfrm>
            <a:off x="9290304" y="3852672"/>
            <a:ext cx="1731264" cy="136550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Next 200ms poll: diff detects the new row. network_connect event. +25 points.</a:t>
            </a:r>
            <a:endParaRPr b="0" i="0" sz="1300" u="none" cap="none" strike="noStrike">
              <a:solidFill>
                <a:schemeClr val="dk1"/>
              </a:solidFill>
              <a:latin typeface="Calibri"/>
              <a:ea typeface="Calibri"/>
              <a:cs typeface="Calibri"/>
              <a:sym typeface="Calibri"/>
            </a:endParaRPr>
          </a:p>
        </p:txBody>
      </p:sp>
      <p:sp>
        <p:nvSpPr>
          <p:cNvPr id="1001" name="Google Shape;1001;g386fa9f7404_4_486"/>
          <p:cNvSpPr/>
          <p:nvPr/>
        </p:nvSpPr>
        <p:spPr>
          <a:xfrm>
            <a:off x="487680" y="5632704"/>
            <a:ext cx="11216640" cy="707136"/>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g386fa9f7404_4_486"/>
          <p:cNvSpPr/>
          <p:nvPr/>
        </p:nvSpPr>
        <p:spPr>
          <a:xfrm>
            <a:off x="731520" y="5632704"/>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0" i="0" lang="en-US" sz="1500" u="none" cap="none" strike="noStrike">
                <a:solidFill>
                  <a:srgbClr val="1B3A5C"/>
                </a:solidFill>
                <a:latin typeface="Calibri"/>
                <a:ea typeface="Calibri"/>
                <a:cs typeface="Calibri"/>
                <a:sym typeface="Calibri"/>
              </a:rPr>
              <a:t>Steps 4 and 5 are the key: the kernel records the attempt the instant connect() is called — before success or failure. We catch intent, not outcome.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006" name="Shape 1006"/>
        <p:cNvGrpSpPr/>
        <p:nvPr/>
      </p:nvGrpSpPr>
      <p:grpSpPr>
        <a:xfrm>
          <a:off x="0" y="0"/>
          <a:ext cx="0" cy="0"/>
          <a:chOff x="0" y="0"/>
          <a:chExt cx="0" cy="0"/>
        </a:xfrm>
      </p:grpSpPr>
      <p:sp>
        <p:nvSpPr>
          <p:cNvPr id="1007" name="Google Shape;1007;g386fa9f7404_4_527"/>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g386fa9f7404_4_527"/>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Monitor 2 — Why Failed Connections Are Enough</a:t>
            </a:r>
            <a:endParaRPr b="0" i="0" sz="2700" u="none" cap="none" strike="noStrike">
              <a:solidFill>
                <a:schemeClr val="dk1"/>
              </a:solidFill>
              <a:latin typeface="Calibri"/>
              <a:ea typeface="Calibri"/>
              <a:cs typeface="Calibri"/>
              <a:sym typeface="Calibri"/>
            </a:endParaRPr>
          </a:p>
        </p:txBody>
      </p:sp>
      <p:sp>
        <p:nvSpPr>
          <p:cNvPr id="1009" name="Google Shape;1009;g386fa9f7404_4_527"/>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Network Monitor</a:t>
            </a:r>
            <a:endParaRPr b="0" i="0" sz="1100" u="none" cap="none" strike="noStrike">
              <a:solidFill>
                <a:schemeClr val="dk1"/>
              </a:solidFill>
              <a:latin typeface="Calibri"/>
              <a:ea typeface="Calibri"/>
              <a:cs typeface="Calibri"/>
              <a:sym typeface="Calibri"/>
            </a:endParaRPr>
          </a:p>
        </p:txBody>
      </p:sp>
      <p:sp>
        <p:nvSpPr>
          <p:cNvPr id="1010" name="Google Shape;1010;g386fa9f7404_4_527"/>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Our sandbox has no real internet. Every connection attempt fails. This does not affect detection.</a:t>
            </a:r>
            <a:endParaRPr b="0" i="0" sz="1700" u="none" cap="none" strike="noStrike">
              <a:solidFill>
                <a:schemeClr val="dk1"/>
              </a:solidFill>
              <a:latin typeface="Calibri"/>
              <a:ea typeface="Calibri"/>
              <a:cs typeface="Calibri"/>
              <a:sym typeface="Calibri"/>
            </a:endParaRPr>
          </a:p>
        </p:txBody>
      </p:sp>
      <p:sp>
        <p:nvSpPr>
          <p:cNvPr id="1011" name="Google Shape;1011;g386fa9f7404_4_527"/>
          <p:cNvSpPr/>
          <p:nvPr/>
        </p:nvSpPr>
        <p:spPr>
          <a:xfrm>
            <a:off x="487680" y="1645920"/>
            <a:ext cx="11216640" cy="10728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g386fa9f7404_4_527"/>
          <p:cNvSpPr/>
          <p:nvPr/>
        </p:nvSpPr>
        <p:spPr>
          <a:xfrm>
            <a:off x="707136" y="1706880"/>
            <a:ext cx="109728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500"/>
              <a:buFont typeface="Calibri"/>
              <a:buNone/>
            </a:pPr>
            <a:r>
              <a:rPr b="1" i="0" lang="en-US" sz="1500" u="none" cap="none" strike="noStrike">
                <a:solidFill>
                  <a:srgbClr val="AED6F1"/>
                </a:solidFill>
                <a:latin typeface="Calibri"/>
                <a:ea typeface="Calibri"/>
                <a:cs typeface="Calibri"/>
                <a:sym typeface="Calibri"/>
              </a:rPr>
              <a:t>How the kernel records connection attempts:</a:t>
            </a:r>
            <a:endParaRPr b="0" i="0" sz="1500" u="none" cap="none" strike="noStrike">
              <a:solidFill>
                <a:schemeClr val="dk1"/>
              </a:solidFill>
              <a:latin typeface="Calibri"/>
              <a:ea typeface="Calibri"/>
              <a:cs typeface="Calibri"/>
              <a:sym typeface="Calibri"/>
            </a:endParaRPr>
          </a:p>
        </p:txBody>
      </p:sp>
      <p:sp>
        <p:nvSpPr>
          <p:cNvPr id="1013" name="Google Shape;1013;g386fa9f7404_4_527"/>
          <p:cNvSpPr/>
          <p:nvPr/>
        </p:nvSpPr>
        <p:spPr>
          <a:xfrm>
            <a:off x="707136" y="2072640"/>
            <a:ext cx="10789920" cy="5852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The moment connect() is called — even if the destination is unreachable — the kernel immediately creates a new row in /proc/net/tcp with state SYN_SENT. This row is visible on the very next 200ms poll. We diff against the baseline and fire the event.</a:t>
            </a:r>
            <a:endParaRPr b="0" i="0" sz="1400" u="none" cap="none" strike="noStrike">
              <a:solidFill>
                <a:schemeClr val="dk1"/>
              </a:solidFill>
              <a:latin typeface="Calibri"/>
              <a:ea typeface="Calibri"/>
              <a:cs typeface="Calibri"/>
              <a:sym typeface="Calibri"/>
            </a:endParaRPr>
          </a:p>
        </p:txBody>
      </p:sp>
      <p:sp>
        <p:nvSpPr>
          <p:cNvPr id="1014" name="Google Shape;1014;g386fa9f7404_4_527"/>
          <p:cNvSpPr/>
          <p:nvPr/>
        </p:nvSpPr>
        <p:spPr>
          <a:xfrm>
            <a:off x="487680" y="2901696"/>
            <a:ext cx="1950720" cy="1487424"/>
          </a:xfrm>
          <a:prstGeom prst="rect">
            <a:avLst/>
          </a:prstGeom>
          <a:solidFill>
            <a:srgbClr val="D6EAF8"/>
          </a:solidFill>
          <a:ln cap="flat" cmpd="sng" w="1270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g386fa9f7404_4_527"/>
          <p:cNvSpPr/>
          <p:nvPr/>
        </p:nvSpPr>
        <p:spPr>
          <a:xfrm>
            <a:off x="585216" y="2962656"/>
            <a:ext cx="1755648" cy="3169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T = 0.0s</a:t>
            </a:r>
            <a:endParaRPr b="0" i="0" sz="1200" u="none" cap="none" strike="noStrike">
              <a:solidFill>
                <a:schemeClr val="dk1"/>
              </a:solidFill>
              <a:latin typeface="Calibri"/>
              <a:ea typeface="Calibri"/>
              <a:cs typeface="Calibri"/>
              <a:sym typeface="Calibri"/>
            </a:endParaRPr>
          </a:p>
        </p:txBody>
      </p:sp>
      <p:sp>
        <p:nvSpPr>
          <p:cNvPr id="1016" name="Google Shape;1016;g386fa9f7404_4_527"/>
          <p:cNvSpPr/>
          <p:nvPr/>
        </p:nvSpPr>
        <p:spPr>
          <a:xfrm>
            <a:off x="633984" y="3316224"/>
            <a:ext cx="1658112" cy="182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g386fa9f7404_4_527"/>
          <p:cNvSpPr/>
          <p:nvPr/>
        </p:nvSpPr>
        <p:spPr>
          <a:xfrm>
            <a:off x="585216" y="3364992"/>
            <a:ext cx="1755648" cy="9509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Baseline snapshot</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taken</a:t>
            </a:r>
            <a:endParaRPr b="0" i="0" sz="1300" u="none" cap="none" strike="noStrike">
              <a:solidFill>
                <a:schemeClr val="dk1"/>
              </a:solidFill>
              <a:latin typeface="Calibri"/>
              <a:ea typeface="Calibri"/>
              <a:cs typeface="Calibri"/>
              <a:sym typeface="Calibri"/>
            </a:endParaRPr>
          </a:p>
        </p:txBody>
      </p:sp>
      <p:sp>
        <p:nvSpPr>
          <p:cNvPr id="1018" name="Google Shape;1018;g386fa9f7404_4_527"/>
          <p:cNvSpPr/>
          <p:nvPr/>
        </p:nvSpPr>
        <p:spPr>
          <a:xfrm>
            <a:off x="2462784" y="3462528"/>
            <a:ext cx="18288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700"/>
              <a:buFont typeface="Calibri"/>
              <a:buNone/>
            </a:pPr>
            <a:r>
              <a:rPr b="0" i="0" lang="en-US" sz="1700" u="none" cap="none" strike="noStrike">
                <a:solidFill>
                  <a:srgbClr val="2471A3"/>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019" name="Google Shape;1019;g386fa9f7404_4_527"/>
          <p:cNvSpPr/>
          <p:nvPr/>
        </p:nvSpPr>
        <p:spPr>
          <a:xfrm>
            <a:off x="2621280" y="2901696"/>
            <a:ext cx="1950720" cy="1487424"/>
          </a:xfrm>
          <a:prstGeom prst="rect">
            <a:avLst/>
          </a:prstGeom>
          <a:solidFill>
            <a:srgbClr val="FFFFFF"/>
          </a:solidFill>
          <a:ln cap="flat" cmpd="sng" w="12700">
            <a:solidFill>
              <a:srgbClr val="717D7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g386fa9f7404_4_527"/>
          <p:cNvSpPr/>
          <p:nvPr/>
        </p:nvSpPr>
        <p:spPr>
          <a:xfrm>
            <a:off x="2718816" y="2962656"/>
            <a:ext cx="1755648" cy="3169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200"/>
              <a:buFont typeface="Calibri"/>
              <a:buNone/>
            </a:pPr>
            <a:r>
              <a:rPr b="1" i="0" lang="en-US" sz="1200" u="none" cap="none" strike="noStrike">
                <a:solidFill>
                  <a:srgbClr val="717D7E"/>
                </a:solidFill>
                <a:latin typeface="Calibri"/>
                <a:ea typeface="Calibri"/>
                <a:cs typeface="Calibri"/>
                <a:sym typeface="Calibri"/>
              </a:rPr>
              <a:t>T = 0.2s</a:t>
            </a:r>
            <a:endParaRPr b="0" i="0" sz="1200" u="none" cap="none" strike="noStrike">
              <a:solidFill>
                <a:schemeClr val="dk1"/>
              </a:solidFill>
              <a:latin typeface="Calibri"/>
              <a:ea typeface="Calibri"/>
              <a:cs typeface="Calibri"/>
              <a:sym typeface="Calibri"/>
            </a:endParaRPr>
          </a:p>
        </p:txBody>
      </p:sp>
      <p:sp>
        <p:nvSpPr>
          <p:cNvPr id="1021" name="Google Shape;1021;g386fa9f7404_4_527"/>
          <p:cNvSpPr/>
          <p:nvPr/>
        </p:nvSpPr>
        <p:spPr>
          <a:xfrm>
            <a:off x="2767584" y="3316224"/>
            <a:ext cx="1658112" cy="18288"/>
          </a:xfrm>
          <a:prstGeom prst="rect">
            <a:avLst/>
          </a:prstGeom>
          <a:solidFill>
            <a:srgbClr val="717D7E"/>
          </a:solidFill>
          <a:ln cap="flat" cmpd="sng" w="12700">
            <a:solidFill>
              <a:srgbClr val="717D7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g386fa9f7404_4_527"/>
          <p:cNvSpPr/>
          <p:nvPr/>
        </p:nvSpPr>
        <p:spPr>
          <a:xfrm>
            <a:off x="2718816" y="3364992"/>
            <a:ext cx="1755648" cy="9509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File running.</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No connections yet.</a:t>
            </a:r>
            <a:endParaRPr b="0" i="0" sz="1300" u="none" cap="none" strike="noStrike">
              <a:solidFill>
                <a:schemeClr val="dk1"/>
              </a:solidFill>
              <a:latin typeface="Calibri"/>
              <a:ea typeface="Calibri"/>
              <a:cs typeface="Calibri"/>
              <a:sym typeface="Calibri"/>
            </a:endParaRPr>
          </a:p>
        </p:txBody>
      </p:sp>
      <p:sp>
        <p:nvSpPr>
          <p:cNvPr id="1023" name="Google Shape;1023;g386fa9f7404_4_527"/>
          <p:cNvSpPr/>
          <p:nvPr/>
        </p:nvSpPr>
        <p:spPr>
          <a:xfrm>
            <a:off x="4596384" y="3462528"/>
            <a:ext cx="18288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700"/>
              <a:buFont typeface="Calibri"/>
              <a:buNone/>
            </a:pPr>
            <a:r>
              <a:rPr b="0" i="0" lang="en-US" sz="1700" u="none" cap="none" strike="noStrike">
                <a:solidFill>
                  <a:srgbClr val="2471A3"/>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024" name="Google Shape;1024;g386fa9f7404_4_527"/>
          <p:cNvSpPr/>
          <p:nvPr/>
        </p:nvSpPr>
        <p:spPr>
          <a:xfrm>
            <a:off x="4754880" y="2901696"/>
            <a:ext cx="1950720" cy="1487424"/>
          </a:xfrm>
          <a:prstGeom prst="rect">
            <a:avLst/>
          </a:prstGeom>
          <a:solidFill>
            <a:srgbClr val="FDEBD0"/>
          </a:solidFill>
          <a:ln cap="flat" cmpd="sng" w="2540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g386fa9f7404_4_527"/>
          <p:cNvSpPr/>
          <p:nvPr/>
        </p:nvSpPr>
        <p:spPr>
          <a:xfrm>
            <a:off x="4852416" y="2962656"/>
            <a:ext cx="1755648" cy="3169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200"/>
              <a:buFont typeface="Calibri"/>
              <a:buNone/>
            </a:pPr>
            <a:r>
              <a:rPr b="1" i="0" lang="en-US" sz="1200" u="none" cap="none" strike="noStrike">
                <a:solidFill>
                  <a:srgbClr val="CA6F1E"/>
                </a:solidFill>
                <a:latin typeface="Calibri"/>
                <a:ea typeface="Calibri"/>
                <a:cs typeface="Calibri"/>
                <a:sym typeface="Calibri"/>
              </a:rPr>
              <a:t>T = 0.4s</a:t>
            </a:r>
            <a:endParaRPr b="0" i="0" sz="1200" u="none" cap="none" strike="noStrike">
              <a:solidFill>
                <a:schemeClr val="dk1"/>
              </a:solidFill>
              <a:latin typeface="Calibri"/>
              <a:ea typeface="Calibri"/>
              <a:cs typeface="Calibri"/>
              <a:sym typeface="Calibri"/>
            </a:endParaRPr>
          </a:p>
        </p:txBody>
      </p:sp>
      <p:sp>
        <p:nvSpPr>
          <p:cNvPr id="1026" name="Google Shape;1026;g386fa9f7404_4_527"/>
          <p:cNvSpPr/>
          <p:nvPr/>
        </p:nvSpPr>
        <p:spPr>
          <a:xfrm>
            <a:off x="4901184" y="3316224"/>
            <a:ext cx="1658112" cy="18288"/>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g386fa9f7404_4_527"/>
          <p:cNvSpPr/>
          <p:nvPr/>
        </p:nvSpPr>
        <p:spPr>
          <a:xfrm>
            <a:off x="4852416" y="3364992"/>
            <a:ext cx="1755648" cy="9509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connect() called.</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Kernel adds SYN_SENT row.</a:t>
            </a:r>
            <a:endParaRPr b="0" i="0" sz="1300" u="none" cap="none" strike="noStrike">
              <a:solidFill>
                <a:schemeClr val="dk1"/>
              </a:solidFill>
              <a:latin typeface="Calibri"/>
              <a:ea typeface="Calibri"/>
              <a:cs typeface="Calibri"/>
              <a:sym typeface="Calibri"/>
            </a:endParaRPr>
          </a:p>
        </p:txBody>
      </p:sp>
      <p:sp>
        <p:nvSpPr>
          <p:cNvPr id="1028" name="Google Shape;1028;g386fa9f7404_4_527"/>
          <p:cNvSpPr/>
          <p:nvPr/>
        </p:nvSpPr>
        <p:spPr>
          <a:xfrm>
            <a:off x="6729984" y="3462528"/>
            <a:ext cx="18288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700"/>
              <a:buFont typeface="Calibri"/>
              <a:buNone/>
            </a:pPr>
            <a:r>
              <a:rPr b="0" i="0" lang="en-US" sz="1700" u="none" cap="none" strike="noStrike">
                <a:solidFill>
                  <a:srgbClr val="2471A3"/>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029" name="Google Shape;1029;g386fa9f7404_4_527"/>
          <p:cNvSpPr/>
          <p:nvPr/>
        </p:nvSpPr>
        <p:spPr>
          <a:xfrm>
            <a:off x="6888480" y="2901696"/>
            <a:ext cx="1950720" cy="1487424"/>
          </a:xfrm>
          <a:prstGeom prst="rect">
            <a:avLst/>
          </a:prstGeom>
          <a:solidFill>
            <a:srgbClr val="D5F5E3"/>
          </a:solidFill>
          <a:ln cap="flat" cmpd="sng" w="2540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g386fa9f7404_4_527"/>
          <p:cNvSpPr/>
          <p:nvPr/>
        </p:nvSpPr>
        <p:spPr>
          <a:xfrm>
            <a:off x="6986016" y="2962656"/>
            <a:ext cx="1755648" cy="3169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8449"/>
              </a:buClr>
              <a:buSzPts val="1200"/>
              <a:buFont typeface="Calibri"/>
              <a:buNone/>
            </a:pPr>
            <a:r>
              <a:rPr b="1" i="0" lang="en-US" sz="1200" u="none" cap="none" strike="noStrike">
                <a:solidFill>
                  <a:srgbClr val="1E8449"/>
                </a:solidFill>
                <a:latin typeface="Calibri"/>
                <a:ea typeface="Calibri"/>
                <a:cs typeface="Calibri"/>
                <a:sym typeface="Calibri"/>
              </a:rPr>
              <a:t>T = 0.6s</a:t>
            </a:r>
            <a:endParaRPr b="0" i="0" sz="1200" u="none" cap="none" strike="noStrike">
              <a:solidFill>
                <a:schemeClr val="dk1"/>
              </a:solidFill>
              <a:latin typeface="Calibri"/>
              <a:ea typeface="Calibri"/>
              <a:cs typeface="Calibri"/>
              <a:sym typeface="Calibri"/>
            </a:endParaRPr>
          </a:p>
        </p:txBody>
      </p:sp>
      <p:sp>
        <p:nvSpPr>
          <p:cNvPr id="1031" name="Google Shape;1031;g386fa9f7404_4_527"/>
          <p:cNvSpPr/>
          <p:nvPr/>
        </p:nvSpPr>
        <p:spPr>
          <a:xfrm>
            <a:off x="7034784" y="3316224"/>
            <a:ext cx="1658112" cy="18288"/>
          </a:xfrm>
          <a:prstGeom prst="rect">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g386fa9f7404_4_527"/>
          <p:cNvSpPr/>
          <p:nvPr/>
        </p:nvSpPr>
        <p:spPr>
          <a:xfrm>
            <a:off x="6986016" y="3364992"/>
            <a:ext cx="1755648" cy="9509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Our poll reads /proc/net/tcp.</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Diff detects new row → event fired.</a:t>
            </a:r>
            <a:endParaRPr b="0" i="0" sz="1300" u="none" cap="none" strike="noStrike">
              <a:solidFill>
                <a:schemeClr val="dk1"/>
              </a:solidFill>
              <a:latin typeface="Calibri"/>
              <a:ea typeface="Calibri"/>
              <a:cs typeface="Calibri"/>
              <a:sym typeface="Calibri"/>
            </a:endParaRPr>
          </a:p>
        </p:txBody>
      </p:sp>
      <p:sp>
        <p:nvSpPr>
          <p:cNvPr id="1033" name="Google Shape;1033;g386fa9f7404_4_527"/>
          <p:cNvSpPr/>
          <p:nvPr/>
        </p:nvSpPr>
        <p:spPr>
          <a:xfrm>
            <a:off x="8863584" y="3462528"/>
            <a:ext cx="182880"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700"/>
              <a:buFont typeface="Calibri"/>
              <a:buNone/>
            </a:pPr>
            <a:r>
              <a:rPr b="0" i="0" lang="en-US" sz="1700" u="none" cap="none" strike="noStrike">
                <a:solidFill>
                  <a:srgbClr val="2471A3"/>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034" name="Google Shape;1034;g386fa9f7404_4_527"/>
          <p:cNvSpPr/>
          <p:nvPr/>
        </p:nvSpPr>
        <p:spPr>
          <a:xfrm>
            <a:off x="9022080" y="2901696"/>
            <a:ext cx="1950720" cy="1487424"/>
          </a:xfrm>
          <a:prstGeom prst="rect">
            <a:avLst/>
          </a:prstGeom>
          <a:solidFill>
            <a:srgbClr val="EAF4FB"/>
          </a:solidFill>
          <a:ln cap="flat" cmpd="sng" w="12700">
            <a:solidFill>
              <a:srgbClr val="717D7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g386fa9f7404_4_527"/>
          <p:cNvSpPr/>
          <p:nvPr/>
        </p:nvSpPr>
        <p:spPr>
          <a:xfrm>
            <a:off x="9119616" y="2962656"/>
            <a:ext cx="1755648" cy="3169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200"/>
              <a:buFont typeface="Calibri"/>
              <a:buNone/>
            </a:pPr>
            <a:r>
              <a:rPr b="1" i="0" lang="en-US" sz="1200" u="none" cap="none" strike="noStrike">
                <a:solidFill>
                  <a:srgbClr val="717D7E"/>
                </a:solidFill>
                <a:latin typeface="Calibri"/>
                <a:ea typeface="Calibri"/>
                <a:cs typeface="Calibri"/>
                <a:sym typeface="Calibri"/>
              </a:rPr>
              <a:t>T = 0.7s</a:t>
            </a:r>
            <a:endParaRPr b="0" i="0" sz="1200" u="none" cap="none" strike="noStrike">
              <a:solidFill>
                <a:schemeClr val="dk1"/>
              </a:solidFill>
              <a:latin typeface="Calibri"/>
              <a:ea typeface="Calibri"/>
              <a:cs typeface="Calibri"/>
              <a:sym typeface="Calibri"/>
            </a:endParaRPr>
          </a:p>
        </p:txBody>
      </p:sp>
      <p:sp>
        <p:nvSpPr>
          <p:cNvPr id="1036" name="Google Shape;1036;g386fa9f7404_4_527"/>
          <p:cNvSpPr/>
          <p:nvPr/>
        </p:nvSpPr>
        <p:spPr>
          <a:xfrm>
            <a:off x="9168384" y="3316224"/>
            <a:ext cx="1658112" cy="18288"/>
          </a:xfrm>
          <a:prstGeom prst="rect">
            <a:avLst/>
          </a:prstGeom>
          <a:solidFill>
            <a:srgbClr val="717D7E"/>
          </a:solidFill>
          <a:ln cap="flat" cmpd="sng" w="12700">
            <a:solidFill>
              <a:srgbClr val="717D7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g386fa9f7404_4_527"/>
          <p:cNvSpPr/>
          <p:nvPr/>
        </p:nvSpPr>
        <p:spPr>
          <a:xfrm>
            <a:off x="9119616" y="3364992"/>
            <a:ext cx="1755648" cy="95097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Connection times out.</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Fails — irrelevant.</a:t>
            </a:r>
            <a:endParaRPr b="0" i="0" sz="1300" u="none" cap="none" strike="noStrike">
              <a:solidFill>
                <a:schemeClr val="dk1"/>
              </a:solidFill>
              <a:latin typeface="Calibri"/>
              <a:ea typeface="Calibri"/>
              <a:cs typeface="Calibri"/>
              <a:sym typeface="Calibri"/>
            </a:endParaRPr>
          </a:p>
        </p:txBody>
      </p:sp>
      <p:sp>
        <p:nvSpPr>
          <p:cNvPr id="1038" name="Google Shape;1038;g386fa9f7404_4_527"/>
          <p:cNvSpPr/>
          <p:nvPr/>
        </p:nvSpPr>
        <p:spPr>
          <a:xfrm>
            <a:off x="487680" y="4706125"/>
            <a:ext cx="11216700" cy="877800"/>
          </a:xfrm>
          <a:prstGeom prst="rect">
            <a:avLst/>
          </a:prstGeom>
          <a:solidFill>
            <a:srgbClr val="FFFFFF"/>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g386fa9f7404_4_527"/>
          <p:cNvSpPr/>
          <p:nvPr/>
        </p:nvSpPr>
        <p:spPr>
          <a:xfrm>
            <a:off x="707136" y="4608576"/>
            <a:ext cx="30480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Three guarantees this provides:</a:t>
            </a:r>
            <a:endParaRPr b="0" i="0" sz="1500" u="none" cap="none" strike="noStrike">
              <a:solidFill>
                <a:schemeClr val="dk1"/>
              </a:solidFill>
              <a:latin typeface="Calibri"/>
              <a:ea typeface="Calibri"/>
              <a:cs typeface="Calibri"/>
              <a:sym typeface="Calibri"/>
            </a:endParaRPr>
          </a:p>
        </p:txBody>
      </p:sp>
      <p:sp>
        <p:nvSpPr>
          <p:cNvPr id="1040" name="Google Shape;1040;g386fa9f7404_4_527"/>
          <p:cNvSpPr/>
          <p:nvPr/>
        </p:nvSpPr>
        <p:spPr>
          <a:xfrm>
            <a:off x="633984" y="5023104"/>
            <a:ext cx="97536" cy="97536"/>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g386fa9f7404_4_527"/>
          <p:cNvSpPr/>
          <p:nvPr/>
        </p:nvSpPr>
        <p:spPr>
          <a:xfrm>
            <a:off x="853440" y="4974336"/>
            <a:ext cx="106680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No real internet needed — failed attempts are sufficient evidence for detection</a:t>
            </a:r>
            <a:endParaRPr b="0" i="0" sz="1400" u="none" cap="none" strike="noStrike">
              <a:solidFill>
                <a:schemeClr val="dk1"/>
              </a:solidFill>
              <a:latin typeface="Calibri"/>
              <a:ea typeface="Calibri"/>
              <a:cs typeface="Calibri"/>
              <a:sym typeface="Calibri"/>
            </a:endParaRPr>
          </a:p>
        </p:txBody>
      </p:sp>
      <p:sp>
        <p:nvSpPr>
          <p:cNvPr id="1042" name="Google Shape;1042;g386fa9f7404_4_527"/>
          <p:cNvSpPr/>
          <p:nvPr/>
        </p:nvSpPr>
        <p:spPr>
          <a:xfrm>
            <a:off x="633984" y="5169408"/>
            <a:ext cx="97536" cy="97536"/>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g386fa9f7404_4_527"/>
          <p:cNvSpPr/>
          <p:nvPr/>
        </p:nvSpPr>
        <p:spPr>
          <a:xfrm>
            <a:off x="853440" y="5120640"/>
            <a:ext cx="106680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Malware cannot hide C2 intent by making the connection fail intentionally</a:t>
            </a:r>
            <a:endParaRPr b="0" i="0" sz="1400" u="none" cap="none" strike="noStrike">
              <a:solidFill>
                <a:schemeClr val="dk1"/>
              </a:solidFill>
              <a:latin typeface="Calibri"/>
              <a:ea typeface="Calibri"/>
              <a:cs typeface="Calibri"/>
              <a:sym typeface="Calibri"/>
            </a:endParaRPr>
          </a:p>
        </p:txBody>
      </p:sp>
      <p:sp>
        <p:nvSpPr>
          <p:cNvPr id="1044" name="Google Shape;1044;g386fa9f7404_4_527"/>
          <p:cNvSpPr/>
          <p:nvPr/>
        </p:nvSpPr>
        <p:spPr>
          <a:xfrm>
            <a:off x="633984" y="5315712"/>
            <a:ext cx="97536" cy="97536"/>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g386fa9f7404_4_527"/>
          <p:cNvSpPr/>
          <p:nvPr/>
        </p:nvSpPr>
        <p:spPr>
          <a:xfrm>
            <a:off x="853440" y="5266944"/>
            <a:ext cx="106680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Any outbound TCP attempt from a data file is definitively suspicious — no data file needs to call an external server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049" name="Shape 1049"/>
        <p:cNvGrpSpPr/>
        <p:nvPr/>
      </p:nvGrpSpPr>
      <p:grpSpPr>
        <a:xfrm>
          <a:off x="0" y="0"/>
          <a:ext cx="0" cy="0"/>
          <a:chOff x="0" y="0"/>
          <a:chExt cx="0" cy="0"/>
        </a:xfrm>
      </p:grpSpPr>
      <p:sp>
        <p:nvSpPr>
          <p:cNvPr id="1050" name="Google Shape;1050;g386fa9f7404_4_569"/>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g386fa9f7404_4_569"/>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4 — Monitor 3: Process Spawning</a:t>
            </a:r>
            <a:endParaRPr b="0" i="0" sz="2700" u="none" cap="none" strike="noStrike">
              <a:solidFill>
                <a:schemeClr val="dk1"/>
              </a:solidFill>
              <a:latin typeface="Calibri"/>
              <a:ea typeface="Calibri"/>
              <a:cs typeface="Calibri"/>
              <a:sym typeface="Calibri"/>
            </a:endParaRPr>
          </a:p>
        </p:txBody>
      </p:sp>
      <p:sp>
        <p:nvSpPr>
          <p:cNvPr id="1052" name="Google Shape;1052;g386fa9f7404_4_569"/>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6 — Process Monitor</a:t>
            </a:r>
            <a:endParaRPr b="0" i="0" sz="1100" u="none" cap="none" strike="noStrike">
              <a:solidFill>
                <a:schemeClr val="dk1"/>
              </a:solidFill>
              <a:latin typeface="Calibri"/>
              <a:ea typeface="Calibri"/>
              <a:cs typeface="Calibri"/>
              <a:sym typeface="Calibri"/>
            </a:endParaRPr>
          </a:p>
        </p:txBody>
      </p:sp>
      <p:sp>
        <p:nvSpPr>
          <p:cNvPr id="1053" name="Google Shape;1053;g386fa9f7404_4_569"/>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A legitimate drone data file — image, telemetry CSV — should spawn zero child processes. Any process spawning warrants scrutiny.</a:t>
            </a:r>
            <a:endParaRPr b="0" i="0" sz="1700" u="none" cap="none" strike="noStrike">
              <a:solidFill>
                <a:schemeClr val="dk1"/>
              </a:solidFill>
              <a:latin typeface="Calibri"/>
              <a:ea typeface="Calibri"/>
              <a:cs typeface="Calibri"/>
              <a:sym typeface="Calibri"/>
            </a:endParaRPr>
          </a:p>
        </p:txBody>
      </p:sp>
      <p:sp>
        <p:nvSpPr>
          <p:cNvPr id="1054" name="Google Shape;1054;g386fa9f7404_4_569"/>
          <p:cNvSpPr/>
          <p:nvPr/>
        </p:nvSpPr>
        <p:spPr>
          <a:xfrm>
            <a:off x="487680" y="1645920"/>
            <a:ext cx="11216640" cy="67056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g386fa9f7404_4_569"/>
          <p:cNvSpPr/>
          <p:nvPr/>
        </p:nvSpPr>
        <p:spPr>
          <a:xfrm>
            <a:off x="707136" y="1645920"/>
            <a:ext cx="1078992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Mechanism: psutil.Process(pid).children(recursive=True)  — walks the full process tree every 200ms, returns every descendant of the sandboxed process.</a:t>
            </a:r>
            <a:endParaRPr b="0" i="0" sz="1500" u="none" cap="none" strike="noStrike">
              <a:solidFill>
                <a:schemeClr val="dk1"/>
              </a:solidFill>
              <a:latin typeface="Calibri"/>
              <a:ea typeface="Calibri"/>
              <a:cs typeface="Calibri"/>
              <a:sym typeface="Calibri"/>
            </a:endParaRPr>
          </a:p>
        </p:txBody>
      </p:sp>
      <p:sp>
        <p:nvSpPr>
          <p:cNvPr id="1056" name="Google Shape;1056;g386fa9f7404_4_569"/>
          <p:cNvSpPr/>
          <p:nvPr/>
        </p:nvSpPr>
        <p:spPr>
          <a:xfrm>
            <a:off x="487680" y="2499360"/>
            <a:ext cx="2535936"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g386fa9f7404_4_569"/>
          <p:cNvSpPr/>
          <p:nvPr/>
        </p:nvSpPr>
        <p:spPr>
          <a:xfrm>
            <a:off x="609600" y="2499360"/>
            <a:ext cx="229209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Process Name</a:t>
            </a:r>
            <a:endParaRPr b="0" i="0" sz="1300" u="none" cap="none" strike="noStrike">
              <a:solidFill>
                <a:schemeClr val="dk1"/>
              </a:solidFill>
              <a:latin typeface="Calibri"/>
              <a:ea typeface="Calibri"/>
              <a:cs typeface="Calibri"/>
              <a:sym typeface="Calibri"/>
            </a:endParaRPr>
          </a:p>
        </p:txBody>
      </p:sp>
      <p:sp>
        <p:nvSpPr>
          <p:cNvPr id="1058" name="Google Shape;1058;g386fa9f7404_4_569"/>
          <p:cNvSpPr/>
          <p:nvPr/>
        </p:nvSpPr>
        <p:spPr>
          <a:xfrm>
            <a:off x="3108960" y="2499360"/>
            <a:ext cx="4364736"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g386fa9f7404_4_569"/>
          <p:cNvSpPr/>
          <p:nvPr/>
        </p:nvSpPr>
        <p:spPr>
          <a:xfrm>
            <a:off x="3230880" y="2499360"/>
            <a:ext cx="412089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Why suspicious</a:t>
            </a:r>
            <a:endParaRPr b="0" i="0" sz="1300" u="none" cap="none" strike="noStrike">
              <a:solidFill>
                <a:schemeClr val="dk1"/>
              </a:solidFill>
              <a:latin typeface="Calibri"/>
              <a:ea typeface="Calibri"/>
              <a:cs typeface="Calibri"/>
              <a:sym typeface="Calibri"/>
            </a:endParaRPr>
          </a:p>
        </p:txBody>
      </p:sp>
      <p:sp>
        <p:nvSpPr>
          <p:cNvPr id="1060" name="Google Shape;1060;g386fa9f7404_4_569"/>
          <p:cNvSpPr/>
          <p:nvPr/>
        </p:nvSpPr>
        <p:spPr>
          <a:xfrm>
            <a:off x="7559040" y="2499360"/>
            <a:ext cx="2048256"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g386fa9f7404_4_569"/>
          <p:cNvSpPr/>
          <p:nvPr/>
        </p:nvSpPr>
        <p:spPr>
          <a:xfrm>
            <a:off x="7680960" y="2499360"/>
            <a:ext cx="180441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Event</a:t>
            </a:r>
            <a:endParaRPr b="0" i="0" sz="1300" u="none" cap="none" strike="noStrike">
              <a:solidFill>
                <a:schemeClr val="dk1"/>
              </a:solidFill>
              <a:latin typeface="Calibri"/>
              <a:ea typeface="Calibri"/>
              <a:cs typeface="Calibri"/>
              <a:sym typeface="Calibri"/>
            </a:endParaRPr>
          </a:p>
        </p:txBody>
      </p:sp>
      <p:sp>
        <p:nvSpPr>
          <p:cNvPr id="1062" name="Google Shape;1062;g386fa9f7404_4_569"/>
          <p:cNvSpPr/>
          <p:nvPr/>
        </p:nvSpPr>
        <p:spPr>
          <a:xfrm>
            <a:off x="9692640" y="2499360"/>
            <a:ext cx="2072640"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g386fa9f7404_4_569"/>
          <p:cNvSpPr/>
          <p:nvPr/>
        </p:nvSpPr>
        <p:spPr>
          <a:xfrm>
            <a:off x="9814560" y="2499360"/>
            <a:ext cx="18288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Points</a:t>
            </a:r>
            <a:endParaRPr b="0" i="0" sz="1300" u="none" cap="none" strike="noStrike">
              <a:solidFill>
                <a:schemeClr val="dk1"/>
              </a:solidFill>
              <a:latin typeface="Calibri"/>
              <a:ea typeface="Calibri"/>
              <a:cs typeface="Calibri"/>
              <a:sym typeface="Calibri"/>
            </a:endParaRPr>
          </a:p>
        </p:txBody>
      </p:sp>
      <p:sp>
        <p:nvSpPr>
          <p:cNvPr id="1064" name="Google Shape;1064;g386fa9f7404_4_569"/>
          <p:cNvSpPr/>
          <p:nvPr/>
        </p:nvSpPr>
        <p:spPr>
          <a:xfrm>
            <a:off x="487680" y="2999232"/>
            <a:ext cx="253593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g386fa9f7404_4_569"/>
          <p:cNvSpPr/>
          <p:nvPr/>
        </p:nvSpPr>
        <p:spPr>
          <a:xfrm>
            <a:off x="3108960" y="2999232"/>
            <a:ext cx="436473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g386fa9f7404_4_569"/>
          <p:cNvSpPr/>
          <p:nvPr/>
        </p:nvSpPr>
        <p:spPr>
          <a:xfrm>
            <a:off x="7559040" y="2999232"/>
            <a:ext cx="204825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g386fa9f7404_4_569"/>
          <p:cNvSpPr/>
          <p:nvPr/>
        </p:nvSpPr>
        <p:spPr>
          <a:xfrm>
            <a:off x="9692640" y="2999232"/>
            <a:ext cx="2072640"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g386fa9f7404_4_569"/>
          <p:cNvSpPr/>
          <p:nvPr/>
        </p:nvSpPr>
        <p:spPr>
          <a:xfrm>
            <a:off x="609600" y="2999232"/>
            <a:ext cx="22920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bash / sh / zsh</a:t>
            </a:r>
            <a:endParaRPr b="0" i="0" sz="1300" u="none" cap="none" strike="noStrike">
              <a:solidFill>
                <a:schemeClr val="dk1"/>
              </a:solidFill>
              <a:latin typeface="Calibri"/>
              <a:ea typeface="Calibri"/>
              <a:cs typeface="Calibri"/>
              <a:sym typeface="Calibri"/>
            </a:endParaRPr>
          </a:p>
        </p:txBody>
      </p:sp>
      <p:sp>
        <p:nvSpPr>
          <p:cNvPr id="1069" name="Google Shape;1069;g386fa9f7404_4_569"/>
          <p:cNvSpPr/>
          <p:nvPr/>
        </p:nvSpPr>
        <p:spPr>
          <a:xfrm>
            <a:off x="3230880" y="2999232"/>
            <a:ext cx="41208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Reverse shell — gives attacker interactive command access</a:t>
            </a:r>
            <a:endParaRPr b="0" i="0" sz="1300" u="none" cap="none" strike="noStrike">
              <a:solidFill>
                <a:schemeClr val="dk1"/>
              </a:solidFill>
              <a:latin typeface="Calibri"/>
              <a:ea typeface="Calibri"/>
              <a:cs typeface="Calibri"/>
              <a:sym typeface="Calibri"/>
            </a:endParaRPr>
          </a:p>
        </p:txBody>
      </p:sp>
      <p:sp>
        <p:nvSpPr>
          <p:cNvPr id="1070" name="Google Shape;1070;g386fa9f7404_4_569"/>
          <p:cNvSpPr/>
          <p:nvPr/>
        </p:nvSpPr>
        <p:spPr>
          <a:xfrm>
            <a:off x="7680960" y="2999232"/>
            <a:ext cx="180441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shell_command</a:t>
            </a:r>
            <a:endParaRPr b="0" i="0" sz="1300" u="none" cap="none" strike="noStrike">
              <a:solidFill>
                <a:schemeClr val="dk1"/>
              </a:solidFill>
              <a:latin typeface="Calibri"/>
              <a:ea typeface="Calibri"/>
              <a:cs typeface="Calibri"/>
              <a:sym typeface="Calibri"/>
            </a:endParaRPr>
          </a:p>
        </p:txBody>
      </p:sp>
      <p:sp>
        <p:nvSpPr>
          <p:cNvPr id="1071" name="Google Shape;1071;g386fa9f7404_4_569"/>
          <p:cNvSpPr/>
          <p:nvPr/>
        </p:nvSpPr>
        <p:spPr>
          <a:xfrm>
            <a:off x="9814560" y="2999232"/>
            <a:ext cx="1828800"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+25</a:t>
            </a:r>
            <a:endParaRPr b="0" i="0" sz="1300" u="none" cap="none" strike="noStrike">
              <a:solidFill>
                <a:schemeClr val="dk1"/>
              </a:solidFill>
              <a:latin typeface="Calibri"/>
              <a:ea typeface="Calibri"/>
              <a:cs typeface="Calibri"/>
              <a:sym typeface="Calibri"/>
            </a:endParaRPr>
          </a:p>
        </p:txBody>
      </p:sp>
      <p:sp>
        <p:nvSpPr>
          <p:cNvPr id="1072" name="Google Shape;1072;g386fa9f7404_4_569"/>
          <p:cNvSpPr/>
          <p:nvPr/>
        </p:nvSpPr>
        <p:spPr>
          <a:xfrm>
            <a:off x="487680" y="3438144"/>
            <a:ext cx="253593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g386fa9f7404_4_569"/>
          <p:cNvSpPr/>
          <p:nvPr/>
        </p:nvSpPr>
        <p:spPr>
          <a:xfrm>
            <a:off x="3108960" y="3438144"/>
            <a:ext cx="436473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g386fa9f7404_4_569"/>
          <p:cNvSpPr/>
          <p:nvPr/>
        </p:nvSpPr>
        <p:spPr>
          <a:xfrm>
            <a:off x="7559040" y="3438144"/>
            <a:ext cx="204825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g386fa9f7404_4_569"/>
          <p:cNvSpPr/>
          <p:nvPr/>
        </p:nvSpPr>
        <p:spPr>
          <a:xfrm>
            <a:off x="9692640" y="3438144"/>
            <a:ext cx="2072640"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g386fa9f7404_4_569"/>
          <p:cNvSpPr/>
          <p:nvPr/>
        </p:nvSpPr>
        <p:spPr>
          <a:xfrm>
            <a:off x="609600" y="3438144"/>
            <a:ext cx="22920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wget / curl</a:t>
            </a:r>
            <a:endParaRPr b="0" i="0" sz="1300" u="none" cap="none" strike="noStrike">
              <a:solidFill>
                <a:schemeClr val="dk1"/>
              </a:solidFill>
              <a:latin typeface="Calibri"/>
              <a:ea typeface="Calibri"/>
              <a:cs typeface="Calibri"/>
              <a:sym typeface="Calibri"/>
            </a:endParaRPr>
          </a:p>
        </p:txBody>
      </p:sp>
      <p:sp>
        <p:nvSpPr>
          <p:cNvPr id="1077" name="Google Shape;1077;g386fa9f7404_4_569"/>
          <p:cNvSpPr/>
          <p:nvPr/>
        </p:nvSpPr>
        <p:spPr>
          <a:xfrm>
            <a:off x="3230880" y="3438144"/>
            <a:ext cx="41208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Downloads second-stage payload from attacker's server</a:t>
            </a:r>
            <a:endParaRPr b="0" i="0" sz="1300" u="none" cap="none" strike="noStrike">
              <a:solidFill>
                <a:schemeClr val="dk1"/>
              </a:solidFill>
              <a:latin typeface="Calibri"/>
              <a:ea typeface="Calibri"/>
              <a:cs typeface="Calibri"/>
              <a:sym typeface="Calibri"/>
            </a:endParaRPr>
          </a:p>
        </p:txBody>
      </p:sp>
      <p:sp>
        <p:nvSpPr>
          <p:cNvPr id="1078" name="Google Shape;1078;g386fa9f7404_4_569"/>
          <p:cNvSpPr/>
          <p:nvPr/>
        </p:nvSpPr>
        <p:spPr>
          <a:xfrm>
            <a:off x="7680960" y="3438144"/>
            <a:ext cx="180441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process_spawn</a:t>
            </a:r>
            <a:endParaRPr b="0" i="0" sz="1300" u="none" cap="none" strike="noStrike">
              <a:solidFill>
                <a:schemeClr val="dk1"/>
              </a:solidFill>
              <a:latin typeface="Calibri"/>
              <a:ea typeface="Calibri"/>
              <a:cs typeface="Calibri"/>
              <a:sym typeface="Calibri"/>
            </a:endParaRPr>
          </a:p>
        </p:txBody>
      </p:sp>
      <p:sp>
        <p:nvSpPr>
          <p:cNvPr id="1079" name="Google Shape;1079;g386fa9f7404_4_569"/>
          <p:cNvSpPr/>
          <p:nvPr/>
        </p:nvSpPr>
        <p:spPr>
          <a:xfrm>
            <a:off x="9814560" y="3438144"/>
            <a:ext cx="1828800"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1080" name="Google Shape;1080;g386fa9f7404_4_569"/>
          <p:cNvSpPr/>
          <p:nvPr/>
        </p:nvSpPr>
        <p:spPr>
          <a:xfrm>
            <a:off x="487680" y="3877056"/>
            <a:ext cx="253593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g386fa9f7404_4_569"/>
          <p:cNvSpPr/>
          <p:nvPr/>
        </p:nvSpPr>
        <p:spPr>
          <a:xfrm>
            <a:off x="3108960" y="3877056"/>
            <a:ext cx="436473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g386fa9f7404_4_569"/>
          <p:cNvSpPr/>
          <p:nvPr/>
        </p:nvSpPr>
        <p:spPr>
          <a:xfrm>
            <a:off x="7559040" y="3877056"/>
            <a:ext cx="204825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g386fa9f7404_4_569"/>
          <p:cNvSpPr/>
          <p:nvPr/>
        </p:nvSpPr>
        <p:spPr>
          <a:xfrm>
            <a:off x="9692640" y="3877056"/>
            <a:ext cx="2072640"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g386fa9f7404_4_569"/>
          <p:cNvSpPr/>
          <p:nvPr/>
        </p:nvSpPr>
        <p:spPr>
          <a:xfrm>
            <a:off x="609600" y="3877056"/>
            <a:ext cx="22920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nc / ncat</a:t>
            </a:r>
            <a:endParaRPr b="0" i="0" sz="1300" u="none" cap="none" strike="noStrike">
              <a:solidFill>
                <a:schemeClr val="dk1"/>
              </a:solidFill>
              <a:latin typeface="Calibri"/>
              <a:ea typeface="Calibri"/>
              <a:cs typeface="Calibri"/>
              <a:sym typeface="Calibri"/>
            </a:endParaRPr>
          </a:p>
        </p:txBody>
      </p:sp>
      <p:sp>
        <p:nvSpPr>
          <p:cNvPr id="1085" name="Google Shape;1085;g386fa9f7404_4_569"/>
          <p:cNvSpPr/>
          <p:nvPr/>
        </p:nvSpPr>
        <p:spPr>
          <a:xfrm>
            <a:off x="3230880" y="3877056"/>
            <a:ext cx="41208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Netcat — raw TCP connections and backdoors</a:t>
            </a:r>
            <a:endParaRPr b="0" i="0" sz="1300" u="none" cap="none" strike="noStrike">
              <a:solidFill>
                <a:schemeClr val="dk1"/>
              </a:solidFill>
              <a:latin typeface="Calibri"/>
              <a:ea typeface="Calibri"/>
              <a:cs typeface="Calibri"/>
              <a:sym typeface="Calibri"/>
            </a:endParaRPr>
          </a:p>
        </p:txBody>
      </p:sp>
      <p:sp>
        <p:nvSpPr>
          <p:cNvPr id="1086" name="Google Shape;1086;g386fa9f7404_4_569"/>
          <p:cNvSpPr/>
          <p:nvPr/>
        </p:nvSpPr>
        <p:spPr>
          <a:xfrm>
            <a:off x="7680960" y="3877056"/>
            <a:ext cx="180441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shell_command</a:t>
            </a:r>
            <a:endParaRPr b="0" i="0" sz="1300" u="none" cap="none" strike="noStrike">
              <a:solidFill>
                <a:schemeClr val="dk1"/>
              </a:solidFill>
              <a:latin typeface="Calibri"/>
              <a:ea typeface="Calibri"/>
              <a:cs typeface="Calibri"/>
              <a:sym typeface="Calibri"/>
            </a:endParaRPr>
          </a:p>
        </p:txBody>
      </p:sp>
      <p:sp>
        <p:nvSpPr>
          <p:cNvPr id="1087" name="Google Shape;1087;g386fa9f7404_4_569"/>
          <p:cNvSpPr/>
          <p:nvPr/>
        </p:nvSpPr>
        <p:spPr>
          <a:xfrm>
            <a:off x="9814560" y="3877056"/>
            <a:ext cx="1828800"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+25</a:t>
            </a:r>
            <a:endParaRPr b="0" i="0" sz="1300" u="none" cap="none" strike="noStrike">
              <a:solidFill>
                <a:schemeClr val="dk1"/>
              </a:solidFill>
              <a:latin typeface="Calibri"/>
              <a:ea typeface="Calibri"/>
              <a:cs typeface="Calibri"/>
              <a:sym typeface="Calibri"/>
            </a:endParaRPr>
          </a:p>
        </p:txBody>
      </p:sp>
      <p:sp>
        <p:nvSpPr>
          <p:cNvPr id="1088" name="Google Shape;1088;g386fa9f7404_4_569"/>
          <p:cNvSpPr/>
          <p:nvPr/>
        </p:nvSpPr>
        <p:spPr>
          <a:xfrm>
            <a:off x="487680" y="4315968"/>
            <a:ext cx="253593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g386fa9f7404_4_569"/>
          <p:cNvSpPr/>
          <p:nvPr/>
        </p:nvSpPr>
        <p:spPr>
          <a:xfrm>
            <a:off x="3108960" y="4315968"/>
            <a:ext cx="436473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g386fa9f7404_4_569"/>
          <p:cNvSpPr/>
          <p:nvPr/>
        </p:nvSpPr>
        <p:spPr>
          <a:xfrm>
            <a:off x="7559040" y="4315968"/>
            <a:ext cx="204825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g386fa9f7404_4_569"/>
          <p:cNvSpPr/>
          <p:nvPr/>
        </p:nvSpPr>
        <p:spPr>
          <a:xfrm>
            <a:off x="9692640" y="4315968"/>
            <a:ext cx="2072640"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g386fa9f7404_4_569"/>
          <p:cNvSpPr/>
          <p:nvPr/>
        </p:nvSpPr>
        <p:spPr>
          <a:xfrm>
            <a:off x="609600" y="4315968"/>
            <a:ext cx="22920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crontab / at</a:t>
            </a:r>
            <a:endParaRPr b="0" i="0" sz="1300" u="none" cap="none" strike="noStrike">
              <a:solidFill>
                <a:schemeClr val="dk1"/>
              </a:solidFill>
              <a:latin typeface="Calibri"/>
              <a:ea typeface="Calibri"/>
              <a:cs typeface="Calibri"/>
              <a:sym typeface="Calibri"/>
            </a:endParaRPr>
          </a:p>
        </p:txBody>
      </p:sp>
      <p:sp>
        <p:nvSpPr>
          <p:cNvPr id="1093" name="Google Shape;1093;g386fa9f7404_4_569"/>
          <p:cNvSpPr/>
          <p:nvPr/>
        </p:nvSpPr>
        <p:spPr>
          <a:xfrm>
            <a:off x="3230880" y="4315968"/>
            <a:ext cx="41208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Schedules malware to run again — persistence mechanism</a:t>
            </a:r>
            <a:endParaRPr b="0" i="0" sz="1300" u="none" cap="none" strike="noStrike">
              <a:solidFill>
                <a:schemeClr val="dk1"/>
              </a:solidFill>
              <a:latin typeface="Calibri"/>
              <a:ea typeface="Calibri"/>
              <a:cs typeface="Calibri"/>
              <a:sym typeface="Calibri"/>
            </a:endParaRPr>
          </a:p>
        </p:txBody>
      </p:sp>
      <p:sp>
        <p:nvSpPr>
          <p:cNvPr id="1094" name="Google Shape;1094;g386fa9f7404_4_569"/>
          <p:cNvSpPr/>
          <p:nvPr/>
        </p:nvSpPr>
        <p:spPr>
          <a:xfrm>
            <a:off x="7680960" y="4315968"/>
            <a:ext cx="180441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process_spawn</a:t>
            </a:r>
            <a:endParaRPr b="0" i="0" sz="1300" u="none" cap="none" strike="noStrike">
              <a:solidFill>
                <a:schemeClr val="dk1"/>
              </a:solidFill>
              <a:latin typeface="Calibri"/>
              <a:ea typeface="Calibri"/>
              <a:cs typeface="Calibri"/>
              <a:sym typeface="Calibri"/>
            </a:endParaRPr>
          </a:p>
        </p:txBody>
      </p:sp>
      <p:sp>
        <p:nvSpPr>
          <p:cNvPr id="1095" name="Google Shape;1095;g386fa9f7404_4_569"/>
          <p:cNvSpPr/>
          <p:nvPr/>
        </p:nvSpPr>
        <p:spPr>
          <a:xfrm>
            <a:off x="9814560" y="4315968"/>
            <a:ext cx="1828800"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1096" name="Google Shape;1096;g386fa9f7404_4_569"/>
          <p:cNvSpPr/>
          <p:nvPr/>
        </p:nvSpPr>
        <p:spPr>
          <a:xfrm>
            <a:off x="487680" y="4754880"/>
            <a:ext cx="253593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g386fa9f7404_4_569"/>
          <p:cNvSpPr/>
          <p:nvPr/>
        </p:nvSpPr>
        <p:spPr>
          <a:xfrm>
            <a:off x="3108960" y="4754880"/>
            <a:ext cx="436473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g386fa9f7404_4_569"/>
          <p:cNvSpPr/>
          <p:nvPr/>
        </p:nvSpPr>
        <p:spPr>
          <a:xfrm>
            <a:off x="7559040" y="4754880"/>
            <a:ext cx="2048256"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g386fa9f7404_4_569"/>
          <p:cNvSpPr/>
          <p:nvPr/>
        </p:nvSpPr>
        <p:spPr>
          <a:xfrm>
            <a:off x="9692640" y="4754880"/>
            <a:ext cx="2072640" cy="414528"/>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g386fa9f7404_4_569"/>
          <p:cNvSpPr/>
          <p:nvPr/>
        </p:nvSpPr>
        <p:spPr>
          <a:xfrm>
            <a:off x="609600" y="4754880"/>
            <a:ext cx="22920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gcc / cc / make</a:t>
            </a:r>
            <a:endParaRPr b="0" i="0" sz="1300" u="none" cap="none" strike="noStrike">
              <a:solidFill>
                <a:schemeClr val="dk1"/>
              </a:solidFill>
              <a:latin typeface="Calibri"/>
              <a:ea typeface="Calibri"/>
              <a:cs typeface="Calibri"/>
              <a:sym typeface="Calibri"/>
            </a:endParaRPr>
          </a:p>
        </p:txBody>
      </p:sp>
      <p:sp>
        <p:nvSpPr>
          <p:cNvPr id="1101" name="Google Shape;1101;g386fa9f7404_4_569"/>
          <p:cNvSpPr/>
          <p:nvPr/>
        </p:nvSpPr>
        <p:spPr>
          <a:xfrm>
            <a:off x="3230880" y="4754880"/>
            <a:ext cx="41208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Compiling a payload on the target machine (dropper stage)</a:t>
            </a:r>
            <a:endParaRPr b="0" i="0" sz="1300" u="none" cap="none" strike="noStrike">
              <a:solidFill>
                <a:schemeClr val="dk1"/>
              </a:solidFill>
              <a:latin typeface="Calibri"/>
              <a:ea typeface="Calibri"/>
              <a:cs typeface="Calibri"/>
              <a:sym typeface="Calibri"/>
            </a:endParaRPr>
          </a:p>
        </p:txBody>
      </p:sp>
      <p:sp>
        <p:nvSpPr>
          <p:cNvPr id="1102" name="Google Shape;1102;g386fa9f7404_4_569"/>
          <p:cNvSpPr/>
          <p:nvPr/>
        </p:nvSpPr>
        <p:spPr>
          <a:xfrm>
            <a:off x="7680960" y="4754880"/>
            <a:ext cx="180441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process_spawn</a:t>
            </a:r>
            <a:endParaRPr b="0" i="0" sz="1300" u="none" cap="none" strike="noStrike">
              <a:solidFill>
                <a:schemeClr val="dk1"/>
              </a:solidFill>
              <a:latin typeface="Calibri"/>
              <a:ea typeface="Calibri"/>
              <a:cs typeface="Calibri"/>
              <a:sym typeface="Calibri"/>
            </a:endParaRPr>
          </a:p>
        </p:txBody>
      </p:sp>
      <p:sp>
        <p:nvSpPr>
          <p:cNvPr id="1103" name="Google Shape;1103;g386fa9f7404_4_569"/>
          <p:cNvSpPr/>
          <p:nvPr/>
        </p:nvSpPr>
        <p:spPr>
          <a:xfrm>
            <a:off x="9814560" y="4754880"/>
            <a:ext cx="1828800"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1104" name="Google Shape;1104;g386fa9f7404_4_569"/>
          <p:cNvSpPr/>
          <p:nvPr/>
        </p:nvSpPr>
        <p:spPr>
          <a:xfrm>
            <a:off x="487680" y="5193792"/>
            <a:ext cx="253593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g386fa9f7404_4_569"/>
          <p:cNvSpPr/>
          <p:nvPr/>
        </p:nvSpPr>
        <p:spPr>
          <a:xfrm>
            <a:off x="3108960" y="5193792"/>
            <a:ext cx="436473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g386fa9f7404_4_569"/>
          <p:cNvSpPr/>
          <p:nvPr/>
        </p:nvSpPr>
        <p:spPr>
          <a:xfrm>
            <a:off x="7559040" y="5193792"/>
            <a:ext cx="2048256"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g386fa9f7404_4_569"/>
          <p:cNvSpPr/>
          <p:nvPr/>
        </p:nvSpPr>
        <p:spPr>
          <a:xfrm>
            <a:off x="9692640" y="5193792"/>
            <a:ext cx="2072640" cy="41452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g386fa9f7404_4_569"/>
          <p:cNvSpPr/>
          <p:nvPr/>
        </p:nvSpPr>
        <p:spPr>
          <a:xfrm>
            <a:off x="609600" y="5193792"/>
            <a:ext cx="22920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1" i="0" lang="en-US" sz="1300" u="none" cap="none" strike="noStrike">
                <a:solidFill>
                  <a:srgbClr val="2C3E50"/>
                </a:solidFill>
                <a:latin typeface="Calibri"/>
                <a:ea typeface="Calibri"/>
                <a:cs typeface="Calibri"/>
                <a:sym typeface="Calibri"/>
              </a:rPr>
              <a:t>python3 / perl / ruby</a:t>
            </a:r>
            <a:endParaRPr b="0" i="0" sz="1300" u="none" cap="none" strike="noStrike">
              <a:solidFill>
                <a:schemeClr val="dk1"/>
              </a:solidFill>
              <a:latin typeface="Calibri"/>
              <a:ea typeface="Calibri"/>
              <a:cs typeface="Calibri"/>
              <a:sym typeface="Calibri"/>
            </a:endParaRPr>
          </a:p>
        </p:txBody>
      </p:sp>
      <p:sp>
        <p:nvSpPr>
          <p:cNvPr id="1109" name="Google Shape;1109;g386fa9f7404_4_569"/>
          <p:cNvSpPr/>
          <p:nvPr/>
        </p:nvSpPr>
        <p:spPr>
          <a:xfrm>
            <a:off x="3230880" y="5193792"/>
            <a:ext cx="412089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Launching a second interpreter — embedded script execution</a:t>
            </a:r>
            <a:endParaRPr b="0" i="0" sz="1300" u="none" cap="none" strike="noStrike">
              <a:solidFill>
                <a:schemeClr val="dk1"/>
              </a:solidFill>
              <a:latin typeface="Calibri"/>
              <a:ea typeface="Calibri"/>
              <a:cs typeface="Calibri"/>
              <a:sym typeface="Calibri"/>
            </a:endParaRPr>
          </a:p>
        </p:txBody>
      </p:sp>
      <p:sp>
        <p:nvSpPr>
          <p:cNvPr id="1110" name="Google Shape;1110;g386fa9f7404_4_569"/>
          <p:cNvSpPr/>
          <p:nvPr/>
        </p:nvSpPr>
        <p:spPr>
          <a:xfrm>
            <a:off x="7680960" y="5193792"/>
            <a:ext cx="1804416"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process_spawn</a:t>
            </a:r>
            <a:endParaRPr b="0" i="0" sz="1300" u="none" cap="none" strike="noStrike">
              <a:solidFill>
                <a:schemeClr val="dk1"/>
              </a:solidFill>
              <a:latin typeface="Calibri"/>
              <a:ea typeface="Calibri"/>
              <a:cs typeface="Calibri"/>
              <a:sym typeface="Calibri"/>
            </a:endParaRPr>
          </a:p>
        </p:txBody>
      </p:sp>
      <p:sp>
        <p:nvSpPr>
          <p:cNvPr id="1111" name="Google Shape;1111;g386fa9f7404_4_569"/>
          <p:cNvSpPr/>
          <p:nvPr/>
        </p:nvSpPr>
        <p:spPr>
          <a:xfrm>
            <a:off x="9814560" y="5193792"/>
            <a:ext cx="1828800" cy="4145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1" i="0" lang="en-US" sz="1300" u="none" cap="none" strike="noStrike">
                <a:solidFill>
                  <a:srgbClr val="2471A3"/>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1112" name="Google Shape;1112;g386fa9f7404_4_569"/>
          <p:cNvSpPr/>
          <p:nvPr/>
        </p:nvSpPr>
        <p:spPr>
          <a:xfrm>
            <a:off x="487680" y="5754624"/>
            <a:ext cx="11216640" cy="707136"/>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g386fa9f7404_4_569"/>
          <p:cNvSpPr/>
          <p:nvPr/>
        </p:nvSpPr>
        <p:spPr>
          <a:xfrm>
            <a:off x="731520" y="5779008"/>
            <a:ext cx="292608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g386fa9f7404_4_569"/>
          <p:cNvSpPr/>
          <p:nvPr/>
        </p:nvSpPr>
        <p:spPr>
          <a:xfrm>
            <a:off x="731520" y="5779008"/>
            <a:ext cx="292608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000"/>
              <a:buFont typeface="Calibri"/>
              <a:buNone/>
            </a:pPr>
            <a:r>
              <a:rPr b="1" i="0" lang="en-US" sz="1000" u="none" cap="none" strike="noStrike">
                <a:solidFill>
                  <a:srgbClr val="AED6F1"/>
                </a:solidFill>
                <a:latin typeface="Calibri"/>
                <a:ea typeface="Calibri"/>
                <a:cs typeface="Calibri"/>
                <a:sym typeface="Calibri"/>
              </a:rPr>
              <a:t>WORKED EXAMPLE — malware.py</a:t>
            </a:r>
            <a:endParaRPr b="0" i="0" sz="1000" u="none" cap="none" strike="noStrike">
              <a:solidFill>
                <a:schemeClr val="dk1"/>
              </a:solidFill>
              <a:latin typeface="Calibri"/>
              <a:ea typeface="Calibri"/>
              <a:cs typeface="Calibri"/>
              <a:sym typeface="Calibri"/>
            </a:endParaRPr>
          </a:p>
        </p:txBody>
      </p:sp>
      <p:sp>
        <p:nvSpPr>
          <p:cNvPr id="1115" name="Google Shape;1115;g386fa9f7404_4_569"/>
          <p:cNvSpPr/>
          <p:nvPr/>
        </p:nvSpPr>
        <p:spPr>
          <a:xfrm>
            <a:off x="731520" y="6120384"/>
            <a:ext cx="109728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subprocess.run(['bash','-c','id'])  →  bash child  →  shell_command  →  +25 points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9" name="Shape 1119"/>
        <p:cNvGrpSpPr/>
        <p:nvPr/>
      </p:nvGrpSpPr>
      <p:grpSpPr>
        <a:xfrm>
          <a:off x="0" y="0"/>
          <a:ext cx="0" cy="0"/>
          <a:chOff x="0" y="0"/>
          <a:chExt cx="0" cy="0"/>
        </a:xfrm>
      </p:grpSpPr>
      <p:sp>
        <p:nvSpPr>
          <p:cNvPr id="1120" name="Google Shape;1120;g386fa9f7404_4_638"/>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g386fa9f7404_4_638"/>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Monitor 3 — What Each Spawned Process Reveals</a:t>
            </a:r>
            <a:endParaRPr b="0" i="0" sz="2700" u="none" cap="none" strike="noStrike">
              <a:solidFill>
                <a:schemeClr val="dk1"/>
              </a:solidFill>
              <a:latin typeface="Calibri"/>
              <a:ea typeface="Calibri"/>
              <a:cs typeface="Calibri"/>
              <a:sym typeface="Calibri"/>
            </a:endParaRPr>
          </a:p>
        </p:txBody>
      </p:sp>
      <p:sp>
        <p:nvSpPr>
          <p:cNvPr id="1122" name="Google Shape;1122;g386fa9f7404_4_638"/>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Process Monitor</a:t>
            </a:r>
            <a:endParaRPr b="0" i="0" sz="1100" u="none" cap="none" strike="noStrike">
              <a:solidFill>
                <a:schemeClr val="dk1"/>
              </a:solidFill>
              <a:latin typeface="Calibri"/>
              <a:ea typeface="Calibri"/>
              <a:cs typeface="Calibri"/>
              <a:sym typeface="Calibri"/>
            </a:endParaRPr>
          </a:p>
        </p:txBody>
      </p:sp>
      <p:sp>
        <p:nvSpPr>
          <p:cNvPr id="1123" name="Google Shape;1123;g386fa9f7404_4_638"/>
          <p:cNvSpPr/>
          <p:nvPr/>
        </p:nvSpPr>
        <p:spPr>
          <a:xfrm>
            <a:off x="487680" y="1072896"/>
            <a:ext cx="11216640" cy="63398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g386fa9f7404_4_638"/>
          <p:cNvSpPr/>
          <p:nvPr/>
        </p:nvSpPr>
        <p:spPr>
          <a:xfrm>
            <a:off x="487680" y="1072896"/>
            <a:ext cx="121920" cy="633984"/>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g386fa9f7404_4_638"/>
          <p:cNvSpPr/>
          <p:nvPr/>
        </p:nvSpPr>
        <p:spPr>
          <a:xfrm>
            <a:off x="755904" y="1072896"/>
            <a:ext cx="10789920" cy="6339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A drone data file has no reason to launch any program. Every spawned process reveals a specific attacker intent.</a:t>
            </a:r>
            <a:endParaRPr b="0" i="0" sz="1700" u="none" cap="none" strike="noStrike">
              <a:solidFill>
                <a:schemeClr val="dk1"/>
              </a:solidFill>
              <a:latin typeface="Calibri"/>
              <a:ea typeface="Calibri"/>
              <a:cs typeface="Calibri"/>
              <a:sym typeface="Calibri"/>
            </a:endParaRPr>
          </a:p>
        </p:txBody>
      </p:sp>
      <p:sp>
        <p:nvSpPr>
          <p:cNvPr id="1126" name="Google Shape;1126;g386fa9f7404_4_638"/>
          <p:cNvSpPr/>
          <p:nvPr/>
        </p:nvSpPr>
        <p:spPr>
          <a:xfrm>
            <a:off x="487680" y="1889760"/>
            <a:ext cx="5510784" cy="1036320"/>
          </a:xfrm>
          <a:prstGeom prst="rect">
            <a:avLst/>
          </a:prstGeom>
          <a:solidFill>
            <a:srgbClr val="EAF4FB"/>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g386fa9f7404_4_638"/>
          <p:cNvSpPr/>
          <p:nvPr/>
        </p:nvSpPr>
        <p:spPr>
          <a:xfrm>
            <a:off x="487680" y="1889760"/>
            <a:ext cx="5510784" cy="3657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g386fa9f7404_4_638"/>
          <p:cNvSpPr/>
          <p:nvPr/>
        </p:nvSpPr>
        <p:spPr>
          <a:xfrm>
            <a:off x="609600" y="1889760"/>
            <a:ext cx="31089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bash / sh / zsh / dash</a:t>
            </a:r>
            <a:endParaRPr b="0" i="0" sz="1300" u="none" cap="none" strike="noStrike">
              <a:solidFill>
                <a:schemeClr val="dk1"/>
              </a:solidFill>
              <a:latin typeface="Calibri"/>
              <a:ea typeface="Calibri"/>
              <a:cs typeface="Calibri"/>
              <a:sym typeface="Calibri"/>
            </a:endParaRPr>
          </a:p>
        </p:txBody>
      </p:sp>
      <p:sp>
        <p:nvSpPr>
          <p:cNvPr id="1129" name="Google Shape;1129;g386fa9f7404_4_638"/>
          <p:cNvSpPr/>
          <p:nvPr/>
        </p:nvSpPr>
        <p:spPr>
          <a:xfrm>
            <a:off x="3779520" y="1889760"/>
            <a:ext cx="2097024"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Reverse Shell</a:t>
            </a:r>
            <a:endParaRPr b="0" i="0" sz="1200" u="none" cap="none" strike="noStrike">
              <a:solidFill>
                <a:schemeClr val="dk1"/>
              </a:solidFill>
              <a:latin typeface="Calibri"/>
              <a:ea typeface="Calibri"/>
              <a:cs typeface="Calibri"/>
              <a:sym typeface="Calibri"/>
            </a:endParaRPr>
          </a:p>
        </p:txBody>
      </p:sp>
      <p:sp>
        <p:nvSpPr>
          <p:cNvPr id="1130" name="Google Shape;1130;g386fa9f7404_4_638"/>
          <p:cNvSpPr/>
          <p:nvPr/>
        </p:nvSpPr>
        <p:spPr>
          <a:xfrm>
            <a:off x="633984" y="2304288"/>
            <a:ext cx="4535424"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Opens an interactive command-line session. The attacker gains a terminal inside the system — full ability to run any command.</a:t>
            </a:r>
            <a:endParaRPr b="0" i="0" sz="1300" u="none" cap="none" strike="noStrike">
              <a:solidFill>
                <a:schemeClr val="dk1"/>
              </a:solidFill>
              <a:latin typeface="Calibri"/>
              <a:ea typeface="Calibri"/>
              <a:cs typeface="Calibri"/>
              <a:sym typeface="Calibri"/>
            </a:endParaRPr>
          </a:p>
        </p:txBody>
      </p:sp>
      <p:sp>
        <p:nvSpPr>
          <p:cNvPr id="1131" name="Google Shape;1131;g386fa9f7404_4_638"/>
          <p:cNvSpPr/>
          <p:nvPr/>
        </p:nvSpPr>
        <p:spPr>
          <a:xfrm>
            <a:off x="5218176" y="2255520"/>
            <a:ext cx="670560" cy="609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g386fa9f7404_4_638"/>
          <p:cNvSpPr/>
          <p:nvPr/>
        </p:nvSpPr>
        <p:spPr>
          <a:xfrm>
            <a:off x="5218176" y="2255520"/>
            <a:ext cx="67056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+25</a:t>
            </a:r>
            <a:endParaRPr b="0" i="0" sz="1700" u="none" cap="none" strike="noStrike">
              <a:solidFill>
                <a:schemeClr val="dk1"/>
              </a:solidFill>
              <a:latin typeface="Calibri"/>
              <a:ea typeface="Calibri"/>
              <a:cs typeface="Calibri"/>
              <a:sym typeface="Calibri"/>
            </a:endParaRPr>
          </a:p>
        </p:txBody>
      </p:sp>
      <p:sp>
        <p:nvSpPr>
          <p:cNvPr id="1133" name="Google Shape;1133;g386fa9f7404_4_638"/>
          <p:cNvSpPr/>
          <p:nvPr/>
        </p:nvSpPr>
        <p:spPr>
          <a:xfrm>
            <a:off x="6193536" y="1889760"/>
            <a:ext cx="5510784" cy="1036320"/>
          </a:xfrm>
          <a:prstGeom prst="rect">
            <a:avLst/>
          </a:prstGeom>
          <a:solidFill>
            <a:srgbClr val="EAF4FB"/>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g386fa9f7404_4_638"/>
          <p:cNvSpPr/>
          <p:nvPr/>
        </p:nvSpPr>
        <p:spPr>
          <a:xfrm>
            <a:off x="6193536" y="1889760"/>
            <a:ext cx="5510784" cy="36576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g386fa9f7404_4_638"/>
          <p:cNvSpPr/>
          <p:nvPr/>
        </p:nvSpPr>
        <p:spPr>
          <a:xfrm>
            <a:off x="6315456" y="1889760"/>
            <a:ext cx="31089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wget / curl</a:t>
            </a:r>
            <a:endParaRPr b="0" i="0" sz="1300" u="none" cap="none" strike="noStrike">
              <a:solidFill>
                <a:schemeClr val="dk1"/>
              </a:solidFill>
              <a:latin typeface="Calibri"/>
              <a:ea typeface="Calibri"/>
              <a:cs typeface="Calibri"/>
              <a:sym typeface="Calibri"/>
            </a:endParaRPr>
          </a:p>
        </p:txBody>
      </p:sp>
      <p:sp>
        <p:nvSpPr>
          <p:cNvPr id="1136" name="Google Shape;1136;g386fa9f7404_4_638"/>
          <p:cNvSpPr/>
          <p:nvPr/>
        </p:nvSpPr>
        <p:spPr>
          <a:xfrm>
            <a:off x="9485376" y="1889760"/>
            <a:ext cx="2097024"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Second-stage Download</a:t>
            </a:r>
            <a:endParaRPr b="0" i="0" sz="1200" u="none" cap="none" strike="noStrike">
              <a:solidFill>
                <a:schemeClr val="dk1"/>
              </a:solidFill>
              <a:latin typeface="Calibri"/>
              <a:ea typeface="Calibri"/>
              <a:cs typeface="Calibri"/>
              <a:sym typeface="Calibri"/>
            </a:endParaRPr>
          </a:p>
        </p:txBody>
      </p:sp>
      <p:sp>
        <p:nvSpPr>
          <p:cNvPr id="1137" name="Google Shape;1137;g386fa9f7404_4_638"/>
          <p:cNvSpPr/>
          <p:nvPr/>
        </p:nvSpPr>
        <p:spPr>
          <a:xfrm>
            <a:off x="6339840" y="2304288"/>
            <a:ext cx="4535424"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Downloads additional malware from the internet. The initial file is small; its purpose is to fetch a larger, more capable payload.</a:t>
            </a:r>
            <a:endParaRPr b="0" i="0" sz="1300" u="none" cap="none" strike="noStrike">
              <a:solidFill>
                <a:schemeClr val="dk1"/>
              </a:solidFill>
              <a:latin typeface="Calibri"/>
              <a:ea typeface="Calibri"/>
              <a:cs typeface="Calibri"/>
              <a:sym typeface="Calibri"/>
            </a:endParaRPr>
          </a:p>
        </p:txBody>
      </p:sp>
      <p:sp>
        <p:nvSpPr>
          <p:cNvPr id="1138" name="Google Shape;1138;g386fa9f7404_4_638"/>
          <p:cNvSpPr/>
          <p:nvPr/>
        </p:nvSpPr>
        <p:spPr>
          <a:xfrm>
            <a:off x="10924032" y="2255520"/>
            <a:ext cx="670560" cy="60960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g386fa9f7404_4_638"/>
          <p:cNvSpPr/>
          <p:nvPr/>
        </p:nvSpPr>
        <p:spPr>
          <a:xfrm>
            <a:off x="10924032" y="2255520"/>
            <a:ext cx="67056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+10</a:t>
            </a:r>
            <a:endParaRPr b="0" i="0" sz="1700" u="none" cap="none" strike="noStrike">
              <a:solidFill>
                <a:schemeClr val="dk1"/>
              </a:solidFill>
              <a:latin typeface="Calibri"/>
              <a:ea typeface="Calibri"/>
              <a:cs typeface="Calibri"/>
              <a:sym typeface="Calibri"/>
            </a:endParaRPr>
          </a:p>
        </p:txBody>
      </p:sp>
      <p:sp>
        <p:nvSpPr>
          <p:cNvPr id="1140" name="Google Shape;1140;g386fa9f7404_4_638"/>
          <p:cNvSpPr/>
          <p:nvPr/>
        </p:nvSpPr>
        <p:spPr>
          <a:xfrm>
            <a:off x="487680" y="3048000"/>
            <a:ext cx="5510784" cy="1036320"/>
          </a:xfrm>
          <a:prstGeom prst="rect">
            <a:avLst/>
          </a:prstGeom>
          <a:solidFill>
            <a:srgbClr val="EAF4FB"/>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g386fa9f7404_4_638"/>
          <p:cNvSpPr/>
          <p:nvPr/>
        </p:nvSpPr>
        <p:spPr>
          <a:xfrm>
            <a:off x="487680" y="3048000"/>
            <a:ext cx="5510784" cy="3657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g386fa9f7404_4_638"/>
          <p:cNvSpPr/>
          <p:nvPr/>
        </p:nvSpPr>
        <p:spPr>
          <a:xfrm>
            <a:off x="609600" y="3048000"/>
            <a:ext cx="31089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nc / ncat (Netcat)</a:t>
            </a:r>
            <a:endParaRPr b="0" i="0" sz="1300" u="none" cap="none" strike="noStrike">
              <a:solidFill>
                <a:schemeClr val="dk1"/>
              </a:solidFill>
              <a:latin typeface="Calibri"/>
              <a:ea typeface="Calibri"/>
              <a:cs typeface="Calibri"/>
              <a:sym typeface="Calibri"/>
            </a:endParaRPr>
          </a:p>
        </p:txBody>
      </p:sp>
      <p:sp>
        <p:nvSpPr>
          <p:cNvPr id="1143" name="Google Shape;1143;g386fa9f7404_4_638"/>
          <p:cNvSpPr/>
          <p:nvPr/>
        </p:nvSpPr>
        <p:spPr>
          <a:xfrm>
            <a:off x="3779520" y="3048000"/>
            <a:ext cx="2097024"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Raw Backdoor Channel</a:t>
            </a:r>
            <a:endParaRPr b="0" i="0" sz="1200" u="none" cap="none" strike="noStrike">
              <a:solidFill>
                <a:schemeClr val="dk1"/>
              </a:solidFill>
              <a:latin typeface="Calibri"/>
              <a:ea typeface="Calibri"/>
              <a:cs typeface="Calibri"/>
              <a:sym typeface="Calibri"/>
            </a:endParaRPr>
          </a:p>
        </p:txBody>
      </p:sp>
      <p:sp>
        <p:nvSpPr>
          <p:cNvPr id="1144" name="Google Shape;1144;g386fa9f7404_4_638"/>
          <p:cNvSpPr/>
          <p:nvPr/>
        </p:nvSpPr>
        <p:spPr>
          <a:xfrm>
            <a:off x="633984" y="3462528"/>
            <a:ext cx="4535424"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Creates a direct TCP connection at raw socket level. Used for covert communication channels that bypass application-layer monitoring.</a:t>
            </a:r>
            <a:endParaRPr b="0" i="0" sz="1300" u="none" cap="none" strike="noStrike">
              <a:solidFill>
                <a:schemeClr val="dk1"/>
              </a:solidFill>
              <a:latin typeface="Calibri"/>
              <a:ea typeface="Calibri"/>
              <a:cs typeface="Calibri"/>
              <a:sym typeface="Calibri"/>
            </a:endParaRPr>
          </a:p>
        </p:txBody>
      </p:sp>
      <p:sp>
        <p:nvSpPr>
          <p:cNvPr id="1145" name="Google Shape;1145;g386fa9f7404_4_638"/>
          <p:cNvSpPr/>
          <p:nvPr/>
        </p:nvSpPr>
        <p:spPr>
          <a:xfrm>
            <a:off x="5218176" y="3413760"/>
            <a:ext cx="670560" cy="609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g386fa9f7404_4_638"/>
          <p:cNvSpPr/>
          <p:nvPr/>
        </p:nvSpPr>
        <p:spPr>
          <a:xfrm>
            <a:off x="5218176" y="3413760"/>
            <a:ext cx="67056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+25</a:t>
            </a:r>
            <a:endParaRPr b="0" i="0" sz="1700" u="none" cap="none" strike="noStrike">
              <a:solidFill>
                <a:schemeClr val="dk1"/>
              </a:solidFill>
              <a:latin typeface="Calibri"/>
              <a:ea typeface="Calibri"/>
              <a:cs typeface="Calibri"/>
              <a:sym typeface="Calibri"/>
            </a:endParaRPr>
          </a:p>
        </p:txBody>
      </p:sp>
      <p:sp>
        <p:nvSpPr>
          <p:cNvPr id="1147" name="Google Shape;1147;g386fa9f7404_4_638"/>
          <p:cNvSpPr/>
          <p:nvPr/>
        </p:nvSpPr>
        <p:spPr>
          <a:xfrm>
            <a:off x="6193536" y="3048000"/>
            <a:ext cx="5510784" cy="1036320"/>
          </a:xfrm>
          <a:prstGeom prst="rect">
            <a:avLst/>
          </a:prstGeom>
          <a:solidFill>
            <a:srgbClr val="EAF4FB"/>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g386fa9f7404_4_638"/>
          <p:cNvSpPr/>
          <p:nvPr/>
        </p:nvSpPr>
        <p:spPr>
          <a:xfrm>
            <a:off x="6193536" y="3048000"/>
            <a:ext cx="5510784" cy="36576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g386fa9f7404_4_638"/>
          <p:cNvSpPr/>
          <p:nvPr/>
        </p:nvSpPr>
        <p:spPr>
          <a:xfrm>
            <a:off x="6315456" y="3048000"/>
            <a:ext cx="31089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crontab / at</a:t>
            </a:r>
            <a:endParaRPr b="0" i="0" sz="1300" u="none" cap="none" strike="noStrike">
              <a:solidFill>
                <a:schemeClr val="dk1"/>
              </a:solidFill>
              <a:latin typeface="Calibri"/>
              <a:ea typeface="Calibri"/>
              <a:cs typeface="Calibri"/>
              <a:sym typeface="Calibri"/>
            </a:endParaRPr>
          </a:p>
        </p:txBody>
      </p:sp>
      <p:sp>
        <p:nvSpPr>
          <p:cNvPr id="1150" name="Google Shape;1150;g386fa9f7404_4_638"/>
          <p:cNvSpPr/>
          <p:nvPr/>
        </p:nvSpPr>
        <p:spPr>
          <a:xfrm>
            <a:off x="9485376" y="3048000"/>
            <a:ext cx="2097024"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Persistence</a:t>
            </a:r>
            <a:endParaRPr b="0" i="0" sz="1200" u="none" cap="none" strike="noStrike">
              <a:solidFill>
                <a:schemeClr val="dk1"/>
              </a:solidFill>
              <a:latin typeface="Calibri"/>
              <a:ea typeface="Calibri"/>
              <a:cs typeface="Calibri"/>
              <a:sym typeface="Calibri"/>
            </a:endParaRPr>
          </a:p>
        </p:txBody>
      </p:sp>
      <p:sp>
        <p:nvSpPr>
          <p:cNvPr id="1151" name="Google Shape;1151;g386fa9f7404_4_638"/>
          <p:cNvSpPr/>
          <p:nvPr/>
        </p:nvSpPr>
        <p:spPr>
          <a:xfrm>
            <a:off x="6339840" y="3462528"/>
            <a:ext cx="4535424"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Schedules the malware to run again automatically — on reboot or at a timed interval. Removal of the original file does not stop recurrence.</a:t>
            </a:r>
            <a:endParaRPr b="0" i="0" sz="1300" u="none" cap="none" strike="noStrike">
              <a:solidFill>
                <a:schemeClr val="dk1"/>
              </a:solidFill>
              <a:latin typeface="Calibri"/>
              <a:ea typeface="Calibri"/>
              <a:cs typeface="Calibri"/>
              <a:sym typeface="Calibri"/>
            </a:endParaRPr>
          </a:p>
        </p:txBody>
      </p:sp>
      <p:sp>
        <p:nvSpPr>
          <p:cNvPr id="1152" name="Google Shape;1152;g386fa9f7404_4_638"/>
          <p:cNvSpPr/>
          <p:nvPr/>
        </p:nvSpPr>
        <p:spPr>
          <a:xfrm>
            <a:off x="10924032" y="3413760"/>
            <a:ext cx="670560" cy="60960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g386fa9f7404_4_638"/>
          <p:cNvSpPr/>
          <p:nvPr/>
        </p:nvSpPr>
        <p:spPr>
          <a:xfrm>
            <a:off x="10924032" y="3413760"/>
            <a:ext cx="67056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+10</a:t>
            </a:r>
            <a:endParaRPr b="0" i="0" sz="1700" u="none" cap="none" strike="noStrike">
              <a:solidFill>
                <a:schemeClr val="dk1"/>
              </a:solidFill>
              <a:latin typeface="Calibri"/>
              <a:ea typeface="Calibri"/>
              <a:cs typeface="Calibri"/>
              <a:sym typeface="Calibri"/>
            </a:endParaRPr>
          </a:p>
        </p:txBody>
      </p:sp>
      <p:sp>
        <p:nvSpPr>
          <p:cNvPr id="1154" name="Google Shape;1154;g386fa9f7404_4_638"/>
          <p:cNvSpPr/>
          <p:nvPr/>
        </p:nvSpPr>
        <p:spPr>
          <a:xfrm>
            <a:off x="487680" y="4206240"/>
            <a:ext cx="5510784" cy="1036320"/>
          </a:xfrm>
          <a:prstGeom prst="rect">
            <a:avLst/>
          </a:prstGeom>
          <a:solidFill>
            <a:srgbClr val="EAF4FB"/>
          </a:solidFill>
          <a:ln cap="flat" cmpd="sng" w="1905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g386fa9f7404_4_638"/>
          <p:cNvSpPr/>
          <p:nvPr/>
        </p:nvSpPr>
        <p:spPr>
          <a:xfrm>
            <a:off x="487680" y="4206240"/>
            <a:ext cx="5510784" cy="36576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g386fa9f7404_4_638"/>
          <p:cNvSpPr/>
          <p:nvPr/>
        </p:nvSpPr>
        <p:spPr>
          <a:xfrm>
            <a:off x="609600" y="4206240"/>
            <a:ext cx="31089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gcc / cc / make</a:t>
            </a:r>
            <a:endParaRPr b="0" i="0" sz="1300" u="none" cap="none" strike="noStrike">
              <a:solidFill>
                <a:schemeClr val="dk1"/>
              </a:solidFill>
              <a:latin typeface="Calibri"/>
              <a:ea typeface="Calibri"/>
              <a:cs typeface="Calibri"/>
              <a:sym typeface="Calibri"/>
            </a:endParaRPr>
          </a:p>
        </p:txBody>
      </p:sp>
      <p:sp>
        <p:nvSpPr>
          <p:cNvPr id="1157" name="Google Shape;1157;g386fa9f7404_4_638"/>
          <p:cNvSpPr/>
          <p:nvPr/>
        </p:nvSpPr>
        <p:spPr>
          <a:xfrm>
            <a:off x="3779520" y="4206240"/>
            <a:ext cx="2097024"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On-device Compilation</a:t>
            </a:r>
            <a:endParaRPr b="0" i="0" sz="1200" u="none" cap="none" strike="noStrike">
              <a:solidFill>
                <a:schemeClr val="dk1"/>
              </a:solidFill>
              <a:latin typeface="Calibri"/>
              <a:ea typeface="Calibri"/>
              <a:cs typeface="Calibri"/>
              <a:sym typeface="Calibri"/>
            </a:endParaRPr>
          </a:p>
        </p:txBody>
      </p:sp>
      <p:sp>
        <p:nvSpPr>
          <p:cNvPr id="1158" name="Google Shape;1158;g386fa9f7404_4_638"/>
          <p:cNvSpPr/>
          <p:nvPr/>
        </p:nvSpPr>
        <p:spPr>
          <a:xfrm>
            <a:off x="633984" y="4620768"/>
            <a:ext cx="4535424"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Compiles code on the target machine. Avoids pre-compiled binary detection — the binary only exists after compilation.</a:t>
            </a:r>
            <a:endParaRPr b="0" i="0" sz="1300" u="none" cap="none" strike="noStrike">
              <a:solidFill>
                <a:schemeClr val="dk1"/>
              </a:solidFill>
              <a:latin typeface="Calibri"/>
              <a:ea typeface="Calibri"/>
              <a:cs typeface="Calibri"/>
              <a:sym typeface="Calibri"/>
            </a:endParaRPr>
          </a:p>
        </p:txBody>
      </p:sp>
      <p:sp>
        <p:nvSpPr>
          <p:cNvPr id="1159" name="Google Shape;1159;g386fa9f7404_4_638"/>
          <p:cNvSpPr/>
          <p:nvPr/>
        </p:nvSpPr>
        <p:spPr>
          <a:xfrm>
            <a:off x="5218176" y="4572000"/>
            <a:ext cx="670560" cy="60960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g386fa9f7404_4_638"/>
          <p:cNvSpPr/>
          <p:nvPr/>
        </p:nvSpPr>
        <p:spPr>
          <a:xfrm>
            <a:off x="5218176" y="4572000"/>
            <a:ext cx="67056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+10</a:t>
            </a:r>
            <a:endParaRPr b="0" i="0" sz="1700" u="none" cap="none" strike="noStrike">
              <a:solidFill>
                <a:schemeClr val="dk1"/>
              </a:solidFill>
              <a:latin typeface="Calibri"/>
              <a:ea typeface="Calibri"/>
              <a:cs typeface="Calibri"/>
              <a:sym typeface="Calibri"/>
            </a:endParaRPr>
          </a:p>
        </p:txBody>
      </p:sp>
      <p:sp>
        <p:nvSpPr>
          <p:cNvPr id="1161" name="Google Shape;1161;g386fa9f7404_4_638"/>
          <p:cNvSpPr/>
          <p:nvPr/>
        </p:nvSpPr>
        <p:spPr>
          <a:xfrm>
            <a:off x="6193536" y="4206240"/>
            <a:ext cx="5510784" cy="1036320"/>
          </a:xfrm>
          <a:prstGeom prst="rect">
            <a:avLst/>
          </a:prstGeom>
          <a:solidFill>
            <a:srgbClr val="EAF4FB"/>
          </a:solidFill>
          <a:ln cap="flat" cmpd="sng" w="1905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g386fa9f7404_4_638"/>
          <p:cNvSpPr/>
          <p:nvPr/>
        </p:nvSpPr>
        <p:spPr>
          <a:xfrm>
            <a:off x="6193536" y="4206240"/>
            <a:ext cx="5510784" cy="36576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g386fa9f7404_4_638"/>
          <p:cNvSpPr/>
          <p:nvPr/>
        </p:nvSpPr>
        <p:spPr>
          <a:xfrm>
            <a:off x="6315456" y="4206240"/>
            <a:ext cx="31089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python3 / perl / ruby</a:t>
            </a:r>
            <a:endParaRPr b="0" i="0" sz="1300" u="none" cap="none" strike="noStrike">
              <a:solidFill>
                <a:schemeClr val="dk1"/>
              </a:solidFill>
              <a:latin typeface="Calibri"/>
              <a:ea typeface="Calibri"/>
              <a:cs typeface="Calibri"/>
              <a:sym typeface="Calibri"/>
            </a:endParaRPr>
          </a:p>
        </p:txBody>
      </p:sp>
      <p:sp>
        <p:nvSpPr>
          <p:cNvPr id="1164" name="Google Shape;1164;g386fa9f7404_4_638"/>
          <p:cNvSpPr/>
          <p:nvPr/>
        </p:nvSpPr>
        <p:spPr>
          <a:xfrm>
            <a:off x="9485376" y="4206240"/>
            <a:ext cx="2097024" cy="36576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Embedded Script Execution</a:t>
            </a:r>
            <a:endParaRPr b="0" i="0" sz="1200" u="none" cap="none" strike="noStrike">
              <a:solidFill>
                <a:schemeClr val="dk1"/>
              </a:solidFill>
              <a:latin typeface="Calibri"/>
              <a:ea typeface="Calibri"/>
              <a:cs typeface="Calibri"/>
              <a:sym typeface="Calibri"/>
            </a:endParaRPr>
          </a:p>
        </p:txBody>
      </p:sp>
      <p:sp>
        <p:nvSpPr>
          <p:cNvPr id="1165" name="Google Shape;1165;g386fa9f7404_4_638"/>
          <p:cNvSpPr/>
          <p:nvPr/>
        </p:nvSpPr>
        <p:spPr>
          <a:xfrm>
            <a:off x="6339840" y="4620768"/>
            <a:ext cx="4535424" cy="5608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Launches a second interpreter. The file writes a hidden script to disk and executes it via the interpreter.</a:t>
            </a:r>
            <a:endParaRPr b="0" i="0" sz="1300" u="none" cap="none" strike="noStrike">
              <a:solidFill>
                <a:schemeClr val="dk1"/>
              </a:solidFill>
              <a:latin typeface="Calibri"/>
              <a:ea typeface="Calibri"/>
              <a:cs typeface="Calibri"/>
              <a:sym typeface="Calibri"/>
            </a:endParaRPr>
          </a:p>
        </p:txBody>
      </p:sp>
      <p:sp>
        <p:nvSpPr>
          <p:cNvPr id="1166" name="Google Shape;1166;g386fa9f7404_4_638"/>
          <p:cNvSpPr/>
          <p:nvPr/>
        </p:nvSpPr>
        <p:spPr>
          <a:xfrm>
            <a:off x="10924032" y="4572000"/>
            <a:ext cx="670560" cy="60960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g386fa9f7404_4_638"/>
          <p:cNvSpPr/>
          <p:nvPr/>
        </p:nvSpPr>
        <p:spPr>
          <a:xfrm>
            <a:off x="10924032" y="4572000"/>
            <a:ext cx="67056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+10</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171" name="Shape 1171"/>
        <p:cNvGrpSpPr/>
        <p:nvPr/>
      </p:nvGrpSpPr>
      <p:grpSpPr>
        <a:xfrm>
          <a:off x="0" y="0"/>
          <a:ext cx="0" cy="0"/>
          <a:chOff x="0" y="0"/>
          <a:chExt cx="0" cy="0"/>
        </a:xfrm>
      </p:grpSpPr>
      <p:sp>
        <p:nvSpPr>
          <p:cNvPr id="1172" name="Google Shape;1172;g386fa9f7404_4_689"/>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g386fa9f7404_4_689"/>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Monitor 3 — The Full Process Tree</a:t>
            </a:r>
            <a:endParaRPr b="0" i="0" sz="2700" u="none" cap="none" strike="noStrike">
              <a:solidFill>
                <a:schemeClr val="dk1"/>
              </a:solidFill>
              <a:latin typeface="Calibri"/>
              <a:ea typeface="Calibri"/>
              <a:cs typeface="Calibri"/>
              <a:sym typeface="Calibri"/>
            </a:endParaRPr>
          </a:p>
        </p:txBody>
      </p:sp>
      <p:sp>
        <p:nvSpPr>
          <p:cNvPr id="1174" name="Google Shape;1174;g386fa9f7404_4_689"/>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Process Monitor</a:t>
            </a:r>
            <a:endParaRPr b="0" i="0" sz="1100" u="none" cap="none" strike="noStrike">
              <a:solidFill>
                <a:schemeClr val="dk1"/>
              </a:solidFill>
              <a:latin typeface="Calibri"/>
              <a:ea typeface="Calibri"/>
              <a:cs typeface="Calibri"/>
              <a:sym typeface="Calibri"/>
            </a:endParaRPr>
          </a:p>
        </p:txBody>
      </p:sp>
      <p:sp>
        <p:nvSpPr>
          <p:cNvPr id="1175" name="Google Shape;1175;g386fa9f7404_4_689"/>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We walk the entire tree recursively — every child, grandchild, and descendant — at every 200ms poll.</a:t>
            </a:r>
            <a:endParaRPr b="0" i="0" sz="1700" u="none" cap="none" strike="noStrike">
              <a:solidFill>
                <a:schemeClr val="dk1"/>
              </a:solidFill>
              <a:latin typeface="Calibri"/>
              <a:ea typeface="Calibri"/>
              <a:cs typeface="Calibri"/>
              <a:sym typeface="Calibri"/>
            </a:endParaRPr>
          </a:p>
        </p:txBody>
      </p:sp>
      <p:sp>
        <p:nvSpPr>
          <p:cNvPr id="1176" name="Google Shape;1176;g386fa9f7404_4_689"/>
          <p:cNvSpPr/>
          <p:nvPr/>
        </p:nvSpPr>
        <p:spPr>
          <a:xfrm>
            <a:off x="4657344" y="1682496"/>
            <a:ext cx="2048256" cy="707136"/>
          </a:xfrm>
          <a:prstGeom prst="rect">
            <a:avLst/>
          </a:prstGeom>
          <a:solidFill>
            <a:srgbClr val="FADBD8"/>
          </a:solidFill>
          <a:ln cap="flat" cmpd="sng" w="2540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g386fa9f7404_4_689"/>
          <p:cNvSpPr/>
          <p:nvPr/>
        </p:nvSpPr>
        <p:spPr>
          <a:xfrm>
            <a:off x="4754880" y="1682496"/>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malware.py</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PID 1234</a:t>
            </a:r>
            <a:endParaRPr b="0" i="0" sz="1300" u="none" cap="none" strike="noStrike">
              <a:solidFill>
                <a:schemeClr val="dk1"/>
              </a:solidFill>
              <a:latin typeface="Calibri"/>
              <a:ea typeface="Calibri"/>
              <a:cs typeface="Calibri"/>
              <a:sym typeface="Calibri"/>
            </a:endParaRPr>
          </a:p>
        </p:txBody>
      </p:sp>
      <p:sp>
        <p:nvSpPr>
          <p:cNvPr id="1178" name="Google Shape;1178;g386fa9f7404_4_689"/>
          <p:cNvSpPr/>
          <p:nvPr/>
        </p:nvSpPr>
        <p:spPr>
          <a:xfrm>
            <a:off x="5666841" y="2389632"/>
            <a:ext cx="30480" cy="390144"/>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g386fa9f7404_4_689"/>
          <p:cNvSpPr/>
          <p:nvPr/>
        </p:nvSpPr>
        <p:spPr>
          <a:xfrm>
            <a:off x="2633472" y="2765145"/>
            <a:ext cx="6096000" cy="30480"/>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g386fa9f7404_4_689"/>
          <p:cNvSpPr/>
          <p:nvPr/>
        </p:nvSpPr>
        <p:spPr>
          <a:xfrm>
            <a:off x="2618841" y="2779776"/>
            <a:ext cx="30480" cy="243840"/>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g386fa9f7404_4_689"/>
          <p:cNvSpPr/>
          <p:nvPr/>
        </p:nvSpPr>
        <p:spPr>
          <a:xfrm>
            <a:off x="1609344" y="3023616"/>
            <a:ext cx="2048256" cy="707136"/>
          </a:xfrm>
          <a:prstGeom prst="rect">
            <a:avLst/>
          </a:prstGeom>
          <a:solidFill>
            <a:srgbClr val="FADBD8"/>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g386fa9f7404_4_689"/>
          <p:cNvSpPr/>
          <p:nvPr/>
        </p:nvSpPr>
        <p:spPr>
          <a:xfrm>
            <a:off x="1706880" y="3023616"/>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bash</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PID 1235</a:t>
            </a:r>
            <a:endParaRPr b="0" i="0" sz="1300" u="none" cap="none" strike="noStrike">
              <a:solidFill>
                <a:schemeClr val="dk1"/>
              </a:solidFill>
              <a:latin typeface="Calibri"/>
              <a:ea typeface="Calibri"/>
              <a:cs typeface="Calibri"/>
              <a:sym typeface="Calibri"/>
            </a:endParaRPr>
          </a:p>
        </p:txBody>
      </p:sp>
      <p:sp>
        <p:nvSpPr>
          <p:cNvPr id="1183" name="Google Shape;1183;g386fa9f7404_4_689"/>
          <p:cNvSpPr/>
          <p:nvPr/>
        </p:nvSpPr>
        <p:spPr>
          <a:xfrm>
            <a:off x="1609344" y="3730752"/>
            <a:ext cx="2048256" cy="34137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g386fa9f7404_4_689"/>
          <p:cNvSpPr/>
          <p:nvPr/>
        </p:nvSpPr>
        <p:spPr>
          <a:xfrm>
            <a:off x="1609344" y="3730752"/>
            <a:ext cx="2048256"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+25</a:t>
            </a:r>
            <a:endParaRPr b="0" i="0" sz="1300" u="none" cap="none" strike="noStrike">
              <a:solidFill>
                <a:schemeClr val="dk1"/>
              </a:solidFill>
              <a:latin typeface="Calibri"/>
              <a:ea typeface="Calibri"/>
              <a:cs typeface="Calibri"/>
              <a:sym typeface="Calibri"/>
            </a:endParaRPr>
          </a:p>
        </p:txBody>
      </p:sp>
      <p:sp>
        <p:nvSpPr>
          <p:cNvPr id="1185" name="Google Shape;1185;g386fa9f7404_4_689"/>
          <p:cNvSpPr/>
          <p:nvPr/>
        </p:nvSpPr>
        <p:spPr>
          <a:xfrm>
            <a:off x="5666841" y="2779776"/>
            <a:ext cx="30480" cy="243840"/>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g386fa9f7404_4_689"/>
          <p:cNvSpPr/>
          <p:nvPr/>
        </p:nvSpPr>
        <p:spPr>
          <a:xfrm>
            <a:off x="4657344" y="3023616"/>
            <a:ext cx="2048256" cy="707136"/>
          </a:xfrm>
          <a:prstGeom prst="rect">
            <a:avLst/>
          </a:prstGeom>
          <a:solidFill>
            <a:srgbClr val="FDEBD0"/>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g386fa9f7404_4_689"/>
          <p:cNvSpPr/>
          <p:nvPr/>
        </p:nvSpPr>
        <p:spPr>
          <a:xfrm>
            <a:off x="4754880" y="3023616"/>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python3</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PID 1236</a:t>
            </a:r>
            <a:endParaRPr b="0" i="0" sz="1300" u="none" cap="none" strike="noStrike">
              <a:solidFill>
                <a:schemeClr val="dk1"/>
              </a:solidFill>
              <a:latin typeface="Calibri"/>
              <a:ea typeface="Calibri"/>
              <a:cs typeface="Calibri"/>
              <a:sym typeface="Calibri"/>
            </a:endParaRPr>
          </a:p>
        </p:txBody>
      </p:sp>
      <p:sp>
        <p:nvSpPr>
          <p:cNvPr id="1188" name="Google Shape;1188;g386fa9f7404_4_689"/>
          <p:cNvSpPr/>
          <p:nvPr/>
        </p:nvSpPr>
        <p:spPr>
          <a:xfrm>
            <a:off x="4657344" y="3730752"/>
            <a:ext cx="2048256" cy="341376"/>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g386fa9f7404_4_689"/>
          <p:cNvSpPr/>
          <p:nvPr/>
        </p:nvSpPr>
        <p:spPr>
          <a:xfrm>
            <a:off x="4657344" y="3730752"/>
            <a:ext cx="2048256"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1190" name="Google Shape;1190;g386fa9f7404_4_689"/>
          <p:cNvSpPr/>
          <p:nvPr/>
        </p:nvSpPr>
        <p:spPr>
          <a:xfrm>
            <a:off x="8714841" y="2779776"/>
            <a:ext cx="30480" cy="243840"/>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g386fa9f7404_4_689"/>
          <p:cNvSpPr/>
          <p:nvPr/>
        </p:nvSpPr>
        <p:spPr>
          <a:xfrm>
            <a:off x="7705344" y="3023616"/>
            <a:ext cx="2048256" cy="707136"/>
          </a:xfrm>
          <a:prstGeom prst="rect">
            <a:avLst/>
          </a:prstGeom>
          <a:solidFill>
            <a:srgbClr val="FDEBD0"/>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g386fa9f7404_4_689"/>
          <p:cNvSpPr/>
          <p:nvPr/>
        </p:nvSpPr>
        <p:spPr>
          <a:xfrm>
            <a:off x="7802880" y="3023616"/>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crontab</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PID 1237</a:t>
            </a:r>
            <a:endParaRPr b="0" i="0" sz="1300" u="none" cap="none" strike="noStrike">
              <a:solidFill>
                <a:schemeClr val="dk1"/>
              </a:solidFill>
              <a:latin typeface="Calibri"/>
              <a:ea typeface="Calibri"/>
              <a:cs typeface="Calibri"/>
              <a:sym typeface="Calibri"/>
            </a:endParaRPr>
          </a:p>
        </p:txBody>
      </p:sp>
      <p:sp>
        <p:nvSpPr>
          <p:cNvPr id="1193" name="Google Shape;1193;g386fa9f7404_4_689"/>
          <p:cNvSpPr/>
          <p:nvPr/>
        </p:nvSpPr>
        <p:spPr>
          <a:xfrm>
            <a:off x="7705344" y="3730752"/>
            <a:ext cx="2048256" cy="341376"/>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g386fa9f7404_4_689"/>
          <p:cNvSpPr/>
          <p:nvPr/>
        </p:nvSpPr>
        <p:spPr>
          <a:xfrm>
            <a:off x="7705344" y="3730752"/>
            <a:ext cx="2048256"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1195" name="Google Shape;1195;g386fa9f7404_4_689"/>
          <p:cNvSpPr/>
          <p:nvPr/>
        </p:nvSpPr>
        <p:spPr>
          <a:xfrm>
            <a:off x="2618841" y="4072128"/>
            <a:ext cx="30480" cy="390144"/>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g386fa9f7404_4_689"/>
          <p:cNvSpPr/>
          <p:nvPr/>
        </p:nvSpPr>
        <p:spPr>
          <a:xfrm>
            <a:off x="1694688" y="4447641"/>
            <a:ext cx="2718816" cy="30480"/>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g386fa9f7404_4_689"/>
          <p:cNvSpPr/>
          <p:nvPr/>
        </p:nvSpPr>
        <p:spPr>
          <a:xfrm>
            <a:off x="1680057" y="4462272"/>
            <a:ext cx="30480" cy="243840"/>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g386fa9f7404_4_689"/>
          <p:cNvSpPr/>
          <p:nvPr/>
        </p:nvSpPr>
        <p:spPr>
          <a:xfrm>
            <a:off x="670560" y="4706112"/>
            <a:ext cx="2048256" cy="707136"/>
          </a:xfrm>
          <a:prstGeom prst="rect">
            <a:avLst/>
          </a:prstGeom>
          <a:solidFill>
            <a:srgbClr val="FDEBD0"/>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g386fa9f7404_4_689"/>
          <p:cNvSpPr/>
          <p:nvPr/>
        </p:nvSpPr>
        <p:spPr>
          <a:xfrm>
            <a:off x="768096" y="4706112"/>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curl</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A6F1E"/>
              </a:buClr>
              <a:buSzPts val="1300"/>
              <a:buFont typeface="Calibri"/>
              <a:buNone/>
            </a:pPr>
            <a:r>
              <a:rPr b="1" i="0" lang="en-US" sz="1300" u="none" cap="none" strike="noStrike">
                <a:solidFill>
                  <a:srgbClr val="CA6F1E"/>
                </a:solidFill>
                <a:latin typeface="Calibri"/>
                <a:ea typeface="Calibri"/>
                <a:cs typeface="Calibri"/>
                <a:sym typeface="Calibri"/>
              </a:rPr>
              <a:t>PID 1238</a:t>
            </a:r>
            <a:endParaRPr b="0" i="0" sz="1300" u="none" cap="none" strike="noStrike">
              <a:solidFill>
                <a:schemeClr val="dk1"/>
              </a:solidFill>
              <a:latin typeface="Calibri"/>
              <a:ea typeface="Calibri"/>
              <a:cs typeface="Calibri"/>
              <a:sym typeface="Calibri"/>
            </a:endParaRPr>
          </a:p>
        </p:txBody>
      </p:sp>
      <p:sp>
        <p:nvSpPr>
          <p:cNvPr id="1200" name="Google Shape;1200;g386fa9f7404_4_689"/>
          <p:cNvSpPr/>
          <p:nvPr/>
        </p:nvSpPr>
        <p:spPr>
          <a:xfrm>
            <a:off x="670560" y="5413248"/>
            <a:ext cx="2048256" cy="316992"/>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g386fa9f7404_4_689"/>
          <p:cNvSpPr/>
          <p:nvPr/>
        </p:nvSpPr>
        <p:spPr>
          <a:xfrm>
            <a:off x="670560" y="5413248"/>
            <a:ext cx="2048256" cy="3169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1202" name="Google Shape;1202;g386fa9f7404_4_689"/>
          <p:cNvSpPr/>
          <p:nvPr/>
        </p:nvSpPr>
        <p:spPr>
          <a:xfrm>
            <a:off x="4398873" y="4462272"/>
            <a:ext cx="30480" cy="243840"/>
          </a:xfrm>
          <a:prstGeom prst="rect">
            <a:avLst/>
          </a:prstGeom>
          <a:solidFill>
            <a:srgbClr val="5D8AA8"/>
          </a:solidFill>
          <a:ln cap="flat" cmpd="sng" w="12700">
            <a:solidFill>
              <a:srgbClr val="5D8AA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g386fa9f7404_4_689"/>
          <p:cNvSpPr/>
          <p:nvPr/>
        </p:nvSpPr>
        <p:spPr>
          <a:xfrm>
            <a:off x="3389376" y="4706112"/>
            <a:ext cx="2048256" cy="707136"/>
          </a:xfrm>
          <a:prstGeom prst="rect">
            <a:avLst/>
          </a:prstGeom>
          <a:solidFill>
            <a:srgbClr val="FADBD8"/>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g386fa9f7404_4_689"/>
          <p:cNvSpPr/>
          <p:nvPr/>
        </p:nvSpPr>
        <p:spPr>
          <a:xfrm>
            <a:off x="3486912" y="4706112"/>
            <a:ext cx="1853184" cy="7071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nc</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PID 1239</a:t>
            </a:r>
            <a:endParaRPr b="0" i="0" sz="1300" u="none" cap="none" strike="noStrike">
              <a:solidFill>
                <a:schemeClr val="dk1"/>
              </a:solidFill>
              <a:latin typeface="Calibri"/>
              <a:ea typeface="Calibri"/>
              <a:cs typeface="Calibri"/>
              <a:sym typeface="Calibri"/>
            </a:endParaRPr>
          </a:p>
        </p:txBody>
      </p:sp>
      <p:sp>
        <p:nvSpPr>
          <p:cNvPr id="1205" name="Google Shape;1205;g386fa9f7404_4_689"/>
          <p:cNvSpPr/>
          <p:nvPr/>
        </p:nvSpPr>
        <p:spPr>
          <a:xfrm>
            <a:off x="3389376" y="5413248"/>
            <a:ext cx="2048256" cy="31699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g386fa9f7404_4_689"/>
          <p:cNvSpPr/>
          <p:nvPr/>
        </p:nvSpPr>
        <p:spPr>
          <a:xfrm>
            <a:off x="3389376" y="5413248"/>
            <a:ext cx="2048256" cy="3169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+25</a:t>
            </a:r>
            <a:endParaRPr b="0" i="0" sz="1300" u="none" cap="none" strike="noStrike">
              <a:solidFill>
                <a:schemeClr val="dk1"/>
              </a:solidFill>
              <a:latin typeface="Calibri"/>
              <a:ea typeface="Calibri"/>
              <a:cs typeface="Calibri"/>
              <a:sym typeface="Calibri"/>
            </a:endParaRPr>
          </a:p>
        </p:txBody>
      </p:sp>
      <p:sp>
        <p:nvSpPr>
          <p:cNvPr id="1207" name="Google Shape;1207;g386fa9f7404_4_689"/>
          <p:cNvSpPr/>
          <p:nvPr/>
        </p:nvSpPr>
        <p:spPr>
          <a:xfrm>
            <a:off x="10021824" y="1682496"/>
            <a:ext cx="1682496" cy="3779520"/>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g386fa9f7404_4_689"/>
          <p:cNvSpPr/>
          <p:nvPr/>
        </p:nvSpPr>
        <p:spPr>
          <a:xfrm>
            <a:off x="10021824" y="1731264"/>
            <a:ext cx="1682496"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200"/>
              <a:buFont typeface="Calibri"/>
              <a:buNone/>
            </a:pPr>
            <a:r>
              <a:rPr b="1" i="0" lang="en-US" sz="1200" u="none" cap="none" strike="noStrike">
                <a:solidFill>
                  <a:srgbClr val="AED6F1"/>
                </a:solidFill>
                <a:latin typeface="Calibri"/>
                <a:ea typeface="Calibri"/>
                <a:cs typeface="Calibri"/>
                <a:sym typeface="Calibri"/>
              </a:rPr>
              <a:t>Score</a:t>
            </a:r>
            <a:endParaRPr b="0" i="0" sz="1200" u="none" cap="none" strike="noStrike">
              <a:solidFill>
                <a:schemeClr val="dk1"/>
              </a:solidFill>
              <a:latin typeface="Calibri"/>
              <a:ea typeface="Calibri"/>
              <a:cs typeface="Calibri"/>
              <a:sym typeface="Calibri"/>
            </a:endParaRPr>
          </a:p>
        </p:txBody>
      </p:sp>
      <p:sp>
        <p:nvSpPr>
          <p:cNvPr id="1209" name="Google Shape;1209;g386fa9f7404_4_689"/>
          <p:cNvSpPr/>
          <p:nvPr/>
        </p:nvSpPr>
        <p:spPr>
          <a:xfrm>
            <a:off x="10119360" y="2170176"/>
            <a:ext cx="9144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200"/>
              <a:buFont typeface="Calibri"/>
              <a:buNone/>
            </a:pPr>
            <a:r>
              <a:rPr b="0" i="0" lang="en-US" sz="1200" u="none" cap="none" strike="noStrike">
                <a:solidFill>
                  <a:srgbClr val="5D8AA8"/>
                </a:solidFill>
                <a:latin typeface="Calibri"/>
                <a:ea typeface="Calibri"/>
                <a:cs typeface="Calibri"/>
                <a:sym typeface="Calibri"/>
              </a:rPr>
              <a:t>bash</a:t>
            </a:r>
            <a:endParaRPr b="0" i="0" sz="1200" u="none" cap="none" strike="noStrike">
              <a:solidFill>
                <a:schemeClr val="dk1"/>
              </a:solidFill>
              <a:latin typeface="Calibri"/>
              <a:ea typeface="Calibri"/>
              <a:cs typeface="Calibri"/>
              <a:sym typeface="Calibri"/>
            </a:endParaRPr>
          </a:p>
        </p:txBody>
      </p:sp>
      <p:sp>
        <p:nvSpPr>
          <p:cNvPr id="1210" name="Google Shape;1210;g386fa9f7404_4_689"/>
          <p:cNvSpPr/>
          <p:nvPr/>
        </p:nvSpPr>
        <p:spPr>
          <a:xfrm>
            <a:off x="10972800" y="2170176"/>
            <a:ext cx="633984" cy="46329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0392B"/>
              </a:buClr>
              <a:buSzPts val="1400"/>
              <a:buFont typeface="Calibri"/>
              <a:buNone/>
            </a:pPr>
            <a:r>
              <a:rPr b="1" i="0" lang="en-US" sz="1400" u="none" cap="none" strike="noStrike">
                <a:solidFill>
                  <a:srgbClr val="C0392B"/>
                </a:solidFill>
                <a:latin typeface="Calibri"/>
                <a:ea typeface="Calibri"/>
                <a:cs typeface="Calibri"/>
                <a:sym typeface="Calibri"/>
              </a:rPr>
              <a:t>+25</a:t>
            </a:r>
            <a:endParaRPr b="0" i="0" sz="1400" u="none" cap="none" strike="noStrike">
              <a:solidFill>
                <a:schemeClr val="dk1"/>
              </a:solidFill>
              <a:latin typeface="Calibri"/>
              <a:ea typeface="Calibri"/>
              <a:cs typeface="Calibri"/>
              <a:sym typeface="Calibri"/>
            </a:endParaRPr>
          </a:p>
        </p:txBody>
      </p:sp>
      <p:sp>
        <p:nvSpPr>
          <p:cNvPr id="1211" name="Google Shape;1211;g386fa9f7404_4_689"/>
          <p:cNvSpPr/>
          <p:nvPr/>
        </p:nvSpPr>
        <p:spPr>
          <a:xfrm>
            <a:off x="10119360" y="2682240"/>
            <a:ext cx="9144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200"/>
              <a:buFont typeface="Calibri"/>
              <a:buNone/>
            </a:pPr>
            <a:r>
              <a:rPr b="0" i="0" lang="en-US" sz="1200" u="none" cap="none" strike="noStrike">
                <a:solidFill>
                  <a:srgbClr val="5D8AA8"/>
                </a:solidFill>
                <a:latin typeface="Calibri"/>
                <a:ea typeface="Calibri"/>
                <a:cs typeface="Calibri"/>
                <a:sym typeface="Calibri"/>
              </a:rPr>
              <a:t>python3</a:t>
            </a:r>
            <a:endParaRPr b="0" i="0" sz="1200" u="none" cap="none" strike="noStrike">
              <a:solidFill>
                <a:schemeClr val="dk1"/>
              </a:solidFill>
              <a:latin typeface="Calibri"/>
              <a:ea typeface="Calibri"/>
              <a:cs typeface="Calibri"/>
              <a:sym typeface="Calibri"/>
            </a:endParaRPr>
          </a:p>
        </p:txBody>
      </p:sp>
      <p:sp>
        <p:nvSpPr>
          <p:cNvPr id="1212" name="Google Shape;1212;g386fa9f7404_4_689"/>
          <p:cNvSpPr/>
          <p:nvPr/>
        </p:nvSpPr>
        <p:spPr>
          <a:xfrm>
            <a:off x="10972800" y="2682240"/>
            <a:ext cx="633984" cy="46329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6F1E"/>
              </a:buClr>
              <a:buSzPts val="1400"/>
              <a:buFont typeface="Calibri"/>
              <a:buNone/>
            </a:pPr>
            <a:r>
              <a:rPr b="1" i="0" lang="en-US" sz="1400" u="none" cap="none" strike="noStrike">
                <a:solidFill>
                  <a:srgbClr val="CA6F1E"/>
                </a:solidFill>
                <a:latin typeface="Calibri"/>
                <a:ea typeface="Calibri"/>
                <a:cs typeface="Calibri"/>
                <a:sym typeface="Calibri"/>
              </a:rPr>
              <a:t>+10</a:t>
            </a:r>
            <a:endParaRPr b="0" i="0" sz="1400" u="none" cap="none" strike="noStrike">
              <a:solidFill>
                <a:schemeClr val="dk1"/>
              </a:solidFill>
              <a:latin typeface="Calibri"/>
              <a:ea typeface="Calibri"/>
              <a:cs typeface="Calibri"/>
              <a:sym typeface="Calibri"/>
            </a:endParaRPr>
          </a:p>
        </p:txBody>
      </p:sp>
      <p:sp>
        <p:nvSpPr>
          <p:cNvPr id="1213" name="Google Shape;1213;g386fa9f7404_4_689"/>
          <p:cNvSpPr/>
          <p:nvPr/>
        </p:nvSpPr>
        <p:spPr>
          <a:xfrm>
            <a:off x="10119360" y="3194304"/>
            <a:ext cx="9144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200"/>
              <a:buFont typeface="Calibri"/>
              <a:buNone/>
            </a:pPr>
            <a:r>
              <a:rPr b="0" i="0" lang="en-US" sz="1200" u="none" cap="none" strike="noStrike">
                <a:solidFill>
                  <a:srgbClr val="5D8AA8"/>
                </a:solidFill>
                <a:latin typeface="Calibri"/>
                <a:ea typeface="Calibri"/>
                <a:cs typeface="Calibri"/>
                <a:sym typeface="Calibri"/>
              </a:rPr>
              <a:t>crontab</a:t>
            </a:r>
            <a:endParaRPr b="0" i="0" sz="1200" u="none" cap="none" strike="noStrike">
              <a:solidFill>
                <a:schemeClr val="dk1"/>
              </a:solidFill>
              <a:latin typeface="Calibri"/>
              <a:ea typeface="Calibri"/>
              <a:cs typeface="Calibri"/>
              <a:sym typeface="Calibri"/>
            </a:endParaRPr>
          </a:p>
        </p:txBody>
      </p:sp>
      <p:sp>
        <p:nvSpPr>
          <p:cNvPr id="1214" name="Google Shape;1214;g386fa9f7404_4_689"/>
          <p:cNvSpPr/>
          <p:nvPr/>
        </p:nvSpPr>
        <p:spPr>
          <a:xfrm>
            <a:off x="10972800" y="3194304"/>
            <a:ext cx="633984" cy="46329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6F1E"/>
              </a:buClr>
              <a:buSzPts val="1400"/>
              <a:buFont typeface="Calibri"/>
              <a:buNone/>
            </a:pPr>
            <a:r>
              <a:rPr b="1" i="0" lang="en-US" sz="1400" u="none" cap="none" strike="noStrike">
                <a:solidFill>
                  <a:srgbClr val="CA6F1E"/>
                </a:solidFill>
                <a:latin typeface="Calibri"/>
                <a:ea typeface="Calibri"/>
                <a:cs typeface="Calibri"/>
                <a:sym typeface="Calibri"/>
              </a:rPr>
              <a:t>+10</a:t>
            </a:r>
            <a:endParaRPr b="0" i="0" sz="1400" u="none" cap="none" strike="noStrike">
              <a:solidFill>
                <a:schemeClr val="dk1"/>
              </a:solidFill>
              <a:latin typeface="Calibri"/>
              <a:ea typeface="Calibri"/>
              <a:cs typeface="Calibri"/>
              <a:sym typeface="Calibri"/>
            </a:endParaRPr>
          </a:p>
        </p:txBody>
      </p:sp>
      <p:sp>
        <p:nvSpPr>
          <p:cNvPr id="1215" name="Google Shape;1215;g386fa9f7404_4_689"/>
          <p:cNvSpPr/>
          <p:nvPr/>
        </p:nvSpPr>
        <p:spPr>
          <a:xfrm>
            <a:off x="10119360" y="3706368"/>
            <a:ext cx="9144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200"/>
              <a:buFont typeface="Calibri"/>
              <a:buNone/>
            </a:pPr>
            <a:r>
              <a:rPr b="0" i="0" lang="en-US" sz="1200" u="none" cap="none" strike="noStrike">
                <a:solidFill>
                  <a:srgbClr val="5D8AA8"/>
                </a:solidFill>
                <a:latin typeface="Calibri"/>
                <a:ea typeface="Calibri"/>
                <a:cs typeface="Calibri"/>
                <a:sym typeface="Calibri"/>
              </a:rPr>
              <a:t>curl</a:t>
            </a:r>
            <a:endParaRPr b="0" i="0" sz="1200" u="none" cap="none" strike="noStrike">
              <a:solidFill>
                <a:schemeClr val="dk1"/>
              </a:solidFill>
              <a:latin typeface="Calibri"/>
              <a:ea typeface="Calibri"/>
              <a:cs typeface="Calibri"/>
              <a:sym typeface="Calibri"/>
            </a:endParaRPr>
          </a:p>
        </p:txBody>
      </p:sp>
      <p:sp>
        <p:nvSpPr>
          <p:cNvPr id="1216" name="Google Shape;1216;g386fa9f7404_4_689"/>
          <p:cNvSpPr/>
          <p:nvPr/>
        </p:nvSpPr>
        <p:spPr>
          <a:xfrm>
            <a:off x="10972800" y="3706368"/>
            <a:ext cx="633984" cy="46329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A6F1E"/>
              </a:buClr>
              <a:buSzPts val="1400"/>
              <a:buFont typeface="Calibri"/>
              <a:buNone/>
            </a:pPr>
            <a:r>
              <a:rPr b="1" i="0" lang="en-US" sz="1400" u="none" cap="none" strike="noStrike">
                <a:solidFill>
                  <a:srgbClr val="CA6F1E"/>
                </a:solidFill>
                <a:latin typeface="Calibri"/>
                <a:ea typeface="Calibri"/>
                <a:cs typeface="Calibri"/>
                <a:sym typeface="Calibri"/>
              </a:rPr>
              <a:t>+10</a:t>
            </a:r>
            <a:endParaRPr b="0" i="0" sz="1400" u="none" cap="none" strike="noStrike">
              <a:solidFill>
                <a:schemeClr val="dk1"/>
              </a:solidFill>
              <a:latin typeface="Calibri"/>
              <a:ea typeface="Calibri"/>
              <a:cs typeface="Calibri"/>
              <a:sym typeface="Calibri"/>
            </a:endParaRPr>
          </a:p>
        </p:txBody>
      </p:sp>
      <p:sp>
        <p:nvSpPr>
          <p:cNvPr id="1217" name="Google Shape;1217;g386fa9f7404_4_689"/>
          <p:cNvSpPr/>
          <p:nvPr/>
        </p:nvSpPr>
        <p:spPr>
          <a:xfrm>
            <a:off x="10119360" y="4218432"/>
            <a:ext cx="9144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8AA8"/>
              </a:buClr>
              <a:buSzPts val="1200"/>
              <a:buFont typeface="Calibri"/>
              <a:buNone/>
            </a:pPr>
            <a:r>
              <a:rPr b="0" i="0" lang="en-US" sz="1200" u="none" cap="none" strike="noStrike">
                <a:solidFill>
                  <a:srgbClr val="5D8AA8"/>
                </a:solidFill>
                <a:latin typeface="Calibri"/>
                <a:ea typeface="Calibri"/>
                <a:cs typeface="Calibri"/>
                <a:sym typeface="Calibri"/>
              </a:rPr>
              <a:t>nc</a:t>
            </a:r>
            <a:endParaRPr b="0" i="0" sz="1200" u="none" cap="none" strike="noStrike">
              <a:solidFill>
                <a:schemeClr val="dk1"/>
              </a:solidFill>
              <a:latin typeface="Calibri"/>
              <a:ea typeface="Calibri"/>
              <a:cs typeface="Calibri"/>
              <a:sym typeface="Calibri"/>
            </a:endParaRPr>
          </a:p>
        </p:txBody>
      </p:sp>
      <p:sp>
        <p:nvSpPr>
          <p:cNvPr id="1218" name="Google Shape;1218;g386fa9f7404_4_689"/>
          <p:cNvSpPr/>
          <p:nvPr/>
        </p:nvSpPr>
        <p:spPr>
          <a:xfrm>
            <a:off x="10972800" y="4218432"/>
            <a:ext cx="633984" cy="46329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C0392B"/>
              </a:buClr>
              <a:buSzPts val="1400"/>
              <a:buFont typeface="Calibri"/>
              <a:buNone/>
            </a:pPr>
            <a:r>
              <a:rPr b="1" i="0" lang="en-US" sz="1400" u="none" cap="none" strike="noStrike">
                <a:solidFill>
                  <a:srgbClr val="C0392B"/>
                </a:solidFill>
                <a:latin typeface="Calibri"/>
                <a:ea typeface="Calibri"/>
                <a:cs typeface="Calibri"/>
                <a:sym typeface="Calibri"/>
              </a:rPr>
              <a:t>+25</a:t>
            </a:r>
            <a:endParaRPr b="0" i="0" sz="1400" u="none" cap="none" strike="noStrike">
              <a:solidFill>
                <a:schemeClr val="dk1"/>
              </a:solidFill>
              <a:latin typeface="Calibri"/>
              <a:ea typeface="Calibri"/>
              <a:cs typeface="Calibri"/>
              <a:sym typeface="Calibri"/>
            </a:endParaRPr>
          </a:p>
        </p:txBody>
      </p:sp>
      <p:sp>
        <p:nvSpPr>
          <p:cNvPr id="1219" name="Google Shape;1219;g386fa9f7404_4_689"/>
          <p:cNvSpPr/>
          <p:nvPr/>
        </p:nvSpPr>
        <p:spPr>
          <a:xfrm>
            <a:off x="10094976" y="4803648"/>
            <a:ext cx="1487424" cy="463296"/>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g386fa9f7404_4_689"/>
          <p:cNvSpPr/>
          <p:nvPr/>
        </p:nvSpPr>
        <p:spPr>
          <a:xfrm>
            <a:off x="10094976" y="4803648"/>
            <a:ext cx="1487424" cy="4632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 +80</a:t>
            </a:r>
            <a:endParaRPr b="0" i="0" sz="1600" u="none" cap="none" strike="noStrike">
              <a:solidFill>
                <a:schemeClr val="dk1"/>
              </a:solidFill>
              <a:latin typeface="Calibri"/>
              <a:ea typeface="Calibri"/>
              <a:cs typeface="Calibri"/>
              <a:sym typeface="Calibri"/>
            </a:endParaRPr>
          </a:p>
        </p:txBody>
      </p:sp>
      <p:sp>
        <p:nvSpPr>
          <p:cNvPr id="1221" name="Google Shape;1221;g386fa9f7404_4_689"/>
          <p:cNvSpPr/>
          <p:nvPr/>
        </p:nvSpPr>
        <p:spPr>
          <a:xfrm>
            <a:off x="487680" y="5705856"/>
            <a:ext cx="11216640" cy="67056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g386fa9f7404_4_689"/>
          <p:cNvSpPr/>
          <p:nvPr/>
        </p:nvSpPr>
        <p:spPr>
          <a:xfrm>
            <a:off x="707136" y="5705856"/>
            <a:ext cx="1078992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Every node caught by recursive=True. Process spawning alone: +80 points — above the MALICIOUS threshold of 60.</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6" name="Shape 1226"/>
        <p:cNvGrpSpPr/>
        <p:nvPr/>
      </p:nvGrpSpPr>
      <p:grpSpPr>
        <a:xfrm>
          <a:off x="0" y="0"/>
          <a:ext cx="0" cy="0"/>
          <a:chOff x="0" y="0"/>
          <a:chExt cx="0" cy="0"/>
        </a:xfrm>
      </p:grpSpPr>
      <p:sp>
        <p:nvSpPr>
          <p:cNvPr id="1227" name="Google Shape;1227;g386fa9f7404_4_743"/>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g386fa9f7404_4_743"/>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4 — Monitor 4: Privilege Escalation</a:t>
            </a:r>
            <a:endParaRPr b="0" i="0" sz="2700" u="none" cap="none" strike="noStrike">
              <a:solidFill>
                <a:schemeClr val="dk1"/>
              </a:solidFill>
              <a:latin typeface="Calibri"/>
              <a:ea typeface="Calibri"/>
              <a:cs typeface="Calibri"/>
              <a:sym typeface="Calibri"/>
            </a:endParaRPr>
          </a:p>
        </p:txBody>
      </p:sp>
      <p:sp>
        <p:nvSpPr>
          <p:cNvPr id="1229" name="Google Shape;1229;g386fa9f7404_4_743"/>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6 — PrivilegeMonitor</a:t>
            </a:r>
            <a:endParaRPr b="0" i="0" sz="1100" u="none" cap="none" strike="noStrike">
              <a:solidFill>
                <a:schemeClr val="dk1"/>
              </a:solidFill>
              <a:latin typeface="Calibri"/>
              <a:ea typeface="Calibri"/>
              <a:cs typeface="Calibri"/>
              <a:sym typeface="Calibri"/>
            </a:endParaRPr>
          </a:p>
        </p:txBody>
      </p:sp>
      <p:sp>
        <p:nvSpPr>
          <p:cNvPr id="1230" name="Google Shape;1230;g386fa9f7404_4_743"/>
          <p:cNvSpPr/>
          <p:nvPr/>
        </p:nvSpPr>
        <p:spPr>
          <a:xfrm>
            <a:off x="548640" y="1036320"/>
            <a:ext cx="1109472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Reads /proc/&lt;PID&gt;/status every 200ms. Two fields in this file determine whether the process is escalating or unpacking a payload.</a:t>
            </a:r>
            <a:endParaRPr b="0" i="0" sz="1700" u="none" cap="none" strike="noStrike">
              <a:solidFill>
                <a:schemeClr val="dk1"/>
              </a:solidFill>
              <a:latin typeface="Calibri"/>
              <a:ea typeface="Calibri"/>
              <a:cs typeface="Calibri"/>
              <a:sym typeface="Calibri"/>
            </a:endParaRPr>
          </a:p>
        </p:txBody>
      </p:sp>
      <p:sp>
        <p:nvSpPr>
          <p:cNvPr id="1231" name="Google Shape;1231;g386fa9f7404_4_743"/>
          <p:cNvSpPr/>
          <p:nvPr/>
        </p:nvSpPr>
        <p:spPr>
          <a:xfrm>
            <a:off x="487680" y="1706880"/>
            <a:ext cx="5547360" cy="4535424"/>
          </a:xfrm>
          <a:prstGeom prst="rect">
            <a:avLst/>
          </a:prstGeom>
          <a:solidFill>
            <a:srgbClr val="EAF4FB"/>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g386fa9f7404_4_743"/>
          <p:cNvSpPr/>
          <p:nvPr/>
        </p:nvSpPr>
        <p:spPr>
          <a:xfrm>
            <a:off x="487680" y="1706880"/>
            <a:ext cx="5547360" cy="6705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g386fa9f7404_4_743"/>
          <p:cNvSpPr/>
          <p:nvPr/>
        </p:nvSpPr>
        <p:spPr>
          <a:xfrm>
            <a:off x="670560" y="1706880"/>
            <a:ext cx="51816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CapEff  —  Effective Capabilities</a:t>
            </a:r>
            <a:endParaRPr b="0" i="0" sz="1600" u="none" cap="none" strike="noStrike">
              <a:solidFill>
                <a:schemeClr val="dk1"/>
              </a:solidFill>
              <a:latin typeface="Calibri"/>
              <a:ea typeface="Calibri"/>
              <a:cs typeface="Calibri"/>
              <a:sym typeface="Calibri"/>
            </a:endParaRPr>
          </a:p>
        </p:txBody>
      </p:sp>
      <p:sp>
        <p:nvSpPr>
          <p:cNvPr id="1234" name="Google Shape;1234;g386fa9f7404_4_743"/>
          <p:cNvSpPr/>
          <p:nvPr/>
        </p:nvSpPr>
        <p:spPr>
          <a:xfrm>
            <a:off x="707136" y="2499360"/>
            <a:ext cx="134112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What it is:</a:t>
            </a:r>
            <a:endParaRPr b="0" i="0" sz="1300" u="none" cap="none" strike="noStrike">
              <a:solidFill>
                <a:schemeClr val="dk1"/>
              </a:solidFill>
              <a:latin typeface="Calibri"/>
              <a:ea typeface="Calibri"/>
              <a:cs typeface="Calibri"/>
              <a:sym typeface="Calibri"/>
            </a:endParaRPr>
          </a:p>
        </p:txBody>
      </p:sp>
      <p:sp>
        <p:nvSpPr>
          <p:cNvPr id="1235" name="Google Shape;1235;g386fa9f7404_4_743"/>
          <p:cNvSpPr/>
          <p:nvPr/>
        </p:nvSpPr>
        <p:spPr>
          <a:xfrm>
            <a:off x="707136" y="2828544"/>
            <a:ext cx="5096256"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 hex bitmask of the OS-level powers this process holds. Normal, unprivileged processes = 0000000000000000.</a:t>
            </a:r>
            <a:endParaRPr b="0" i="0" sz="1300" u="none" cap="none" strike="noStrike">
              <a:solidFill>
                <a:schemeClr val="dk1"/>
              </a:solidFill>
              <a:latin typeface="Calibri"/>
              <a:ea typeface="Calibri"/>
              <a:cs typeface="Calibri"/>
              <a:sym typeface="Calibri"/>
            </a:endParaRPr>
          </a:p>
        </p:txBody>
      </p:sp>
      <p:sp>
        <p:nvSpPr>
          <p:cNvPr id="1236" name="Google Shape;1236;g386fa9f7404_4_743"/>
          <p:cNvSpPr/>
          <p:nvPr/>
        </p:nvSpPr>
        <p:spPr>
          <a:xfrm>
            <a:off x="707136" y="3560064"/>
            <a:ext cx="146304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Detection:</a:t>
            </a:r>
            <a:endParaRPr b="0" i="0" sz="1300" u="none" cap="none" strike="noStrike">
              <a:solidFill>
                <a:schemeClr val="dk1"/>
              </a:solidFill>
              <a:latin typeface="Calibri"/>
              <a:ea typeface="Calibri"/>
              <a:cs typeface="Calibri"/>
              <a:sym typeface="Calibri"/>
            </a:endParaRPr>
          </a:p>
        </p:txBody>
      </p:sp>
      <p:sp>
        <p:nvSpPr>
          <p:cNvPr id="1237" name="Google Shape;1237;g386fa9f7404_4_743"/>
          <p:cNvSpPr/>
          <p:nvPr/>
        </p:nvSpPr>
        <p:spPr>
          <a:xfrm>
            <a:off x="707136" y="3901440"/>
            <a:ext cx="5096256"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Any change from the baseline = process gained new OS capabilities. setuid(0) attempting root is the most common.</a:t>
            </a:r>
            <a:endParaRPr b="0" i="0" sz="1300" u="none" cap="none" strike="noStrike">
              <a:solidFill>
                <a:schemeClr val="dk1"/>
              </a:solidFill>
              <a:latin typeface="Calibri"/>
              <a:ea typeface="Calibri"/>
              <a:cs typeface="Calibri"/>
              <a:sym typeface="Calibri"/>
            </a:endParaRPr>
          </a:p>
        </p:txBody>
      </p:sp>
      <p:sp>
        <p:nvSpPr>
          <p:cNvPr id="1238" name="Google Shape;1238;g386fa9f7404_4_743"/>
          <p:cNvSpPr/>
          <p:nvPr/>
        </p:nvSpPr>
        <p:spPr>
          <a:xfrm>
            <a:off x="707136" y="4657344"/>
            <a:ext cx="5096256"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g386fa9f7404_4_743"/>
          <p:cNvSpPr/>
          <p:nvPr/>
        </p:nvSpPr>
        <p:spPr>
          <a:xfrm>
            <a:off x="829056" y="4657344"/>
            <a:ext cx="399897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e.g. setuid(0) called → CapEff: 0 → non-zero</a:t>
            </a:r>
            <a:endParaRPr b="0" i="0" sz="1300" u="none" cap="none" strike="noStrike">
              <a:solidFill>
                <a:schemeClr val="dk1"/>
              </a:solidFill>
              <a:latin typeface="Calibri"/>
              <a:ea typeface="Calibri"/>
              <a:cs typeface="Calibri"/>
              <a:sym typeface="Calibri"/>
            </a:endParaRPr>
          </a:p>
        </p:txBody>
      </p:sp>
      <p:sp>
        <p:nvSpPr>
          <p:cNvPr id="1240" name="Google Shape;1240;g386fa9f7404_4_743"/>
          <p:cNvSpPr/>
          <p:nvPr/>
        </p:nvSpPr>
        <p:spPr>
          <a:xfrm>
            <a:off x="4974336" y="4730496"/>
            <a:ext cx="829056" cy="5120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g386fa9f7404_4_743"/>
          <p:cNvSpPr/>
          <p:nvPr/>
        </p:nvSpPr>
        <p:spPr>
          <a:xfrm>
            <a:off x="4974336" y="4730496"/>
            <a:ext cx="829056"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+35</a:t>
            </a:r>
            <a:endParaRPr b="0" i="0" sz="1900" u="none" cap="none" strike="noStrike">
              <a:solidFill>
                <a:schemeClr val="dk1"/>
              </a:solidFill>
              <a:latin typeface="Calibri"/>
              <a:ea typeface="Calibri"/>
              <a:cs typeface="Calibri"/>
              <a:sym typeface="Calibri"/>
            </a:endParaRPr>
          </a:p>
        </p:txBody>
      </p:sp>
      <p:sp>
        <p:nvSpPr>
          <p:cNvPr id="1242" name="Google Shape;1242;g386fa9f7404_4_743"/>
          <p:cNvSpPr/>
          <p:nvPr/>
        </p:nvSpPr>
        <p:spPr>
          <a:xfrm>
            <a:off x="6278880" y="1706880"/>
            <a:ext cx="5547360" cy="4535424"/>
          </a:xfrm>
          <a:prstGeom prst="rect">
            <a:avLst/>
          </a:prstGeom>
          <a:solidFill>
            <a:srgbClr val="EAF4FB"/>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g386fa9f7404_4_743"/>
          <p:cNvSpPr/>
          <p:nvPr/>
        </p:nvSpPr>
        <p:spPr>
          <a:xfrm>
            <a:off x="6278880" y="1706880"/>
            <a:ext cx="5547360" cy="67056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g386fa9f7404_4_743"/>
          <p:cNvSpPr/>
          <p:nvPr/>
        </p:nvSpPr>
        <p:spPr>
          <a:xfrm>
            <a:off x="6461760" y="1706880"/>
            <a:ext cx="5181600"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VmRSS  —  Resident Memory (actual RAM in use)</a:t>
            </a:r>
            <a:endParaRPr b="0" i="0" sz="1600" u="none" cap="none" strike="noStrike">
              <a:solidFill>
                <a:schemeClr val="dk1"/>
              </a:solidFill>
              <a:latin typeface="Calibri"/>
              <a:ea typeface="Calibri"/>
              <a:cs typeface="Calibri"/>
              <a:sym typeface="Calibri"/>
            </a:endParaRPr>
          </a:p>
        </p:txBody>
      </p:sp>
      <p:sp>
        <p:nvSpPr>
          <p:cNvPr id="1245" name="Google Shape;1245;g386fa9f7404_4_743"/>
          <p:cNvSpPr/>
          <p:nvPr/>
        </p:nvSpPr>
        <p:spPr>
          <a:xfrm>
            <a:off x="6498336" y="2499360"/>
            <a:ext cx="134112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What it is:</a:t>
            </a:r>
            <a:endParaRPr b="0" i="0" sz="1300" u="none" cap="none" strike="noStrike">
              <a:solidFill>
                <a:schemeClr val="dk1"/>
              </a:solidFill>
              <a:latin typeface="Calibri"/>
              <a:ea typeface="Calibri"/>
              <a:cs typeface="Calibri"/>
              <a:sym typeface="Calibri"/>
            </a:endParaRPr>
          </a:p>
        </p:txBody>
      </p:sp>
      <p:sp>
        <p:nvSpPr>
          <p:cNvPr id="1246" name="Google Shape;1246;g386fa9f7404_4_743"/>
          <p:cNvSpPr/>
          <p:nvPr/>
        </p:nvSpPr>
        <p:spPr>
          <a:xfrm>
            <a:off x="6498336" y="2828544"/>
            <a:ext cx="5096256"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How much real RAM the process is using right now. Updated by the kernel at every poll.</a:t>
            </a:r>
            <a:endParaRPr b="0" i="0" sz="1300" u="none" cap="none" strike="noStrike">
              <a:solidFill>
                <a:schemeClr val="dk1"/>
              </a:solidFill>
              <a:latin typeface="Calibri"/>
              <a:ea typeface="Calibri"/>
              <a:cs typeface="Calibri"/>
              <a:sym typeface="Calibri"/>
            </a:endParaRPr>
          </a:p>
        </p:txBody>
      </p:sp>
      <p:sp>
        <p:nvSpPr>
          <p:cNvPr id="1247" name="Google Shape;1247;g386fa9f7404_4_743"/>
          <p:cNvSpPr/>
          <p:nvPr/>
        </p:nvSpPr>
        <p:spPr>
          <a:xfrm>
            <a:off x="6498336" y="3560064"/>
            <a:ext cx="146304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Detection:</a:t>
            </a:r>
            <a:endParaRPr b="0" i="0" sz="1300" u="none" cap="none" strike="noStrike">
              <a:solidFill>
                <a:schemeClr val="dk1"/>
              </a:solidFill>
              <a:latin typeface="Calibri"/>
              <a:ea typeface="Calibri"/>
              <a:cs typeface="Calibri"/>
              <a:sym typeface="Calibri"/>
            </a:endParaRPr>
          </a:p>
        </p:txBody>
      </p:sp>
      <p:sp>
        <p:nvSpPr>
          <p:cNvPr id="1248" name="Google Shape;1248;g386fa9f7404_4_743"/>
          <p:cNvSpPr/>
          <p:nvPr/>
        </p:nvSpPr>
        <p:spPr>
          <a:xfrm>
            <a:off x="6498336" y="3901440"/>
            <a:ext cx="5096256"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 spike of +50 MB or more in one 200ms interval = sudden large allocation = likely payload decompression or shellcode injection in memory.</a:t>
            </a:r>
            <a:endParaRPr b="0" i="0" sz="1300" u="none" cap="none" strike="noStrike">
              <a:solidFill>
                <a:schemeClr val="dk1"/>
              </a:solidFill>
              <a:latin typeface="Calibri"/>
              <a:ea typeface="Calibri"/>
              <a:cs typeface="Calibri"/>
              <a:sym typeface="Calibri"/>
            </a:endParaRPr>
          </a:p>
        </p:txBody>
      </p:sp>
      <p:sp>
        <p:nvSpPr>
          <p:cNvPr id="1249" name="Google Shape;1249;g386fa9f7404_4_743"/>
          <p:cNvSpPr/>
          <p:nvPr/>
        </p:nvSpPr>
        <p:spPr>
          <a:xfrm>
            <a:off x="6498336" y="4657344"/>
            <a:ext cx="5096256"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g386fa9f7404_4_743"/>
          <p:cNvSpPr/>
          <p:nvPr/>
        </p:nvSpPr>
        <p:spPr>
          <a:xfrm>
            <a:off x="6620256" y="4657344"/>
            <a:ext cx="399897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e.g. Memory: 8 MB → 75 MB in one 200ms poll</a:t>
            </a:r>
            <a:endParaRPr b="0" i="0" sz="1300" u="none" cap="none" strike="noStrike">
              <a:solidFill>
                <a:schemeClr val="dk1"/>
              </a:solidFill>
              <a:latin typeface="Calibri"/>
              <a:ea typeface="Calibri"/>
              <a:cs typeface="Calibri"/>
              <a:sym typeface="Calibri"/>
            </a:endParaRPr>
          </a:p>
        </p:txBody>
      </p:sp>
      <p:sp>
        <p:nvSpPr>
          <p:cNvPr id="1251" name="Google Shape;1251;g386fa9f7404_4_743"/>
          <p:cNvSpPr/>
          <p:nvPr/>
        </p:nvSpPr>
        <p:spPr>
          <a:xfrm>
            <a:off x="10765536" y="4730496"/>
            <a:ext cx="829056" cy="512064"/>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g386fa9f7404_4_743"/>
          <p:cNvSpPr/>
          <p:nvPr/>
        </p:nvSpPr>
        <p:spPr>
          <a:xfrm>
            <a:off x="10765536" y="4730496"/>
            <a:ext cx="829056" cy="51206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+35</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6" name="Shape 1256"/>
        <p:cNvGrpSpPr/>
        <p:nvPr/>
      </p:nvGrpSpPr>
      <p:grpSpPr>
        <a:xfrm>
          <a:off x="0" y="0"/>
          <a:ext cx="0" cy="0"/>
          <a:chOff x="0" y="0"/>
          <a:chExt cx="0" cy="0"/>
        </a:xfrm>
      </p:grpSpPr>
      <p:sp>
        <p:nvSpPr>
          <p:cNvPr id="1257" name="Google Shape;1257;g386fa9f7404_4_772"/>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g386fa9f7404_4_772"/>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Monitor 4 — Linux Capabilities: What CapEff Means</a:t>
            </a:r>
            <a:endParaRPr b="0" i="0" sz="2700" u="none" cap="none" strike="noStrike">
              <a:solidFill>
                <a:schemeClr val="dk1"/>
              </a:solidFill>
              <a:latin typeface="Calibri"/>
              <a:ea typeface="Calibri"/>
              <a:cs typeface="Calibri"/>
              <a:sym typeface="Calibri"/>
            </a:endParaRPr>
          </a:p>
        </p:txBody>
      </p:sp>
      <p:sp>
        <p:nvSpPr>
          <p:cNvPr id="1259" name="Google Shape;1259;g386fa9f7404_4_772"/>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Privilege Monitor</a:t>
            </a:r>
            <a:endParaRPr b="0" i="0" sz="1100" u="none" cap="none" strike="noStrike">
              <a:solidFill>
                <a:schemeClr val="dk1"/>
              </a:solidFill>
              <a:latin typeface="Calibri"/>
              <a:ea typeface="Calibri"/>
              <a:cs typeface="Calibri"/>
              <a:sym typeface="Calibri"/>
            </a:endParaRPr>
          </a:p>
        </p:txBody>
      </p:sp>
      <p:sp>
        <p:nvSpPr>
          <p:cNvPr id="1260" name="Google Shape;1260;g386fa9f7404_4_772"/>
          <p:cNvSpPr/>
          <p:nvPr/>
        </p:nvSpPr>
        <p:spPr>
          <a:xfrm>
            <a:off x="487680" y="1072896"/>
            <a:ext cx="11216640" cy="63398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g386fa9f7404_4_772"/>
          <p:cNvSpPr/>
          <p:nvPr/>
        </p:nvSpPr>
        <p:spPr>
          <a:xfrm>
            <a:off x="487680" y="1072896"/>
            <a:ext cx="121920" cy="633984"/>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g386fa9f7404_4_772"/>
          <p:cNvSpPr/>
          <p:nvPr/>
        </p:nvSpPr>
        <p:spPr>
          <a:xfrm>
            <a:off x="755904" y="1072896"/>
            <a:ext cx="10789920" cy="6339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Every process runs with a defined set of OS-level permissions called capabilities. CapEff in /proc/&lt;PID&gt;/status shows exactly what powers the process currently holds.</a:t>
            </a:r>
            <a:endParaRPr b="0" i="0" sz="1600" u="none" cap="none" strike="noStrike">
              <a:solidFill>
                <a:schemeClr val="dk1"/>
              </a:solidFill>
              <a:latin typeface="Calibri"/>
              <a:ea typeface="Calibri"/>
              <a:cs typeface="Calibri"/>
              <a:sym typeface="Calibri"/>
            </a:endParaRPr>
          </a:p>
        </p:txBody>
      </p:sp>
      <p:sp>
        <p:nvSpPr>
          <p:cNvPr id="1263" name="Google Shape;1263;g386fa9f7404_4_772"/>
          <p:cNvSpPr/>
          <p:nvPr/>
        </p:nvSpPr>
        <p:spPr>
          <a:xfrm>
            <a:off x="487680" y="1901952"/>
            <a:ext cx="5340096" cy="3596640"/>
          </a:xfrm>
          <a:prstGeom prst="rect">
            <a:avLst/>
          </a:prstGeom>
          <a:solidFill>
            <a:srgbClr val="D5F5E3"/>
          </a:solidFill>
          <a:ln cap="flat" cmpd="sng" w="1905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g386fa9f7404_4_772"/>
          <p:cNvSpPr/>
          <p:nvPr/>
        </p:nvSpPr>
        <p:spPr>
          <a:xfrm>
            <a:off x="487680" y="1901952"/>
            <a:ext cx="5340096" cy="512064"/>
          </a:xfrm>
          <a:prstGeom prst="rect">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g386fa9f7404_4_772"/>
          <p:cNvSpPr/>
          <p:nvPr/>
        </p:nvSpPr>
        <p:spPr>
          <a:xfrm>
            <a:off x="633984" y="1901952"/>
            <a:ext cx="509625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  Normal unprivileged process</a:t>
            </a:r>
            <a:endParaRPr b="0" i="0" sz="1600" u="none" cap="none" strike="noStrike">
              <a:solidFill>
                <a:schemeClr val="dk1"/>
              </a:solidFill>
              <a:latin typeface="Calibri"/>
              <a:ea typeface="Calibri"/>
              <a:cs typeface="Calibri"/>
              <a:sym typeface="Calibri"/>
            </a:endParaRPr>
          </a:p>
        </p:txBody>
      </p:sp>
      <p:sp>
        <p:nvSpPr>
          <p:cNvPr id="1266" name="Google Shape;1266;g386fa9f7404_4_772"/>
          <p:cNvSpPr/>
          <p:nvPr/>
        </p:nvSpPr>
        <p:spPr>
          <a:xfrm>
            <a:off x="670560" y="2511552"/>
            <a:ext cx="5023104" cy="512064"/>
          </a:xfrm>
          <a:prstGeom prst="rect">
            <a:avLst/>
          </a:prstGeom>
          <a:solidFill>
            <a:srgbClr val="FFFFFF"/>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g386fa9f7404_4_772"/>
          <p:cNvSpPr/>
          <p:nvPr/>
        </p:nvSpPr>
        <p:spPr>
          <a:xfrm>
            <a:off x="755904" y="2511552"/>
            <a:ext cx="485241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8449"/>
              </a:buClr>
              <a:buSzPts val="1700"/>
              <a:buFont typeface="Courier New"/>
              <a:buNone/>
            </a:pPr>
            <a:r>
              <a:rPr b="1" i="0" lang="en-US" sz="1700" u="none" cap="none" strike="noStrike">
                <a:solidFill>
                  <a:srgbClr val="1E8449"/>
                </a:solidFill>
                <a:latin typeface="Courier New"/>
                <a:ea typeface="Courier New"/>
                <a:cs typeface="Courier New"/>
                <a:sym typeface="Courier New"/>
              </a:rPr>
              <a:t>CapEff:  0000000000000000</a:t>
            </a:r>
            <a:endParaRPr b="0" i="0" sz="1700" u="none" cap="none" strike="noStrike">
              <a:solidFill>
                <a:schemeClr val="dk1"/>
              </a:solidFill>
              <a:latin typeface="Calibri"/>
              <a:ea typeface="Calibri"/>
              <a:cs typeface="Calibri"/>
              <a:sym typeface="Calibri"/>
            </a:endParaRPr>
          </a:p>
        </p:txBody>
      </p:sp>
      <p:sp>
        <p:nvSpPr>
          <p:cNvPr id="1268" name="Google Shape;1268;g386fa9f7404_4_772"/>
          <p:cNvSpPr/>
          <p:nvPr/>
        </p:nvSpPr>
        <p:spPr>
          <a:xfrm>
            <a:off x="670560" y="3121152"/>
            <a:ext cx="5096256" cy="7559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All zeros. The process has no special OS powers. It can read and write its own files and use standard network ports — nothing more.</a:t>
            </a:r>
            <a:endParaRPr b="0" i="0" sz="1400" u="none" cap="none" strike="noStrike">
              <a:solidFill>
                <a:schemeClr val="dk1"/>
              </a:solidFill>
              <a:latin typeface="Calibri"/>
              <a:ea typeface="Calibri"/>
              <a:cs typeface="Calibri"/>
              <a:sym typeface="Calibri"/>
            </a:endParaRPr>
          </a:p>
        </p:txBody>
      </p:sp>
      <p:sp>
        <p:nvSpPr>
          <p:cNvPr id="1269" name="Google Shape;1269;g386fa9f7404_4_772"/>
          <p:cNvSpPr/>
          <p:nvPr/>
        </p:nvSpPr>
        <p:spPr>
          <a:xfrm>
            <a:off x="670560" y="3950208"/>
            <a:ext cx="509625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8449"/>
              </a:buClr>
              <a:buSzPts val="1400"/>
              <a:buFont typeface="Calibri"/>
              <a:buNone/>
            </a:pPr>
            <a:r>
              <a:rPr b="1" i="0" lang="en-US" sz="1400" u="none" cap="none" strike="noStrike">
                <a:solidFill>
                  <a:srgbClr val="1E8449"/>
                </a:solidFill>
                <a:latin typeface="Calibri"/>
                <a:ea typeface="Calibri"/>
                <a:cs typeface="Calibri"/>
                <a:sym typeface="Calibri"/>
              </a:rPr>
              <a:t>This is the correct and expected state for any drone data processing script.</a:t>
            </a:r>
            <a:endParaRPr b="0" i="0" sz="1400" u="none" cap="none" strike="noStrike">
              <a:solidFill>
                <a:schemeClr val="dk1"/>
              </a:solidFill>
              <a:latin typeface="Calibri"/>
              <a:ea typeface="Calibri"/>
              <a:cs typeface="Calibri"/>
              <a:sym typeface="Calibri"/>
            </a:endParaRPr>
          </a:p>
        </p:txBody>
      </p:sp>
      <p:sp>
        <p:nvSpPr>
          <p:cNvPr id="1270" name="Google Shape;1270;g386fa9f7404_4_772"/>
          <p:cNvSpPr/>
          <p:nvPr/>
        </p:nvSpPr>
        <p:spPr>
          <a:xfrm>
            <a:off x="670560" y="4462272"/>
            <a:ext cx="5023104" cy="877824"/>
          </a:xfrm>
          <a:prstGeom prst="rect">
            <a:avLst/>
          </a:prstGeom>
          <a:solidFill>
            <a:srgbClr val="FFFFFF"/>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g386fa9f7404_4_772"/>
          <p:cNvSpPr/>
          <p:nvPr/>
        </p:nvSpPr>
        <p:spPr>
          <a:xfrm>
            <a:off x="829056" y="4462272"/>
            <a:ext cx="4681728" cy="8778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8449"/>
              </a:buClr>
              <a:buSzPts val="1500"/>
              <a:buFont typeface="Calibri"/>
              <a:buNone/>
            </a:pPr>
            <a:r>
              <a:rPr b="1" i="0" lang="en-US" sz="1500" u="none" cap="none" strike="noStrike">
                <a:solidFill>
                  <a:srgbClr val="1E8449"/>
                </a:solidFill>
                <a:latin typeface="Calibri"/>
                <a:ea typeface="Calibri"/>
                <a:cs typeface="Calibri"/>
                <a:sym typeface="Calibri"/>
              </a:rPr>
              <a:t>✅  No event fired</a:t>
            </a:r>
            <a:endParaRPr b="0" i="0" sz="1500" u="none" cap="none" strike="noStrike">
              <a:solidFill>
                <a:schemeClr val="dk1"/>
              </a:solidFill>
              <a:latin typeface="Calibri"/>
              <a:ea typeface="Calibri"/>
              <a:cs typeface="Calibri"/>
              <a:sym typeface="Calibri"/>
            </a:endParaRPr>
          </a:p>
        </p:txBody>
      </p:sp>
      <p:sp>
        <p:nvSpPr>
          <p:cNvPr id="1272" name="Google Shape;1272;g386fa9f7404_4_772"/>
          <p:cNvSpPr/>
          <p:nvPr/>
        </p:nvSpPr>
        <p:spPr>
          <a:xfrm>
            <a:off x="6364224" y="1901952"/>
            <a:ext cx="5340096" cy="3596640"/>
          </a:xfrm>
          <a:prstGeom prst="rect">
            <a:avLst/>
          </a:prstGeom>
          <a:solidFill>
            <a:srgbClr val="FADBD8"/>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g386fa9f7404_4_772"/>
          <p:cNvSpPr/>
          <p:nvPr/>
        </p:nvSpPr>
        <p:spPr>
          <a:xfrm>
            <a:off x="6364224" y="1901952"/>
            <a:ext cx="5340096" cy="51206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g386fa9f7404_4_772"/>
          <p:cNvSpPr/>
          <p:nvPr/>
        </p:nvSpPr>
        <p:spPr>
          <a:xfrm>
            <a:off x="6510528" y="1901952"/>
            <a:ext cx="509625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  After escalation attempt</a:t>
            </a:r>
            <a:endParaRPr b="0" i="0" sz="1600" u="none" cap="none" strike="noStrike">
              <a:solidFill>
                <a:schemeClr val="dk1"/>
              </a:solidFill>
              <a:latin typeface="Calibri"/>
              <a:ea typeface="Calibri"/>
              <a:cs typeface="Calibri"/>
              <a:sym typeface="Calibri"/>
            </a:endParaRPr>
          </a:p>
        </p:txBody>
      </p:sp>
      <p:sp>
        <p:nvSpPr>
          <p:cNvPr id="1275" name="Google Shape;1275;g386fa9f7404_4_772"/>
          <p:cNvSpPr/>
          <p:nvPr/>
        </p:nvSpPr>
        <p:spPr>
          <a:xfrm>
            <a:off x="6547104" y="2511552"/>
            <a:ext cx="5023104" cy="512064"/>
          </a:xfrm>
          <a:prstGeom prst="rect">
            <a:avLst/>
          </a:prstGeom>
          <a:solidFill>
            <a:srgbClr val="FFFFFF"/>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g386fa9f7404_4_772"/>
          <p:cNvSpPr/>
          <p:nvPr/>
        </p:nvSpPr>
        <p:spPr>
          <a:xfrm>
            <a:off x="6632448" y="2511552"/>
            <a:ext cx="485241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700"/>
              <a:buFont typeface="Courier New"/>
              <a:buNone/>
            </a:pPr>
            <a:r>
              <a:rPr b="1" i="0" lang="en-US" sz="1700" u="none" cap="none" strike="noStrike">
                <a:solidFill>
                  <a:srgbClr val="C0392B"/>
                </a:solidFill>
                <a:latin typeface="Courier New"/>
                <a:ea typeface="Courier New"/>
                <a:cs typeface="Courier New"/>
                <a:sym typeface="Courier New"/>
              </a:rPr>
              <a:t>CapEff:  0000001fffffffff</a:t>
            </a:r>
            <a:endParaRPr b="0" i="0" sz="1700" u="none" cap="none" strike="noStrike">
              <a:solidFill>
                <a:schemeClr val="dk1"/>
              </a:solidFill>
              <a:latin typeface="Calibri"/>
              <a:ea typeface="Calibri"/>
              <a:cs typeface="Calibri"/>
              <a:sym typeface="Calibri"/>
            </a:endParaRPr>
          </a:p>
        </p:txBody>
      </p:sp>
      <p:sp>
        <p:nvSpPr>
          <p:cNvPr id="1277" name="Google Shape;1277;g386fa9f7404_4_772"/>
          <p:cNvSpPr/>
          <p:nvPr/>
        </p:nvSpPr>
        <p:spPr>
          <a:xfrm>
            <a:off x="6547104" y="3121152"/>
            <a:ext cx="5096256" cy="7559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Non-zero. The process gained OS-level capabilities — ability to modify the network, trace other processes, bypass file permission checks, or become root.</a:t>
            </a:r>
            <a:endParaRPr b="0" i="0" sz="1400" u="none" cap="none" strike="noStrike">
              <a:solidFill>
                <a:schemeClr val="dk1"/>
              </a:solidFill>
              <a:latin typeface="Calibri"/>
              <a:ea typeface="Calibri"/>
              <a:cs typeface="Calibri"/>
              <a:sym typeface="Calibri"/>
            </a:endParaRPr>
          </a:p>
        </p:txBody>
      </p:sp>
      <p:sp>
        <p:nvSpPr>
          <p:cNvPr id="1278" name="Google Shape;1278;g386fa9f7404_4_772"/>
          <p:cNvSpPr/>
          <p:nvPr/>
        </p:nvSpPr>
        <p:spPr>
          <a:xfrm>
            <a:off x="6547104" y="3950208"/>
            <a:ext cx="509625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400"/>
              <a:buFont typeface="Calibri"/>
              <a:buNone/>
            </a:pPr>
            <a:r>
              <a:rPr b="1" i="0" lang="en-US" sz="1400" u="none" cap="none" strike="noStrike">
                <a:solidFill>
                  <a:srgbClr val="C0392B"/>
                </a:solidFill>
                <a:latin typeface="Calibri"/>
                <a:ea typeface="Calibri"/>
                <a:cs typeface="Calibri"/>
                <a:sym typeface="Calibri"/>
              </a:rPr>
              <a:t>Most common trigger: setuid(0) — the process attempting to become root.</a:t>
            </a:r>
            <a:endParaRPr b="0" i="0" sz="1400" u="none" cap="none" strike="noStrike">
              <a:solidFill>
                <a:schemeClr val="dk1"/>
              </a:solidFill>
              <a:latin typeface="Calibri"/>
              <a:ea typeface="Calibri"/>
              <a:cs typeface="Calibri"/>
              <a:sym typeface="Calibri"/>
            </a:endParaRPr>
          </a:p>
        </p:txBody>
      </p:sp>
      <p:sp>
        <p:nvSpPr>
          <p:cNvPr id="1279" name="Google Shape;1279;g386fa9f7404_4_772"/>
          <p:cNvSpPr/>
          <p:nvPr/>
        </p:nvSpPr>
        <p:spPr>
          <a:xfrm>
            <a:off x="6547104" y="4462272"/>
            <a:ext cx="5023104" cy="87782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g386fa9f7404_4_772"/>
          <p:cNvSpPr/>
          <p:nvPr/>
        </p:nvSpPr>
        <p:spPr>
          <a:xfrm>
            <a:off x="6705600" y="4462272"/>
            <a:ext cx="4681728" cy="8778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privilege_escalation  →  +35 points</a:t>
            </a:r>
            <a:endParaRPr b="0" i="0" sz="1500" u="none" cap="none" strike="noStrike">
              <a:solidFill>
                <a:schemeClr val="dk1"/>
              </a:solidFill>
              <a:latin typeface="Calibri"/>
              <a:ea typeface="Calibri"/>
              <a:cs typeface="Calibri"/>
              <a:sym typeface="Calibri"/>
            </a:endParaRPr>
          </a:p>
        </p:txBody>
      </p:sp>
      <p:sp>
        <p:nvSpPr>
          <p:cNvPr id="1281" name="Google Shape;1281;g386fa9f7404_4_772"/>
          <p:cNvSpPr/>
          <p:nvPr/>
        </p:nvSpPr>
        <p:spPr>
          <a:xfrm>
            <a:off x="487680" y="5632704"/>
            <a:ext cx="11216640" cy="707136"/>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g386fa9f7404_4_772"/>
          <p:cNvSpPr/>
          <p:nvPr/>
        </p:nvSpPr>
        <p:spPr>
          <a:xfrm>
            <a:off x="731520" y="5632704"/>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0" i="0" lang="en-US" sz="1500" u="none" cap="none" strike="noStrike">
                <a:solidFill>
                  <a:srgbClr val="1B3A5C"/>
                </a:solidFill>
                <a:latin typeface="Calibri"/>
                <a:ea typeface="Calibri"/>
                <a:cs typeface="Calibri"/>
                <a:sym typeface="Calibri"/>
              </a:rPr>
              <a:t>We poll /proc/&lt;PID&gt;/status every 200ms. Any change in CapEff from the all-zero baseline = privilege escalation detected immediately.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286" name="Shape 1286"/>
        <p:cNvGrpSpPr/>
        <p:nvPr/>
      </p:nvGrpSpPr>
      <p:grpSpPr>
        <a:xfrm>
          <a:off x="0" y="0"/>
          <a:ext cx="0" cy="0"/>
          <a:chOff x="0" y="0"/>
          <a:chExt cx="0" cy="0"/>
        </a:xfrm>
      </p:grpSpPr>
      <p:sp>
        <p:nvSpPr>
          <p:cNvPr id="1287" name="Google Shape;1287;g386fa9f7404_4_801"/>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g386fa9f7404_4_801"/>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Monitor 4 — Memory Spike: Detecting Packed Payloads</a:t>
            </a:r>
            <a:endParaRPr b="0" i="0" sz="2700" u="none" cap="none" strike="noStrike">
              <a:solidFill>
                <a:schemeClr val="dk1"/>
              </a:solidFill>
              <a:latin typeface="Calibri"/>
              <a:ea typeface="Calibri"/>
              <a:cs typeface="Calibri"/>
              <a:sym typeface="Calibri"/>
            </a:endParaRPr>
          </a:p>
        </p:txBody>
      </p:sp>
      <p:sp>
        <p:nvSpPr>
          <p:cNvPr id="1289" name="Google Shape;1289;g386fa9f7404_4_801"/>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Privilege Monitor</a:t>
            </a:r>
            <a:endParaRPr b="0" i="0" sz="1100" u="none" cap="none" strike="noStrike">
              <a:solidFill>
                <a:schemeClr val="dk1"/>
              </a:solidFill>
              <a:latin typeface="Calibri"/>
              <a:ea typeface="Calibri"/>
              <a:cs typeface="Calibri"/>
              <a:sym typeface="Calibri"/>
            </a:endParaRPr>
          </a:p>
        </p:txBody>
      </p:sp>
      <p:sp>
        <p:nvSpPr>
          <p:cNvPr id="1290" name="Google Shape;1290;g386fa9f7404_4_801"/>
          <p:cNvSpPr/>
          <p:nvPr/>
        </p:nvSpPr>
        <p:spPr>
          <a:xfrm>
            <a:off x="487680" y="1072896"/>
            <a:ext cx="11216640" cy="633984"/>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g386fa9f7404_4_801"/>
          <p:cNvSpPr/>
          <p:nvPr/>
        </p:nvSpPr>
        <p:spPr>
          <a:xfrm>
            <a:off x="487680" y="1072896"/>
            <a:ext cx="121920" cy="633984"/>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g386fa9f7404_4_801"/>
          <p:cNvSpPr/>
          <p:nvPr/>
        </p:nvSpPr>
        <p:spPr>
          <a:xfrm>
            <a:off x="755904" y="1072896"/>
            <a:ext cx="10789920" cy="6339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Sophisticated malware arrives compressed and encrypted — looks like random bytes on disk. When it runs, it decompresses the real payload entirely in memory.</a:t>
            </a:r>
            <a:endParaRPr b="0" i="0" sz="1600" u="none" cap="none" strike="noStrike">
              <a:solidFill>
                <a:schemeClr val="dk1"/>
              </a:solidFill>
              <a:latin typeface="Calibri"/>
              <a:ea typeface="Calibri"/>
              <a:cs typeface="Calibri"/>
              <a:sym typeface="Calibri"/>
            </a:endParaRPr>
          </a:p>
        </p:txBody>
      </p:sp>
      <p:sp>
        <p:nvSpPr>
          <p:cNvPr id="1293" name="Google Shape;1293;g386fa9f7404_4_801"/>
          <p:cNvSpPr/>
          <p:nvPr/>
        </p:nvSpPr>
        <p:spPr>
          <a:xfrm>
            <a:off x="487680" y="1901952"/>
            <a:ext cx="5340096" cy="2414016"/>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g386fa9f7404_4_801"/>
          <p:cNvSpPr/>
          <p:nvPr/>
        </p:nvSpPr>
        <p:spPr>
          <a:xfrm>
            <a:off x="670560" y="1987296"/>
            <a:ext cx="502310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Why attackers pack their malware:</a:t>
            </a:r>
            <a:endParaRPr b="0" i="0" sz="1500" u="none" cap="none" strike="noStrike">
              <a:solidFill>
                <a:schemeClr val="dk1"/>
              </a:solidFill>
              <a:latin typeface="Calibri"/>
              <a:ea typeface="Calibri"/>
              <a:cs typeface="Calibri"/>
              <a:sym typeface="Calibri"/>
            </a:endParaRPr>
          </a:p>
        </p:txBody>
      </p:sp>
      <p:sp>
        <p:nvSpPr>
          <p:cNvPr id="1295" name="Google Shape;1295;g386fa9f7404_4_801"/>
          <p:cNvSpPr/>
          <p:nvPr/>
        </p:nvSpPr>
        <p:spPr>
          <a:xfrm>
            <a:off x="633984" y="2487168"/>
            <a:ext cx="109728" cy="10972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g386fa9f7404_4_801"/>
          <p:cNvSpPr/>
          <p:nvPr/>
        </p:nvSpPr>
        <p:spPr>
          <a:xfrm>
            <a:off x="853440" y="2414016"/>
            <a:ext cx="4828032"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Signature scanners see only random-looking bytes — no readable code to match</a:t>
            </a:r>
            <a:endParaRPr b="0" i="0" sz="1300" u="none" cap="none" strike="noStrike">
              <a:solidFill>
                <a:schemeClr val="dk1"/>
              </a:solidFill>
              <a:latin typeface="Calibri"/>
              <a:ea typeface="Calibri"/>
              <a:cs typeface="Calibri"/>
              <a:sym typeface="Calibri"/>
            </a:endParaRPr>
          </a:p>
        </p:txBody>
      </p:sp>
      <p:sp>
        <p:nvSpPr>
          <p:cNvPr id="1297" name="Google Shape;1297;g386fa9f7404_4_801"/>
          <p:cNvSpPr/>
          <p:nvPr/>
        </p:nvSpPr>
        <p:spPr>
          <a:xfrm>
            <a:off x="633984" y="2913888"/>
            <a:ext cx="109728" cy="10972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g386fa9f7404_4_801"/>
          <p:cNvSpPr/>
          <p:nvPr/>
        </p:nvSpPr>
        <p:spPr>
          <a:xfrm>
            <a:off x="853440" y="2840736"/>
            <a:ext cx="4828032"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File hash changes every time it is repacked — defeats file-based blacklists</a:t>
            </a:r>
            <a:endParaRPr b="0" i="0" sz="1300" u="none" cap="none" strike="noStrike">
              <a:solidFill>
                <a:schemeClr val="dk1"/>
              </a:solidFill>
              <a:latin typeface="Calibri"/>
              <a:ea typeface="Calibri"/>
              <a:cs typeface="Calibri"/>
              <a:sym typeface="Calibri"/>
            </a:endParaRPr>
          </a:p>
        </p:txBody>
      </p:sp>
      <p:sp>
        <p:nvSpPr>
          <p:cNvPr id="1299" name="Google Shape;1299;g386fa9f7404_4_801"/>
          <p:cNvSpPr/>
          <p:nvPr/>
        </p:nvSpPr>
        <p:spPr>
          <a:xfrm>
            <a:off x="633984" y="3340608"/>
            <a:ext cx="109728" cy="10972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g386fa9f7404_4_801"/>
          <p:cNvSpPr/>
          <p:nvPr/>
        </p:nvSpPr>
        <p:spPr>
          <a:xfrm>
            <a:off x="853440" y="3267456"/>
            <a:ext cx="4828032"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Real payload only exists in RAM — never written to disk as a readable file</a:t>
            </a:r>
            <a:endParaRPr b="0" i="0" sz="1300" u="none" cap="none" strike="noStrike">
              <a:solidFill>
                <a:schemeClr val="dk1"/>
              </a:solidFill>
              <a:latin typeface="Calibri"/>
              <a:ea typeface="Calibri"/>
              <a:cs typeface="Calibri"/>
              <a:sym typeface="Calibri"/>
            </a:endParaRPr>
          </a:p>
        </p:txBody>
      </p:sp>
      <p:sp>
        <p:nvSpPr>
          <p:cNvPr id="1301" name="Google Shape;1301;g386fa9f7404_4_801"/>
          <p:cNvSpPr/>
          <p:nvPr/>
        </p:nvSpPr>
        <p:spPr>
          <a:xfrm>
            <a:off x="633984" y="3767328"/>
            <a:ext cx="109728" cy="109728"/>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g386fa9f7404_4_801"/>
          <p:cNvSpPr/>
          <p:nvPr/>
        </p:nvSpPr>
        <p:spPr>
          <a:xfrm>
            <a:off x="853440" y="3694176"/>
            <a:ext cx="4828032"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By the time it unpacks, it is already running — no second chance to scan it</a:t>
            </a:r>
            <a:endParaRPr b="0" i="0" sz="1300" u="none" cap="none" strike="noStrike">
              <a:solidFill>
                <a:schemeClr val="dk1"/>
              </a:solidFill>
              <a:latin typeface="Calibri"/>
              <a:ea typeface="Calibri"/>
              <a:cs typeface="Calibri"/>
              <a:sym typeface="Calibri"/>
            </a:endParaRPr>
          </a:p>
        </p:txBody>
      </p:sp>
      <p:sp>
        <p:nvSpPr>
          <p:cNvPr id="1303" name="Google Shape;1303;g386fa9f7404_4_801"/>
          <p:cNvSpPr/>
          <p:nvPr/>
        </p:nvSpPr>
        <p:spPr>
          <a:xfrm>
            <a:off x="6217920" y="1901952"/>
            <a:ext cx="5486400" cy="2414016"/>
          </a:xfrm>
          <a:prstGeom prst="rect">
            <a:avLst/>
          </a:prstGeom>
          <a:solidFill>
            <a:srgbClr val="FFFFFF"/>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g386fa9f7404_4_801"/>
          <p:cNvSpPr/>
          <p:nvPr/>
        </p:nvSpPr>
        <p:spPr>
          <a:xfrm>
            <a:off x="6400800" y="1987296"/>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VmRSS — actual RAM in use (per 200ms poll):</a:t>
            </a:r>
            <a:endParaRPr b="0" i="0" sz="1500" u="none" cap="none" strike="noStrike">
              <a:solidFill>
                <a:schemeClr val="dk1"/>
              </a:solidFill>
              <a:latin typeface="Calibri"/>
              <a:ea typeface="Calibri"/>
              <a:cs typeface="Calibri"/>
              <a:sym typeface="Calibri"/>
            </a:endParaRPr>
          </a:p>
        </p:txBody>
      </p:sp>
      <p:sp>
        <p:nvSpPr>
          <p:cNvPr id="1305" name="Google Shape;1305;g386fa9f7404_4_801"/>
          <p:cNvSpPr/>
          <p:nvPr/>
        </p:nvSpPr>
        <p:spPr>
          <a:xfrm>
            <a:off x="6339840" y="4084320"/>
            <a:ext cx="5303520" cy="18288"/>
          </a:xfrm>
          <a:prstGeom prst="rect">
            <a:avLst/>
          </a:prstGeom>
          <a:solidFill>
            <a:srgbClr val="BDC3C7"/>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g386fa9f7404_4_801"/>
          <p:cNvSpPr/>
          <p:nvPr/>
        </p:nvSpPr>
        <p:spPr>
          <a:xfrm>
            <a:off x="6437376" y="3934765"/>
            <a:ext cx="829056" cy="149555"/>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g386fa9f7404_4_801"/>
          <p:cNvSpPr/>
          <p:nvPr/>
        </p:nvSpPr>
        <p:spPr>
          <a:xfrm>
            <a:off x="6339840" y="3593389"/>
            <a:ext cx="1024128"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100"/>
              <a:buFont typeface="Calibri"/>
              <a:buNone/>
            </a:pPr>
            <a:r>
              <a:rPr b="0" i="0" lang="en-US" sz="1100" u="none" cap="none" strike="noStrike">
                <a:solidFill>
                  <a:srgbClr val="2471A3"/>
                </a:solidFill>
                <a:latin typeface="Calibri"/>
                <a:ea typeface="Calibri"/>
                <a:cs typeface="Calibri"/>
                <a:sym typeface="Calibri"/>
              </a:rPr>
              <a:t>8 MB</a:t>
            </a:r>
            <a:endParaRPr b="0" i="0" sz="1100" u="none" cap="none" strike="noStrike">
              <a:solidFill>
                <a:schemeClr val="dk1"/>
              </a:solidFill>
              <a:latin typeface="Calibri"/>
              <a:ea typeface="Calibri"/>
              <a:cs typeface="Calibri"/>
              <a:sym typeface="Calibri"/>
            </a:endParaRPr>
          </a:p>
        </p:txBody>
      </p:sp>
      <p:sp>
        <p:nvSpPr>
          <p:cNvPr id="1308" name="Google Shape;1308;g386fa9f7404_4_801"/>
          <p:cNvSpPr/>
          <p:nvPr/>
        </p:nvSpPr>
        <p:spPr>
          <a:xfrm>
            <a:off x="6437376" y="4133088"/>
            <a:ext cx="829056" cy="2682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0.0s</a:t>
            </a:r>
            <a:endParaRPr b="0" i="0" sz="1100" u="none" cap="none" strike="noStrike">
              <a:solidFill>
                <a:schemeClr val="dk1"/>
              </a:solidFill>
              <a:latin typeface="Calibri"/>
              <a:ea typeface="Calibri"/>
              <a:cs typeface="Calibri"/>
              <a:sym typeface="Calibri"/>
            </a:endParaRPr>
          </a:p>
        </p:txBody>
      </p:sp>
      <p:sp>
        <p:nvSpPr>
          <p:cNvPr id="1309" name="Google Shape;1309;g386fa9f7404_4_801"/>
          <p:cNvSpPr/>
          <p:nvPr/>
        </p:nvSpPr>
        <p:spPr>
          <a:xfrm>
            <a:off x="7485888" y="3916071"/>
            <a:ext cx="829056" cy="168249"/>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g386fa9f7404_4_801"/>
          <p:cNvSpPr/>
          <p:nvPr/>
        </p:nvSpPr>
        <p:spPr>
          <a:xfrm>
            <a:off x="7388352" y="3574695"/>
            <a:ext cx="1024128"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100"/>
              <a:buFont typeface="Calibri"/>
              <a:buNone/>
            </a:pPr>
            <a:r>
              <a:rPr b="0" i="0" lang="en-US" sz="1100" u="none" cap="none" strike="noStrike">
                <a:solidFill>
                  <a:srgbClr val="2471A3"/>
                </a:solidFill>
                <a:latin typeface="Calibri"/>
                <a:ea typeface="Calibri"/>
                <a:cs typeface="Calibri"/>
                <a:sym typeface="Calibri"/>
              </a:rPr>
              <a:t>9 MB</a:t>
            </a:r>
            <a:endParaRPr b="0" i="0" sz="1100" u="none" cap="none" strike="noStrike">
              <a:solidFill>
                <a:schemeClr val="dk1"/>
              </a:solidFill>
              <a:latin typeface="Calibri"/>
              <a:ea typeface="Calibri"/>
              <a:cs typeface="Calibri"/>
              <a:sym typeface="Calibri"/>
            </a:endParaRPr>
          </a:p>
        </p:txBody>
      </p:sp>
      <p:sp>
        <p:nvSpPr>
          <p:cNvPr id="1311" name="Google Shape;1311;g386fa9f7404_4_801"/>
          <p:cNvSpPr/>
          <p:nvPr/>
        </p:nvSpPr>
        <p:spPr>
          <a:xfrm>
            <a:off x="7485888" y="4133088"/>
            <a:ext cx="829056" cy="2682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0.2s</a:t>
            </a:r>
            <a:endParaRPr b="0" i="0" sz="1100" u="none" cap="none" strike="noStrike">
              <a:solidFill>
                <a:schemeClr val="dk1"/>
              </a:solidFill>
              <a:latin typeface="Calibri"/>
              <a:ea typeface="Calibri"/>
              <a:cs typeface="Calibri"/>
              <a:sym typeface="Calibri"/>
            </a:endParaRPr>
          </a:p>
        </p:txBody>
      </p:sp>
      <p:sp>
        <p:nvSpPr>
          <p:cNvPr id="1312" name="Google Shape;1312;g386fa9f7404_4_801"/>
          <p:cNvSpPr/>
          <p:nvPr/>
        </p:nvSpPr>
        <p:spPr>
          <a:xfrm>
            <a:off x="8534400" y="3934765"/>
            <a:ext cx="829056" cy="149555"/>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g386fa9f7404_4_801"/>
          <p:cNvSpPr/>
          <p:nvPr/>
        </p:nvSpPr>
        <p:spPr>
          <a:xfrm>
            <a:off x="8436864" y="3593389"/>
            <a:ext cx="1024128"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471A3"/>
              </a:buClr>
              <a:buSzPts val="1100"/>
              <a:buFont typeface="Calibri"/>
              <a:buNone/>
            </a:pPr>
            <a:r>
              <a:rPr b="0" i="0" lang="en-US" sz="1100" u="none" cap="none" strike="noStrike">
                <a:solidFill>
                  <a:srgbClr val="2471A3"/>
                </a:solidFill>
                <a:latin typeface="Calibri"/>
                <a:ea typeface="Calibri"/>
                <a:cs typeface="Calibri"/>
                <a:sym typeface="Calibri"/>
              </a:rPr>
              <a:t>8 MB</a:t>
            </a:r>
            <a:endParaRPr b="0" i="0" sz="1100" u="none" cap="none" strike="noStrike">
              <a:solidFill>
                <a:schemeClr val="dk1"/>
              </a:solidFill>
              <a:latin typeface="Calibri"/>
              <a:ea typeface="Calibri"/>
              <a:cs typeface="Calibri"/>
              <a:sym typeface="Calibri"/>
            </a:endParaRPr>
          </a:p>
        </p:txBody>
      </p:sp>
      <p:sp>
        <p:nvSpPr>
          <p:cNvPr id="1314" name="Google Shape;1314;g386fa9f7404_4_801"/>
          <p:cNvSpPr/>
          <p:nvPr/>
        </p:nvSpPr>
        <p:spPr>
          <a:xfrm>
            <a:off x="8534400" y="4133088"/>
            <a:ext cx="829056" cy="2682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0.4s</a:t>
            </a:r>
            <a:endParaRPr b="0" i="0" sz="1100" u="none" cap="none" strike="noStrike">
              <a:solidFill>
                <a:schemeClr val="dk1"/>
              </a:solidFill>
              <a:latin typeface="Calibri"/>
              <a:ea typeface="Calibri"/>
              <a:cs typeface="Calibri"/>
              <a:sym typeface="Calibri"/>
            </a:endParaRPr>
          </a:p>
        </p:txBody>
      </p:sp>
      <p:sp>
        <p:nvSpPr>
          <p:cNvPr id="1315" name="Google Shape;1315;g386fa9f7404_4_801"/>
          <p:cNvSpPr/>
          <p:nvPr/>
        </p:nvSpPr>
        <p:spPr>
          <a:xfrm>
            <a:off x="9582912" y="2570073"/>
            <a:ext cx="829056" cy="1514247"/>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g386fa9f7404_4_801"/>
          <p:cNvSpPr/>
          <p:nvPr/>
        </p:nvSpPr>
        <p:spPr>
          <a:xfrm>
            <a:off x="9485376" y="2228697"/>
            <a:ext cx="1024128"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81 MB</a:t>
            </a:r>
            <a:endParaRPr b="0" i="0" sz="1100" u="none" cap="none" strike="noStrike">
              <a:solidFill>
                <a:schemeClr val="dk1"/>
              </a:solidFill>
              <a:latin typeface="Calibri"/>
              <a:ea typeface="Calibri"/>
              <a:cs typeface="Calibri"/>
              <a:sym typeface="Calibri"/>
            </a:endParaRPr>
          </a:p>
        </p:txBody>
      </p:sp>
      <p:sp>
        <p:nvSpPr>
          <p:cNvPr id="1317" name="Google Shape;1317;g386fa9f7404_4_801"/>
          <p:cNvSpPr/>
          <p:nvPr/>
        </p:nvSpPr>
        <p:spPr>
          <a:xfrm>
            <a:off x="9753600" y="1984857"/>
            <a:ext cx="487680" cy="2682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318" name="Google Shape;1318;g386fa9f7404_4_801"/>
          <p:cNvSpPr/>
          <p:nvPr/>
        </p:nvSpPr>
        <p:spPr>
          <a:xfrm>
            <a:off x="9582912" y="4133088"/>
            <a:ext cx="829056" cy="2682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0.6s</a:t>
            </a:r>
            <a:endParaRPr b="0" i="0" sz="1100" u="none" cap="none" strike="noStrike">
              <a:solidFill>
                <a:schemeClr val="dk1"/>
              </a:solidFill>
              <a:latin typeface="Calibri"/>
              <a:ea typeface="Calibri"/>
              <a:cs typeface="Calibri"/>
              <a:sym typeface="Calibri"/>
            </a:endParaRPr>
          </a:p>
        </p:txBody>
      </p:sp>
      <p:sp>
        <p:nvSpPr>
          <p:cNvPr id="1319" name="Google Shape;1319;g386fa9f7404_4_801"/>
          <p:cNvSpPr/>
          <p:nvPr/>
        </p:nvSpPr>
        <p:spPr>
          <a:xfrm>
            <a:off x="10631424" y="2495296"/>
            <a:ext cx="829056" cy="1589024"/>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g386fa9f7404_4_801"/>
          <p:cNvSpPr/>
          <p:nvPr/>
        </p:nvSpPr>
        <p:spPr>
          <a:xfrm>
            <a:off x="10533888" y="2153920"/>
            <a:ext cx="1024128"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85 MB</a:t>
            </a:r>
            <a:endParaRPr b="0" i="0" sz="1100" u="none" cap="none" strike="noStrike">
              <a:solidFill>
                <a:schemeClr val="dk1"/>
              </a:solidFill>
              <a:latin typeface="Calibri"/>
              <a:ea typeface="Calibri"/>
              <a:cs typeface="Calibri"/>
              <a:sym typeface="Calibri"/>
            </a:endParaRPr>
          </a:p>
        </p:txBody>
      </p:sp>
      <p:sp>
        <p:nvSpPr>
          <p:cNvPr id="1321" name="Google Shape;1321;g386fa9f7404_4_801"/>
          <p:cNvSpPr/>
          <p:nvPr/>
        </p:nvSpPr>
        <p:spPr>
          <a:xfrm>
            <a:off x="10802112" y="1910080"/>
            <a:ext cx="487680" cy="2682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322" name="Google Shape;1322;g386fa9f7404_4_801"/>
          <p:cNvSpPr/>
          <p:nvPr/>
        </p:nvSpPr>
        <p:spPr>
          <a:xfrm>
            <a:off x="10631424" y="4133088"/>
            <a:ext cx="829056" cy="2682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0.8s</a:t>
            </a:r>
            <a:endParaRPr b="0" i="0" sz="1100" u="none" cap="none" strike="noStrike">
              <a:solidFill>
                <a:schemeClr val="dk1"/>
              </a:solidFill>
              <a:latin typeface="Calibri"/>
              <a:ea typeface="Calibri"/>
              <a:cs typeface="Calibri"/>
              <a:sym typeface="Calibri"/>
            </a:endParaRPr>
          </a:p>
        </p:txBody>
      </p:sp>
      <p:sp>
        <p:nvSpPr>
          <p:cNvPr id="1323" name="Google Shape;1323;g386fa9f7404_4_801"/>
          <p:cNvSpPr/>
          <p:nvPr/>
        </p:nvSpPr>
        <p:spPr>
          <a:xfrm>
            <a:off x="6400800" y="4474464"/>
            <a:ext cx="5242560" cy="390144"/>
          </a:xfrm>
          <a:prstGeom prst="rect">
            <a:avLst/>
          </a:prstGeom>
          <a:solidFill>
            <a:srgbClr val="FADBD8"/>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g386fa9f7404_4_801"/>
          <p:cNvSpPr/>
          <p:nvPr/>
        </p:nvSpPr>
        <p:spPr>
          <a:xfrm>
            <a:off x="6522720" y="4474464"/>
            <a:ext cx="5023104"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0.6s: +72 MB in one 200ms poll → memory_inject → +35 pts</a:t>
            </a:r>
            <a:endParaRPr b="0" i="0" sz="1300" u="none" cap="none" strike="noStrike">
              <a:solidFill>
                <a:schemeClr val="dk1"/>
              </a:solidFill>
              <a:latin typeface="Calibri"/>
              <a:ea typeface="Calibri"/>
              <a:cs typeface="Calibri"/>
              <a:sym typeface="Calibri"/>
            </a:endParaRPr>
          </a:p>
        </p:txBody>
      </p:sp>
      <p:sp>
        <p:nvSpPr>
          <p:cNvPr id="1325" name="Google Shape;1325;g386fa9f7404_4_801"/>
          <p:cNvSpPr/>
          <p:nvPr/>
        </p:nvSpPr>
        <p:spPr>
          <a:xfrm>
            <a:off x="487680" y="4486656"/>
            <a:ext cx="5340096" cy="877824"/>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g386fa9f7404_4_801"/>
          <p:cNvSpPr/>
          <p:nvPr/>
        </p:nvSpPr>
        <p:spPr>
          <a:xfrm>
            <a:off x="487680" y="4486656"/>
            <a:ext cx="121920" cy="877824"/>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g386fa9f7404_4_801"/>
          <p:cNvSpPr/>
          <p:nvPr/>
        </p:nvSpPr>
        <p:spPr>
          <a:xfrm>
            <a:off x="755904" y="4535424"/>
            <a:ext cx="49377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Threshold: +50 MB in a single 200ms poll</a:t>
            </a:r>
            <a:endParaRPr b="0" i="0" sz="1500" u="none" cap="none" strike="noStrike">
              <a:solidFill>
                <a:schemeClr val="dk1"/>
              </a:solidFill>
              <a:latin typeface="Calibri"/>
              <a:ea typeface="Calibri"/>
              <a:cs typeface="Calibri"/>
              <a:sym typeface="Calibri"/>
            </a:endParaRPr>
          </a:p>
        </p:txBody>
      </p:sp>
      <p:sp>
        <p:nvSpPr>
          <p:cNvPr id="1328" name="Google Shape;1328;g386fa9f7404_4_801"/>
          <p:cNvSpPr/>
          <p:nvPr/>
        </p:nvSpPr>
        <p:spPr>
          <a:xfrm>
            <a:off x="755904" y="4901184"/>
            <a:ext cx="4937760" cy="3901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Normal programs grow memory gradually. A 50 MB jump in 200ms is the signature of payload decompression — not normal allocation.</a:t>
            </a:r>
            <a:endParaRPr b="0" i="0" sz="1300" u="none" cap="none" strike="noStrike">
              <a:solidFill>
                <a:schemeClr val="dk1"/>
              </a:solidFill>
              <a:latin typeface="Calibri"/>
              <a:ea typeface="Calibri"/>
              <a:cs typeface="Calibri"/>
              <a:sym typeface="Calibri"/>
            </a:endParaRPr>
          </a:p>
        </p:txBody>
      </p:sp>
      <p:sp>
        <p:nvSpPr>
          <p:cNvPr id="1329" name="Google Shape;1329;g386fa9f7404_4_801"/>
          <p:cNvSpPr/>
          <p:nvPr/>
        </p:nvSpPr>
        <p:spPr>
          <a:xfrm>
            <a:off x="487680" y="5547360"/>
            <a:ext cx="11216640" cy="707136"/>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g386fa9f7404_4_801"/>
          <p:cNvSpPr/>
          <p:nvPr/>
        </p:nvSpPr>
        <p:spPr>
          <a:xfrm>
            <a:off x="731520" y="5547360"/>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0" i="0" lang="en-US" sz="1500" u="none" cap="none" strike="noStrike">
                <a:solidFill>
                  <a:srgbClr val="1B3A5C"/>
                </a:solidFill>
                <a:latin typeface="Calibri"/>
                <a:ea typeface="Calibri"/>
                <a:cs typeface="Calibri"/>
                <a:sym typeface="Calibri"/>
              </a:rPr>
              <a:t>VmRSS grows gradually during normal execution. A sudden +50 MB in one 200ms window is the fingerprint of packed malware decompressing itself into RAM.</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334" name="Shape 1334"/>
        <p:cNvGrpSpPr/>
        <p:nvPr/>
      </p:nvGrpSpPr>
      <p:grpSpPr>
        <a:xfrm>
          <a:off x="0" y="0"/>
          <a:ext cx="0" cy="0"/>
          <a:chOff x="0" y="0"/>
          <a:chExt cx="0" cy="0"/>
        </a:xfrm>
      </p:grpSpPr>
      <p:sp>
        <p:nvSpPr>
          <p:cNvPr id="1335" name="Google Shape;1335;g386fa9f7404_4_848"/>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g386fa9f7404_4_848"/>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5 — Risk Scoring: Worked Example</a:t>
            </a:r>
            <a:endParaRPr b="0" i="0" sz="2700" u="none" cap="none" strike="noStrike">
              <a:solidFill>
                <a:schemeClr val="dk1"/>
              </a:solidFill>
              <a:latin typeface="Calibri"/>
              <a:ea typeface="Calibri"/>
              <a:cs typeface="Calibri"/>
              <a:sym typeface="Calibri"/>
            </a:endParaRPr>
          </a:p>
        </p:txBody>
      </p:sp>
      <p:sp>
        <p:nvSpPr>
          <p:cNvPr id="1337" name="Google Shape;1337;g386fa9f7404_4_848"/>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7 Demo</a:t>
            </a:r>
            <a:endParaRPr b="0" i="0" sz="1100" u="none" cap="none" strike="noStrike">
              <a:solidFill>
                <a:schemeClr val="dk1"/>
              </a:solidFill>
              <a:latin typeface="Calibri"/>
              <a:ea typeface="Calibri"/>
              <a:cs typeface="Calibri"/>
              <a:sym typeface="Calibri"/>
            </a:endParaRPr>
          </a:p>
        </p:txBody>
      </p:sp>
      <p:sp>
        <p:nvSpPr>
          <p:cNvPr id="1338" name="Google Shape;1338;g386fa9f7404_4_848"/>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Using malware.py from the notebook — tracing every event to the final score. Same numbers as Section 7.</a:t>
            </a:r>
            <a:endParaRPr b="0" i="0" sz="1700" u="none" cap="none" strike="noStrike">
              <a:solidFill>
                <a:schemeClr val="dk1"/>
              </a:solidFill>
              <a:latin typeface="Calibri"/>
              <a:ea typeface="Calibri"/>
              <a:cs typeface="Calibri"/>
              <a:sym typeface="Calibri"/>
            </a:endParaRPr>
          </a:p>
        </p:txBody>
      </p:sp>
      <p:sp>
        <p:nvSpPr>
          <p:cNvPr id="1339" name="Google Shape;1339;g386fa9f7404_4_848"/>
          <p:cNvSpPr/>
          <p:nvPr/>
        </p:nvSpPr>
        <p:spPr>
          <a:xfrm>
            <a:off x="487680" y="1645920"/>
            <a:ext cx="999744"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g386fa9f7404_4_848"/>
          <p:cNvSpPr/>
          <p:nvPr/>
        </p:nvSpPr>
        <p:spPr>
          <a:xfrm>
            <a:off x="585216" y="1645920"/>
            <a:ext cx="804672"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Time</a:t>
            </a:r>
            <a:endParaRPr b="0" i="0" sz="1400" u="none" cap="none" strike="noStrike">
              <a:solidFill>
                <a:schemeClr val="dk1"/>
              </a:solidFill>
              <a:latin typeface="Calibri"/>
              <a:ea typeface="Calibri"/>
              <a:cs typeface="Calibri"/>
              <a:sym typeface="Calibri"/>
            </a:endParaRPr>
          </a:p>
        </p:txBody>
      </p:sp>
      <p:sp>
        <p:nvSpPr>
          <p:cNvPr id="1341" name="Google Shape;1341;g386fa9f7404_4_848"/>
          <p:cNvSpPr/>
          <p:nvPr/>
        </p:nvSpPr>
        <p:spPr>
          <a:xfrm>
            <a:off x="1560576" y="1645920"/>
            <a:ext cx="1950720"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g386fa9f7404_4_848"/>
          <p:cNvSpPr/>
          <p:nvPr/>
        </p:nvSpPr>
        <p:spPr>
          <a:xfrm>
            <a:off x="1658112" y="1645920"/>
            <a:ext cx="1755648"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Monitor</a:t>
            </a:r>
            <a:endParaRPr b="0" i="0" sz="1400" u="none" cap="none" strike="noStrike">
              <a:solidFill>
                <a:schemeClr val="dk1"/>
              </a:solidFill>
              <a:latin typeface="Calibri"/>
              <a:ea typeface="Calibri"/>
              <a:cs typeface="Calibri"/>
              <a:sym typeface="Calibri"/>
            </a:endParaRPr>
          </a:p>
        </p:txBody>
      </p:sp>
      <p:sp>
        <p:nvSpPr>
          <p:cNvPr id="1343" name="Google Shape;1343;g386fa9f7404_4_848"/>
          <p:cNvSpPr/>
          <p:nvPr/>
        </p:nvSpPr>
        <p:spPr>
          <a:xfrm>
            <a:off x="3596640" y="1645920"/>
            <a:ext cx="2414016"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g386fa9f7404_4_848"/>
          <p:cNvSpPr/>
          <p:nvPr/>
        </p:nvSpPr>
        <p:spPr>
          <a:xfrm>
            <a:off x="3694176" y="1645920"/>
            <a:ext cx="2218944"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Event</a:t>
            </a:r>
            <a:endParaRPr b="0" i="0" sz="1400" u="none" cap="none" strike="noStrike">
              <a:solidFill>
                <a:schemeClr val="dk1"/>
              </a:solidFill>
              <a:latin typeface="Calibri"/>
              <a:ea typeface="Calibri"/>
              <a:cs typeface="Calibri"/>
              <a:sym typeface="Calibri"/>
            </a:endParaRPr>
          </a:p>
        </p:txBody>
      </p:sp>
      <p:sp>
        <p:nvSpPr>
          <p:cNvPr id="1345" name="Google Shape;1345;g386fa9f7404_4_848"/>
          <p:cNvSpPr/>
          <p:nvPr/>
        </p:nvSpPr>
        <p:spPr>
          <a:xfrm>
            <a:off x="6096000" y="1645920"/>
            <a:ext cx="4486656"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g386fa9f7404_4_848"/>
          <p:cNvSpPr/>
          <p:nvPr/>
        </p:nvSpPr>
        <p:spPr>
          <a:xfrm>
            <a:off x="6193536" y="1645920"/>
            <a:ext cx="4291584"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Detail</a:t>
            </a:r>
            <a:endParaRPr b="0" i="0" sz="1400" u="none" cap="none" strike="noStrike">
              <a:solidFill>
                <a:schemeClr val="dk1"/>
              </a:solidFill>
              <a:latin typeface="Calibri"/>
              <a:ea typeface="Calibri"/>
              <a:cs typeface="Calibri"/>
              <a:sym typeface="Calibri"/>
            </a:endParaRPr>
          </a:p>
        </p:txBody>
      </p:sp>
      <p:sp>
        <p:nvSpPr>
          <p:cNvPr id="1347" name="Google Shape;1347;g386fa9f7404_4_848"/>
          <p:cNvSpPr/>
          <p:nvPr/>
        </p:nvSpPr>
        <p:spPr>
          <a:xfrm>
            <a:off x="10668000" y="1645920"/>
            <a:ext cx="1072896" cy="48768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g386fa9f7404_4_848"/>
          <p:cNvSpPr/>
          <p:nvPr/>
        </p:nvSpPr>
        <p:spPr>
          <a:xfrm>
            <a:off x="10765536" y="1645920"/>
            <a:ext cx="877824"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Score</a:t>
            </a:r>
            <a:endParaRPr b="0" i="0" sz="1400" u="none" cap="none" strike="noStrike">
              <a:solidFill>
                <a:schemeClr val="dk1"/>
              </a:solidFill>
              <a:latin typeface="Calibri"/>
              <a:ea typeface="Calibri"/>
              <a:cs typeface="Calibri"/>
              <a:sym typeface="Calibri"/>
            </a:endParaRPr>
          </a:p>
        </p:txBody>
      </p:sp>
      <p:sp>
        <p:nvSpPr>
          <p:cNvPr id="1349" name="Google Shape;1349;g386fa9f7404_4_848"/>
          <p:cNvSpPr/>
          <p:nvPr/>
        </p:nvSpPr>
        <p:spPr>
          <a:xfrm>
            <a:off x="487680" y="2170176"/>
            <a:ext cx="999744"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g386fa9f7404_4_848"/>
          <p:cNvSpPr/>
          <p:nvPr/>
        </p:nvSpPr>
        <p:spPr>
          <a:xfrm>
            <a:off x="1560576" y="2170176"/>
            <a:ext cx="1950720"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g386fa9f7404_4_848"/>
          <p:cNvSpPr/>
          <p:nvPr/>
        </p:nvSpPr>
        <p:spPr>
          <a:xfrm>
            <a:off x="3596640" y="2170176"/>
            <a:ext cx="2414016"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g386fa9f7404_4_848"/>
          <p:cNvSpPr/>
          <p:nvPr/>
        </p:nvSpPr>
        <p:spPr>
          <a:xfrm>
            <a:off x="6096000" y="2170176"/>
            <a:ext cx="4486656"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g386fa9f7404_4_848"/>
          <p:cNvSpPr/>
          <p:nvPr/>
        </p:nvSpPr>
        <p:spPr>
          <a:xfrm>
            <a:off x="10668000" y="2170176"/>
            <a:ext cx="1072896"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g386fa9f7404_4_848"/>
          <p:cNvSpPr/>
          <p:nvPr/>
        </p:nvSpPr>
        <p:spPr>
          <a:xfrm>
            <a:off x="585216" y="2170176"/>
            <a:ext cx="804672"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0.2s</a:t>
            </a:r>
            <a:endParaRPr b="0" i="0" sz="1300" u="none" cap="none" strike="noStrike">
              <a:solidFill>
                <a:schemeClr val="dk1"/>
              </a:solidFill>
              <a:latin typeface="Calibri"/>
              <a:ea typeface="Calibri"/>
              <a:cs typeface="Calibri"/>
              <a:sym typeface="Calibri"/>
            </a:endParaRPr>
          </a:p>
        </p:txBody>
      </p:sp>
      <p:sp>
        <p:nvSpPr>
          <p:cNvPr id="1355" name="Google Shape;1355;g386fa9f7404_4_848"/>
          <p:cNvSpPr/>
          <p:nvPr/>
        </p:nvSpPr>
        <p:spPr>
          <a:xfrm>
            <a:off x="1658112" y="2170176"/>
            <a:ext cx="1755648"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Network</a:t>
            </a:r>
            <a:endParaRPr b="0" i="0" sz="1300" u="none" cap="none" strike="noStrike">
              <a:solidFill>
                <a:schemeClr val="dk1"/>
              </a:solidFill>
              <a:latin typeface="Calibri"/>
              <a:ea typeface="Calibri"/>
              <a:cs typeface="Calibri"/>
              <a:sym typeface="Calibri"/>
            </a:endParaRPr>
          </a:p>
        </p:txBody>
      </p:sp>
      <p:sp>
        <p:nvSpPr>
          <p:cNvPr id="1356" name="Google Shape;1356;g386fa9f7404_4_848"/>
          <p:cNvSpPr/>
          <p:nvPr/>
        </p:nvSpPr>
        <p:spPr>
          <a:xfrm>
            <a:off x="3694176" y="2170176"/>
            <a:ext cx="221894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network_connect</a:t>
            </a:r>
            <a:endParaRPr b="0" i="0" sz="1300" u="none" cap="none" strike="noStrike">
              <a:solidFill>
                <a:schemeClr val="dk1"/>
              </a:solidFill>
              <a:latin typeface="Calibri"/>
              <a:ea typeface="Calibri"/>
              <a:cs typeface="Calibri"/>
              <a:sym typeface="Calibri"/>
            </a:endParaRPr>
          </a:p>
        </p:txBody>
      </p:sp>
      <p:sp>
        <p:nvSpPr>
          <p:cNvPr id="1357" name="Google Shape;1357;g386fa9f7404_4_848"/>
          <p:cNvSpPr/>
          <p:nvPr/>
        </p:nvSpPr>
        <p:spPr>
          <a:xfrm>
            <a:off x="6193536" y="2170176"/>
            <a:ext cx="429158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TCP connect → 203.0.113.42:4444 (C2 server)</a:t>
            </a:r>
            <a:endParaRPr b="0" i="0" sz="1300" u="none" cap="none" strike="noStrike">
              <a:solidFill>
                <a:schemeClr val="dk1"/>
              </a:solidFill>
              <a:latin typeface="Calibri"/>
              <a:ea typeface="Calibri"/>
              <a:cs typeface="Calibri"/>
              <a:sym typeface="Calibri"/>
            </a:endParaRPr>
          </a:p>
        </p:txBody>
      </p:sp>
      <p:sp>
        <p:nvSpPr>
          <p:cNvPr id="1358" name="Google Shape;1358;g386fa9f7404_4_848"/>
          <p:cNvSpPr/>
          <p:nvPr/>
        </p:nvSpPr>
        <p:spPr>
          <a:xfrm>
            <a:off x="10765536" y="2170176"/>
            <a:ext cx="87782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600"/>
              <a:buFont typeface="Calibri"/>
              <a:buNone/>
            </a:pPr>
            <a:r>
              <a:rPr b="1" i="0" lang="en-US" sz="1600" u="none" cap="none" strike="noStrike">
                <a:solidFill>
                  <a:srgbClr val="2471A3"/>
                </a:solidFill>
                <a:latin typeface="Calibri"/>
                <a:ea typeface="Calibri"/>
                <a:cs typeface="Calibri"/>
                <a:sym typeface="Calibri"/>
              </a:rPr>
              <a:t>+25</a:t>
            </a:r>
            <a:endParaRPr b="0" i="0" sz="1600" u="none" cap="none" strike="noStrike">
              <a:solidFill>
                <a:schemeClr val="dk1"/>
              </a:solidFill>
              <a:latin typeface="Calibri"/>
              <a:ea typeface="Calibri"/>
              <a:cs typeface="Calibri"/>
              <a:sym typeface="Calibri"/>
            </a:endParaRPr>
          </a:p>
        </p:txBody>
      </p:sp>
      <p:sp>
        <p:nvSpPr>
          <p:cNvPr id="1359" name="Google Shape;1359;g386fa9f7404_4_848"/>
          <p:cNvSpPr/>
          <p:nvPr/>
        </p:nvSpPr>
        <p:spPr>
          <a:xfrm>
            <a:off x="487680" y="2779776"/>
            <a:ext cx="999744" cy="57302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g386fa9f7404_4_848"/>
          <p:cNvSpPr/>
          <p:nvPr/>
        </p:nvSpPr>
        <p:spPr>
          <a:xfrm>
            <a:off x="1560576" y="2779776"/>
            <a:ext cx="1950720" cy="57302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g386fa9f7404_4_848"/>
          <p:cNvSpPr/>
          <p:nvPr/>
        </p:nvSpPr>
        <p:spPr>
          <a:xfrm>
            <a:off x="3596640" y="2779776"/>
            <a:ext cx="2414016" cy="57302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g386fa9f7404_4_848"/>
          <p:cNvSpPr/>
          <p:nvPr/>
        </p:nvSpPr>
        <p:spPr>
          <a:xfrm>
            <a:off x="6096000" y="2779776"/>
            <a:ext cx="4486656" cy="57302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g386fa9f7404_4_848"/>
          <p:cNvSpPr/>
          <p:nvPr/>
        </p:nvSpPr>
        <p:spPr>
          <a:xfrm>
            <a:off x="10668000" y="2779776"/>
            <a:ext cx="1072896" cy="57302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g386fa9f7404_4_848"/>
          <p:cNvSpPr/>
          <p:nvPr/>
        </p:nvSpPr>
        <p:spPr>
          <a:xfrm>
            <a:off x="585216" y="2779776"/>
            <a:ext cx="804672"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0.4s</a:t>
            </a:r>
            <a:endParaRPr b="0" i="0" sz="1300" u="none" cap="none" strike="noStrike">
              <a:solidFill>
                <a:schemeClr val="dk1"/>
              </a:solidFill>
              <a:latin typeface="Calibri"/>
              <a:ea typeface="Calibri"/>
              <a:cs typeface="Calibri"/>
              <a:sym typeface="Calibri"/>
            </a:endParaRPr>
          </a:p>
        </p:txBody>
      </p:sp>
      <p:sp>
        <p:nvSpPr>
          <p:cNvPr id="1365" name="Google Shape;1365;g386fa9f7404_4_848"/>
          <p:cNvSpPr/>
          <p:nvPr/>
        </p:nvSpPr>
        <p:spPr>
          <a:xfrm>
            <a:off x="1658112" y="2779776"/>
            <a:ext cx="1755648"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Process</a:t>
            </a:r>
            <a:endParaRPr b="0" i="0" sz="1300" u="none" cap="none" strike="noStrike">
              <a:solidFill>
                <a:schemeClr val="dk1"/>
              </a:solidFill>
              <a:latin typeface="Calibri"/>
              <a:ea typeface="Calibri"/>
              <a:cs typeface="Calibri"/>
              <a:sym typeface="Calibri"/>
            </a:endParaRPr>
          </a:p>
        </p:txBody>
      </p:sp>
      <p:sp>
        <p:nvSpPr>
          <p:cNvPr id="1366" name="Google Shape;1366;g386fa9f7404_4_848"/>
          <p:cNvSpPr/>
          <p:nvPr/>
        </p:nvSpPr>
        <p:spPr>
          <a:xfrm>
            <a:off x="3694176" y="2779776"/>
            <a:ext cx="221894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shell_command</a:t>
            </a:r>
            <a:endParaRPr b="0" i="0" sz="1300" u="none" cap="none" strike="noStrike">
              <a:solidFill>
                <a:schemeClr val="dk1"/>
              </a:solidFill>
              <a:latin typeface="Calibri"/>
              <a:ea typeface="Calibri"/>
              <a:cs typeface="Calibri"/>
              <a:sym typeface="Calibri"/>
            </a:endParaRPr>
          </a:p>
        </p:txBody>
      </p:sp>
      <p:sp>
        <p:nvSpPr>
          <p:cNvPr id="1367" name="Google Shape;1367;g386fa9f7404_4_848"/>
          <p:cNvSpPr/>
          <p:nvPr/>
        </p:nvSpPr>
        <p:spPr>
          <a:xfrm>
            <a:off x="6193536" y="2779776"/>
            <a:ext cx="429158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Child spawned: bash -c id</a:t>
            </a:r>
            <a:endParaRPr b="0" i="0" sz="1300" u="none" cap="none" strike="noStrike">
              <a:solidFill>
                <a:schemeClr val="dk1"/>
              </a:solidFill>
              <a:latin typeface="Calibri"/>
              <a:ea typeface="Calibri"/>
              <a:cs typeface="Calibri"/>
              <a:sym typeface="Calibri"/>
            </a:endParaRPr>
          </a:p>
        </p:txBody>
      </p:sp>
      <p:sp>
        <p:nvSpPr>
          <p:cNvPr id="1368" name="Google Shape;1368;g386fa9f7404_4_848"/>
          <p:cNvSpPr/>
          <p:nvPr/>
        </p:nvSpPr>
        <p:spPr>
          <a:xfrm>
            <a:off x="10765536" y="2779776"/>
            <a:ext cx="87782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600"/>
              <a:buFont typeface="Calibri"/>
              <a:buNone/>
            </a:pPr>
            <a:r>
              <a:rPr b="1" i="0" lang="en-US" sz="1600" u="none" cap="none" strike="noStrike">
                <a:solidFill>
                  <a:srgbClr val="2471A3"/>
                </a:solidFill>
                <a:latin typeface="Calibri"/>
                <a:ea typeface="Calibri"/>
                <a:cs typeface="Calibri"/>
                <a:sym typeface="Calibri"/>
              </a:rPr>
              <a:t>+25</a:t>
            </a:r>
            <a:endParaRPr b="0" i="0" sz="1600" u="none" cap="none" strike="noStrike">
              <a:solidFill>
                <a:schemeClr val="dk1"/>
              </a:solidFill>
              <a:latin typeface="Calibri"/>
              <a:ea typeface="Calibri"/>
              <a:cs typeface="Calibri"/>
              <a:sym typeface="Calibri"/>
            </a:endParaRPr>
          </a:p>
        </p:txBody>
      </p:sp>
      <p:sp>
        <p:nvSpPr>
          <p:cNvPr id="1369" name="Google Shape;1369;g386fa9f7404_4_848"/>
          <p:cNvSpPr/>
          <p:nvPr/>
        </p:nvSpPr>
        <p:spPr>
          <a:xfrm>
            <a:off x="487680" y="3389376"/>
            <a:ext cx="999744"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g386fa9f7404_4_848"/>
          <p:cNvSpPr/>
          <p:nvPr/>
        </p:nvSpPr>
        <p:spPr>
          <a:xfrm>
            <a:off x="1560576" y="3389376"/>
            <a:ext cx="1950720"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g386fa9f7404_4_848"/>
          <p:cNvSpPr/>
          <p:nvPr/>
        </p:nvSpPr>
        <p:spPr>
          <a:xfrm>
            <a:off x="3596640" y="3389376"/>
            <a:ext cx="2414016"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g386fa9f7404_4_848"/>
          <p:cNvSpPr/>
          <p:nvPr/>
        </p:nvSpPr>
        <p:spPr>
          <a:xfrm>
            <a:off x="6096000" y="3389376"/>
            <a:ext cx="4486656"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g386fa9f7404_4_848"/>
          <p:cNvSpPr/>
          <p:nvPr/>
        </p:nvSpPr>
        <p:spPr>
          <a:xfrm>
            <a:off x="10668000" y="3389376"/>
            <a:ext cx="1072896" cy="573024"/>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g386fa9f7404_4_848"/>
          <p:cNvSpPr/>
          <p:nvPr/>
        </p:nvSpPr>
        <p:spPr>
          <a:xfrm>
            <a:off x="585216" y="3389376"/>
            <a:ext cx="804672"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0.5s</a:t>
            </a:r>
            <a:endParaRPr b="0" i="0" sz="1300" u="none" cap="none" strike="noStrike">
              <a:solidFill>
                <a:schemeClr val="dk1"/>
              </a:solidFill>
              <a:latin typeface="Calibri"/>
              <a:ea typeface="Calibri"/>
              <a:cs typeface="Calibri"/>
              <a:sym typeface="Calibri"/>
            </a:endParaRPr>
          </a:p>
        </p:txBody>
      </p:sp>
      <p:sp>
        <p:nvSpPr>
          <p:cNvPr id="1375" name="Google Shape;1375;g386fa9f7404_4_848"/>
          <p:cNvSpPr/>
          <p:nvPr/>
        </p:nvSpPr>
        <p:spPr>
          <a:xfrm>
            <a:off x="1658112" y="3389376"/>
            <a:ext cx="1755648"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FileSystem</a:t>
            </a:r>
            <a:endParaRPr b="0" i="0" sz="1300" u="none" cap="none" strike="noStrike">
              <a:solidFill>
                <a:schemeClr val="dk1"/>
              </a:solidFill>
              <a:latin typeface="Calibri"/>
              <a:ea typeface="Calibri"/>
              <a:cs typeface="Calibri"/>
              <a:sym typeface="Calibri"/>
            </a:endParaRPr>
          </a:p>
        </p:txBody>
      </p:sp>
      <p:sp>
        <p:nvSpPr>
          <p:cNvPr id="1376" name="Google Shape;1376;g386fa9f7404_4_848"/>
          <p:cNvSpPr/>
          <p:nvPr/>
        </p:nvSpPr>
        <p:spPr>
          <a:xfrm>
            <a:off x="3694176" y="3389376"/>
            <a:ext cx="221894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file_write_executable</a:t>
            </a:r>
            <a:endParaRPr b="0" i="0" sz="1300" u="none" cap="none" strike="noStrike">
              <a:solidFill>
                <a:schemeClr val="dk1"/>
              </a:solidFill>
              <a:latin typeface="Calibri"/>
              <a:ea typeface="Calibri"/>
              <a:cs typeface="Calibri"/>
              <a:sym typeface="Calibri"/>
            </a:endParaRPr>
          </a:p>
        </p:txBody>
      </p:sp>
      <p:sp>
        <p:nvSpPr>
          <p:cNvPr id="1377" name="Google Shape;1377;g386fa9f7404_4_848"/>
          <p:cNvSpPr/>
          <p:nvPr/>
        </p:nvSpPr>
        <p:spPr>
          <a:xfrm>
            <a:off x="6193536" y="3389376"/>
            <a:ext cx="429158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Write to /tmp/.hidden_malware.py</a:t>
            </a:r>
            <a:endParaRPr b="0" i="0" sz="1300" u="none" cap="none" strike="noStrike">
              <a:solidFill>
                <a:schemeClr val="dk1"/>
              </a:solidFill>
              <a:latin typeface="Calibri"/>
              <a:ea typeface="Calibri"/>
              <a:cs typeface="Calibri"/>
              <a:sym typeface="Calibri"/>
            </a:endParaRPr>
          </a:p>
        </p:txBody>
      </p:sp>
      <p:sp>
        <p:nvSpPr>
          <p:cNvPr id="1378" name="Google Shape;1378;g386fa9f7404_4_848"/>
          <p:cNvSpPr/>
          <p:nvPr/>
        </p:nvSpPr>
        <p:spPr>
          <a:xfrm>
            <a:off x="10765536" y="3389376"/>
            <a:ext cx="877824" cy="573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600"/>
              <a:buFont typeface="Calibri"/>
              <a:buNone/>
            </a:pPr>
            <a:r>
              <a:rPr b="1" i="0" lang="en-US" sz="1600" u="none" cap="none" strike="noStrike">
                <a:solidFill>
                  <a:srgbClr val="2471A3"/>
                </a:solidFill>
                <a:latin typeface="Calibri"/>
                <a:ea typeface="Calibri"/>
                <a:cs typeface="Calibri"/>
                <a:sym typeface="Calibri"/>
              </a:rPr>
              <a:t>+30</a:t>
            </a:r>
            <a:endParaRPr b="0" i="0" sz="1600" u="none" cap="none" strike="noStrike">
              <a:solidFill>
                <a:schemeClr val="dk1"/>
              </a:solidFill>
              <a:latin typeface="Calibri"/>
              <a:ea typeface="Calibri"/>
              <a:cs typeface="Calibri"/>
              <a:sym typeface="Calibri"/>
            </a:endParaRPr>
          </a:p>
        </p:txBody>
      </p:sp>
      <p:sp>
        <p:nvSpPr>
          <p:cNvPr id="1379" name="Google Shape;1379;g386fa9f7404_4_848"/>
          <p:cNvSpPr/>
          <p:nvPr/>
        </p:nvSpPr>
        <p:spPr>
          <a:xfrm>
            <a:off x="487680" y="4023360"/>
            <a:ext cx="11216640" cy="512064"/>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g386fa9f7404_4_848"/>
          <p:cNvSpPr/>
          <p:nvPr/>
        </p:nvSpPr>
        <p:spPr>
          <a:xfrm>
            <a:off x="670560" y="4023360"/>
            <a:ext cx="609600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500"/>
              <a:buFont typeface="Calibri"/>
              <a:buNone/>
            </a:pPr>
            <a:r>
              <a:rPr b="0" i="0" lang="en-US" sz="1500" u="none" cap="none" strike="noStrike">
                <a:solidFill>
                  <a:srgbClr val="717D7E"/>
                </a:solidFill>
                <a:latin typeface="Calibri"/>
                <a:ea typeface="Calibri"/>
                <a:cs typeface="Calibri"/>
                <a:sym typeface="Calibri"/>
              </a:rPr>
              <a:t>Behavior score after execution:</a:t>
            </a:r>
            <a:endParaRPr b="0" i="0" sz="1500" u="none" cap="none" strike="noStrike">
              <a:solidFill>
                <a:schemeClr val="dk1"/>
              </a:solidFill>
              <a:latin typeface="Calibri"/>
              <a:ea typeface="Calibri"/>
              <a:cs typeface="Calibri"/>
              <a:sym typeface="Calibri"/>
            </a:endParaRPr>
          </a:p>
        </p:txBody>
      </p:sp>
      <p:sp>
        <p:nvSpPr>
          <p:cNvPr id="1381" name="Google Shape;1381;g386fa9f7404_4_848"/>
          <p:cNvSpPr/>
          <p:nvPr/>
        </p:nvSpPr>
        <p:spPr>
          <a:xfrm>
            <a:off x="6827520" y="4023360"/>
            <a:ext cx="3413760" cy="51206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25 + 25 + 30 = 55</a:t>
            </a:r>
            <a:endParaRPr b="0" i="0" sz="1600" u="none" cap="none" strike="noStrike">
              <a:solidFill>
                <a:schemeClr val="dk1"/>
              </a:solidFill>
              <a:latin typeface="Calibri"/>
              <a:ea typeface="Calibri"/>
              <a:cs typeface="Calibri"/>
              <a:sym typeface="Calibri"/>
            </a:endParaRPr>
          </a:p>
        </p:txBody>
      </p:sp>
      <p:sp>
        <p:nvSpPr>
          <p:cNvPr id="1382" name="Google Shape;1382;g386fa9f7404_4_848"/>
          <p:cNvSpPr/>
          <p:nvPr/>
        </p:nvSpPr>
        <p:spPr>
          <a:xfrm>
            <a:off x="10363200" y="4023360"/>
            <a:ext cx="128016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6F1E"/>
              </a:buClr>
              <a:buSzPts val="1400"/>
              <a:buFont typeface="Calibri"/>
              <a:buNone/>
            </a:pPr>
            <a:r>
              <a:rPr b="1" i="0" lang="en-US" sz="1400" u="none" cap="none" strike="noStrike">
                <a:solidFill>
                  <a:srgbClr val="CA6F1E"/>
                </a:solidFill>
                <a:latin typeface="Calibri"/>
                <a:ea typeface="Calibri"/>
                <a:cs typeface="Calibri"/>
                <a:sym typeface="Calibri"/>
              </a:rPr>
              <a:t>→ SUSPICIOUS</a:t>
            </a:r>
            <a:endParaRPr b="0" i="0" sz="1400" u="none" cap="none" strike="noStrike">
              <a:solidFill>
                <a:schemeClr val="dk1"/>
              </a:solidFill>
              <a:latin typeface="Calibri"/>
              <a:ea typeface="Calibri"/>
              <a:cs typeface="Calibri"/>
              <a:sym typeface="Calibri"/>
            </a:endParaRPr>
          </a:p>
        </p:txBody>
      </p:sp>
      <p:sp>
        <p:nvSpPr>
          <p:cNvPr id="1383" name="Google Shape;1383;g386fa9f7404_4_848"/>
          <p:cNvSpPr/>
          <p:nvPr/>
        </p:nvSpPr>
        <p:spPr>
          <a:xfrm>
            <a:off x="487680" y="4657344"/>
            <a:ext cx="11216640" cy="877824"/>
          </a:xfrm>
          <a:prstGeom prst="rect">
            <a:avLst/>
          </a:prstGeom>
          <a:solidFill>
            <a:srgbClr val="142840"/>
          </a:solidFill>
          <a:ln cap="flat" cmpd="sng" w="12700">
            <a:solidFill>
              <a:srgbClr val="2471A3"/>
            </a:solidFill>
            <a:prstDash val="solid"/>
            <a:round/>
            <a:headEnd len="sm" w="sm" type="none"/>
            <a:tailEnd len="sm" w="sm" type="none"/>
          </a:ln>
          <a:effectLst>
            <a:outerShdw blurRad="101600" rotWithShape="0" algn="bl" dir="8100000" dist="38100">
              <a:srgbClr val="000000">
                <a:alpha val="14117"/>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g386fa9f7404_4_848"/>
          <p:cNvSpPr/>
          <p:nvPr/>
        </p:nvSpPr>
        <p:spPr>
          <a:xfrm>
            <a:off x="707136" y="4718304"/>
            <a:ext cx="280416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D6F1"/>
              </a:buClr>
              <a:buSzPts val="1500"/>
              <a:buFont typeface="Calibri"/>
              <a:buNone/>
            </a:pPr>
            <a:r>
              <a:rPr b="1" i="0" lang="en-US" sz="1500" u="none" cap="none" strike="noStrike">
                <a:solidFill>
                  <a:srgbClr val="AED6F1"/>
                </a:solidFill>
                <a:latin typeface="Calibri"/>
                <a:ea typeface="Calibri"/>
                <a:cs typeface="Calibri"/>
                <a:sym typeface="Calibri"/>
              </a:rPr>
              <a:t>→ Stage 6 IOC check:</a:t>
            </a:r>
            <a:endParaRPr b="0" i="0" sz="1500" u="none" cap="none" strike="noStrike">
              <a:solidFill>
                <a:schemeClr val="dk1"/>
              </a:solidFill>
              <a:latin typeface="Calibri"/>
              <a:ea typeface="Calibri"/>
              <a:cs typeface="Calibri"/>
              <a:sym typeface="Calibri"/>
            </a:endParaRPr>
          </a:p>
        </p:txBody>
      </p:sp>
      <p:sp>
        <p:nvSpPr>
          <p:cNvPr id="1385" name="Google Shape;1385;g386fa9f7404_4_848"/>
          <p:cNvSpPr/>
          <p:nvPr/>
        </p:nvSpPr>
        <p:spPr>
          <a:xfrm>
            <a:off x="3657600" y="4718304"/>
            <a:ext cx="682752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203.0.113.42 matched in IOC database  →  +20 bonus</a:t>
            </a:r>
            <a:endParaRPr b="0" i="0" sz="1500" u="none" cap="none" strike="noStrike">
              <a:solidFill>
                <a:schemeClr val="dk1"/>
              </a:solidFill>
              <a:latin typeface="Calibri"/>
              <a:ea typeface="Calibri"/>
              <a:cs typeface="Calibri"/>
              <a:sym typeface="Calibri"/>
            </a:endParaRPr>
          </a:p>
        </p:txBody>
      </p:sp>
      <p:sp>
        <p:nvSpPr>
          <p:cNvPr id="1386" name="Google Shape;1386;g386fa9f7404_4_848"/>
          <p:cNvSpPr/>
          <p:nvPr/>
        </p:nvSpPr>
        <p:spPr>
          <a:xfrm>
            <a:off x="707136" y="5084064"/>
            <a:ext cx="2682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Final: 55 + 20 =</a:t>
            </a:r>
            <a:endParaRPr b="0" i="0" sz="1500" u="none" cap="none" strike="noStrike">
              <a:solidFill>
                <a:schemeClr val="dk1"/>
              </a:solidFill>
              <a:latin typeface="Calibri"/>
              <a:ea typeface="Calibri"/>
              <a:cs typeface="Calibri"/>
              <a:sym typeface="Calibri"/>
            </a:endParaRPr>
          </a:p>
        </p:txBody>
      </p:sp>
      <p:sp>
        <p:nvSpPr>
          <p:cNvPr id="1387" name="Google Shape;1387;g386fa9f7404_4_848"/>
          <p:cNvSpPr/>
          <p:nvPr/>
        </p:nvSpPr>
        <p:spPr>
          <a:xfrm>
            <a:off x="3474720" y="4998720"/>
            <a:ext cx="829056" cy="487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2700"/>
              <a:buFont typeface="Calibri"/>
              <a:buNone/>
            </a:pPr>
            <a:r>
              <a:rPr b="1" i="0" lang="en-US" sz="2700" u="none" cap="none" strike="noStrike">
                <a:solidFill>
                  <a:srgbClr val="AED6F1"/>
                </a:solidFill>
                <a:latin typeface="Calibri"/>
                <a:ea typeface="Calibri"/>
                <a:cs typeface="Calibri"/>
                <a:sym typeface="Calibri"/>
              </a:rPr>
              <a:t>75</a:t>
            </a:r>
            <a:endParaRPr b="0" i="0" sz="2700" u="none" cap="none" strike="noStrike">
              <a:solidFill>
                <a:schemeClr val="dk1"/>
              </a:solidFill>
              <a:latin typeface="Calibri"/>
              <a:ea typeface="Calibri"/>
              <a:cs typeface="Calibri"/>
              <a:sym typeface="Calibri"/>
            </a:endParaRPr>
          </a:p>
        </p:txBody>
      </p:sp>
      <p:sp>
        <p:nvSpPr>
          <p:cNvPr id="1388" name="Google Shape;1388;g386fa9f7404_4_848"/>
          <p:cNvSpPr/>
          <p:nvPr/>
        </p:nvSpPr>
        <p:spPr>
          <a:xfrm>
            <a:off x="4450080" y="5084064"/>
            <a:ext cx="70713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500"/>
              <a:buFont typeface="Calibri"/>
              <a:buNone/>
            </a:pPr>
            <a:r>
              <a:rPr b="1" i="0" lang="en-US" sz="1500" u="none" cap="none" strike="noStrike">
                <a:solidFill>
                  <a:srgbClr val="C0392B"/>
                </a:solidFill>
                <a:latin typeface="Calibri"/>
                <a:ea typeface="Calibri"/>
                <a:cs typeface="Calibri"/>
                <a:sym typeface="Calibri"/>
              </a:rPr>
              <a:t>→  MALICIOUS  →  Blocked. SOC alerted.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2" name="Shape 1392"/>
        <p:cNvGrpSpPr/>
        <p:nvPr/>
      </p:nvGrpSpPr>
      <p:grpSpPr>
        <a:xfrm>
          <a:off x="0" y="0"/>
          <a:ext cx="0" cy="0"/>
          <a:chOff x="0" y="0"/>
          <a:chExt cx="0" cy="0"/>
        </a:xfrm>
      </p:grpSpPr>
      <p:sp>
        <p:nvSpPr>
          <p:cNvPr id="1393" name="Google Shape;1393;g386fa9f7404_4_905"/>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g386fa9f7404_4_905"/>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5 — Risk Scoring: Event Weights</a:t>
            </a:r>
            <a:endParaRPr b="0" i="0" sz="2700" u="none" cap="none" strike="noStrike">
              <a:solidFill>
                <a:schemeClr val="dk1"/>
              </a:solidFill>
              <a:latin typeface="Calibri"/>
              <a:ea typeface="Calibri"/>
              <a:cs typeface="Calibri"/>
              <a:sym typeface="Calibri"/>
            </a:endParaRPr>
          </a:p>
        </p:txBody>
      </p:sp>
      <p:sp>
        <p:nvSpPr>
          <p:cNvPr id="1395" name="Google Shape;1395;g386fa9f7404_4_905"/>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7 — BEHAVIOR_WEIGHTS</a:t>
            </a:r>
            <a:endParaRPr b="0" i="0" sz="1100" u="none" cap="none" strike="noStrike">
              <a:solidFill>
                <a:schemeClr val="dk1"/>
              </a:solidFill>
              <a:latin typeface="Calibri"/>
              <a:ea typeface="Calibri"/>
              <a:cs typeface="Calibri"/>
              <a:sym typeface="Calibri"/>
            </a:endParaRPr>
          </a:p>
        </p:txBody>
      </p:sp>
      <p:sp>
        <p:nvSpPr>
          <p:cNvPr id="1396" name="Google Shape;1396;g386fa9f7404_4_905"/>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Each behavioral event category has a pre-defined weight. Weights are calibrated by threat severity.</a:t>
            </a:r>
            <a:endParaRPr b="0" i="0" sz="1700" u="none" cap="none" strike="noStrike">
              <a:solidFill>
                <a:schemeClr val="dk1"/>
              </a:solidFill>
              <a:latin typeface="Calibri"/>
              <a:ea typeface="Calibri"/>
              <a:cs typeface="Calibri"/>
              <a:sym typeface="Calibri"/>
            </a:endParaRPr>
          </a:p>
        </p:txBody>
      </p:sp>
      <p:sp>
        <p:nvSpPr>
          <p:cNvPr id="1397" name="Google Shape;1397;g386fa9f7404_4_905"/>
          <p:cNvSpPr/>
          <p:nvPr/>
        </p:nvSpPr>
        <p:spPr>
          <a:xfrm>
            <a:off x="487680" y="1645920"/>
            <a:ext cx="2706624"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g386fa9f7404_4_905"/>
          <p:cNvSpPr/>
          <p:nvPr/>
        </p:nvSpPr>
        <p:spPr>
          <a:xfrm>
            <a:off x="609600" y="1645920"/>
            <a:ext cx="2462784"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Event Category</a:t>
            </a:r>
            <a:endParaRPr b="0" i="0" sz="1500" u="none" cap="none" strike="noStrike">
              <a:solidFill>
                <a:schemeClr val="dk1"/>
              </a:solidFill>
              <a:latin typeface="Calibri"/>
              <a:ea typeface="Calibri"/>
              <a:cs typeface="Calibri"/>
              <a:sym typeface="Calibri"/>
            </a:endParaRPr>
          </a:p>
        </p:txBody>
      </p:sp>
      <p:sp>
        <p:nvSpPr>
          <p:cNvPr id="1399" name="Google Shape;1399;g386fa9f7404_4_905"/>
          <p:cNvSpPr/>
          <p:nvPr/>
        </p:nvSpPr>
        <p:spPr>
          <a:xfrm>
            <a:off x="3267456" y="1645920"/>
            <a:ext cx="1682496"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g386fa9f7404_4_905"/>
          <p:cNvSpPr/>
          <p:nvPr/>
        </p:nvSpPr>
        <p:spPr>
          <a:xfrm>
            <a:off x="3389376" y="1645920"/>
            <a:ext cx="14386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Weight</a:t>
            </a:r>
            <a:endParaRPr b="0" i="0" sz="1500" u="none" cap="none" strike="noStrike">
              <a:solidFill>
                <a:schemeClr val="dk1"/>
              </a:solidFill>
              <a:latin typeface="Calibri"/>
              <a:ea typeface="Calibri"/>
              <a:cs typeface="Calibri"/>
              <a:sym typeface="Calibri"/>
            </a:endParaRPr>
          </a:p>
        </p:txBody>
      </p:sp>
      <p:sp>
        <p:nvSpPr>
          <p:cNvPr id="1401" name="Google Shape;1401;g386fa9f7404_4_905"/>
          <p:cNvSpPr/>
          <p:nvPr/>
        </p:nvSpPr>
        <p:spPr>
          <a:xfrm>
            <a:off x="5023104" y="1645920"/>
            <a:ext cx="6437376"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g386fa9f7404_4_905"/>
          <p:cNvSpPr/>
          <p:nvPr/>
        </p:nvSpPr>
        <p:spPr>
          <a:xfrm>
            <a:off x="5145024" y="1645920"/>
            <a:ext cx="619353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Why this weight</a:t>
            </a:r>
            <a:endParaRPr b="0" i="0" sz="1500" u="none" cap="none" strike="noStrike">
              <a:solidFill>
                <a:schemeClr val="dk1"/>
              </a:solidFill>
              <a:latin typeface="Calibri"/>
              <a:ea typeface="Calibri"/>
              <a:cs typeface="Calibri"/>
              <a:sym typeface="Calibri"/>
            </a:endParaRPr>
          </a:p>
        </p:txBody>
      </p:sp>
      <p:sp>
        <p:nvSpPr>
          <p:cNvPr id="1403" name="Google Shape;1403;g386fa9f7404_4_905"/>
          <p:cNvSpPr/>
          <p:nvPr/>
        </p:nvSpPr>
        <p:spPr>
          <a:xfrm>
            <a:off x="487680" y="2145792"/>
            <a:ext cx="2706624"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g386fa9f7404_4_905"/>
          <p:cNvSpPr/>
          <p:nvPr/>
        </p:nvSpPr>
        <p:spPr>
          <a:xfrm>
            <a:off x="3267456" y="2145792"/>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g386fa9f7404_4_905"/>
          <p:cNvSpPr/>
          <p:nvPr/>
        </p:nvSpPr>
        <p:spPr>
          <a:xfrm>
            <a:off x="5023104" y="2145792"/>
            <a:ext cx="6437376"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g386fa9f7404_4_905"/>
          <p:cNvSpPr/>
          <p:nvPr/>
        </p:nvSpPr>
        <p:spPr>
          <a:xfrm>
            <a:off x="609600" y="2145792"/>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self_replication</a:t>
            </a:r>
            <a:endParaRPr b="0" i="0" sz="1200" u="none" cap="none" strike="noStrike">
              <a:solidFill>
                <a:schemeClr val="dk1"/>
              </a:solidFill>
              <a:latin typeface="Calibri"/>
              <a:ea typeface="Calibri"/>
              <a:cs typeface="Calibri"/>
              <a:sym typeface="Calibri"/>
            </a:endParaRPr>
          </a:p>
        </p:txBody>
      </p:sp>
      <p:sp>
        <p:nvSpPr>
          <p:cNvPr id="1407" name="Google Shape;1407;g386fa9f7404_4_905"/>
          <p:cNvSpPr/>
          <p:nvPr/>
        </p:nvSpPr>
        <p:spPr>
          <a:xfrm>
            <a:off x="3364992" y="2218944"/>
            <a:ext cx="134112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g386fa9f7404_4_905"/>
          <p:cNvSpPr/>
          <p:nvPr/>
        </p:nvSpPr>
        <p:spPr>
          <a:xfrm>
            <a:off x="4608576" y="2145792"/>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+40</a:t>
            </a:r>
            <a:endParaRPr b="0" i="0" sz="1200" u="none" cap="none" strike="noStrike">
              <a:solidFill>
                <a:schemeClr val="dk1"/>
              </a:solidFill>
              <a:latin typeface="Calibri"/>
              <a:ea typeface="Calibri"/>
              <a:cs typeface="Calibri"/>
              <a:sym typeface="Calibri"/>
            </a:endParaRPr>
          </a:p>
        </p:txBody>
      </p:sp>
      <p:sp>
        <p:nvSpPr>
          <p:cNvPr id="1409" name="Google Shape;1409;g386fa9f7404_4_905"/>
          <p:cNvSpPr/>
          <p:nvPr/>
        </p:nvSpPr>
        <p:spPr>
          <a:xfrm>
            <a:off x="5145024" y="2145792"/>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Copying to startup = persistence. Almost never legitimate.</a:t>
            </a:r>
            <a:endParaRPr b="0" i="0" sz="1200" u="none" cap="none" strike="noStrike">
              <a:solidFill>
                <a:schemeClr val="dk1"/>
              </a:solidFill>
              <a:latin typeface="Calibri"/>
              <a:ea typeface="Calibri"/>
              <a:cs typeface="Calibri"/>
              <a:sym typeface="Calibri"/>
            </a:endParaRPr>
          </a:p>
        </p:txBody>
      </p:sp>
      <p:sp>
        <p:nvSpPr>
          <p:cNvPr id="1410" name="Google Shape;1410;g386fa9f7404_4_905"/>
          <p:cNvSpPr/>
          <p:nvPr/>
        </p:nvSpPr>
        <p:spPr>
          <a:xfrm>
            <a:off x="487680" y="2487168"/>
            <a:ext cx="2706624"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g386fa9f7404_4_905"/>
          <p:cNvSpPr/>
          <p:nvPr/>
        </p:nvSpPr>
        <p:spPr>
          <a:xfrm>
            <a:off x="3267456" y="2487168"/>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g386fa9f7404_4_905"/>
          <p:cNvSpPr/>
          <p:nvPr/>
        </p:nvSpPr>
        <p:spPr>
          <a:xfrm>
            <a:off x="5023104" y="2487168"/>
            <a:ext cx="6437376"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g386fa9f7404_4_905"/>
          <p:cNvSpPr/>
          <p:nvPr/>
        </p:nvSpPr>
        <p:spPr>
          <a:xfrm>
            <a:off x="609600" y="2487168"/>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privilege_escalation</a:t>
            </a:r>
            <a:endParaRPr b="0" i="0" sz="1200" u="none" cap="none" strike="noStrike">
              <a:solidFill>
                <a:schemeClr val="dk1"/>
              </a:solidFill>
              <a:latin typeface="Calibri"/>
              <a:ea typeface="Calibri"/>
              <a:cs typeface="Calibri"/>
              <a:sym typeface="Calibri"/>
            </a:endParaRPr>
          </a:p>
        </p:txBody>
      </p:sp>
      <p:sp>
        <p:nvSpPr>
          <p:cNvPr id="1414" name="Google Shape;1414;g386fa9f7404_4_905"/>
          <p:cNvSpPr/>
          <p:nvPr/>
        </p:nvSpPr>
        <p:spPr>
          <a:xfrm>
            <a:off x="3364992" y="2560320"/>
            <a:ext cx="117348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g386fa9f7404_4_905"/>
          <p:cNvSpPr/>
          <p:nvPr/>
        </p:nvSpPr>
        <p:spPr>
          <a:xfrm>
            <a:off x="4608576" y="2487168"/>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+35</a:t>
            </a:r>
            <a:endParaRPr b="0" i="0" sz="1200" u="none" cap="none" strike="noStrike">
              <a:solidFill>
                <a:schemeClr val="dk1"/>
              </a:solidFill>
              <a:latin typeface="Calibri"/>
              <a:ea typeface="Calibri"/>
              <a:cs typeface="Calibri"/>
              <a:sym typeface="Calibri"/>
            </a:endParaRPr>
          </a:p>
        </p:txBody>
      </p:sp>
      <p:sp>
        <p:nvSpPr>
          <p:cNvPr id="1416" name="Google Shape;1416;g386fa9f7404_4_905"/>
          <p:cNvSpPr/>
          <p:nvPr/>
        </p:nvSpPr>
        <p:spPr>
          <a:xfrm>
            <a:off x="5145024" y="2487168"/>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Trying to become root = attack.</a:t>
            </a:r>
            <a:endParaRPr b="0" i="0" sz="1200" u="none" cap="none" strike="noStrike">
              <a:solidFill>
                <a:schemeClr val="dk1"/>
              </a:solidFill>
              <a:latin typeface="Calibri"/>
              <a:ea typeface="Calibri"/>
              <a:cs typeface="Calibri"/>
              <a:sym typeface="Calibri"/>
            </a:endParaRPr>
          </a:p>
        </p:txBody>
      </p:sp>
      <p:sp>
        <p:nvSpPr>
          <p:cNvPr id="1417" name="Google Shape;1417;g386fa9f7404_4_905"/>
          <p:cNvSpPr/>
          <p:nvPr/>
        </p:nvSpPr>
        <p:spPr>
          <a:xfrm>
            <a:off x="487680" y="2828544"/>
            <a:ext cx="2706624"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g386fa9f7404_4_905"/>
          <p:cNvSpPr/>
          <p:nvPr/>
        </p:nvSpPr>
        <p:spPr>
          <a:xfrm>
            <a:off x="3267456" y="2828544"/>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g386fa9f7404_4_905"/>
          <p:cNvSpPr/>
          <p:nvPr/>
        </p:nvSpPr>
        <p:spPr>
          <a:xfrm>
            <a:off x="5023104" y="2828544"/>
            <a:ext cx="6437376"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g386fa9f7404_4_905"/>
          <p:cNvSpPr/>
          <p:nvPr/>
        </p:nvSpPr>
        <p:spPr>
          <a:xfrm>
            <a:off x="609600" y="2828544"/>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memory_inject</a:t>
            </a:r>
            <a:endParaRPr b="0" i="0" sz="1200" u="none" cap="none" strike="noStrike">
              <a:solidFill>
                <a:schemeClr val="dk1"/>
              </a:solidFill>
              <a:latin typeface="Calibri"/>
              <a:ea typeface="Calibri"/>
              <a:cs typeface="Calibri"/>
              <a:sym typeface="Calibri"/>
            </a:endParaRPr>
          </a:p>
        </p:txBody>
      </p:sp>
      <p:sp>
        <p:nvSpPr>
          <p:cNvPr id="1421" name="Google Shape;1421;g386fa9f7404_4_905"/>
          <p:cNvSpPr/>
          <p:nvPr/>
        </p:nvSpPr>
        <p:spPr>
          <a:xfrm>
            <a:off x="3364992" y="2901696"/>
            <a:ext cx="117348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g386fa9f7404_4_905"/>
          <p:cNvSpPr/>
          <p:nvPr/>
        </p:nvSpPr>
        <p:spPr>
          <a:xfrm>
            <a:off x="4608576" y="2828544"/>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+35</a:t>
            </a:r>
            <a:endParaRPr b="0" i="0" sz="1200" u="none" cap="none" strike="noStrike">
              <a:solidFill>
                <a:schemeClr val="dk1"/>
              </a:solidFill>
              <a:latin typeface="Calibri"/>
              <a:ea typeface="Calibri"/>
              <a:cs typeface="Calibri"/>
              <a:sym typeface="Calibri"/>
            </a:endParaRPr>
          </a:p>
        </p:txBody>
      </p:sp>
      <p:sp>
        <p:nvSpPr>
          <p:cNvPr id="1423" name="Google Shape;1423;g386fa9f7404_4_905"/>
          <p:cNvSpPr/>
          <p:nvPr/>
        </p:nvSpPr>
        <p:spPr>
          <a:xfrm>
            <a:off x="5145024" y="2828544"/>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Injecting into another process = shellcode / RAT.</a:t>
            </a:r>
            <a:endParaRPr b="0" i="0" sz="1200" u="none" cap="none" strike="noStrike">
              <a:solidFill>
                <a:schemeClr val="dk1"/>
              </a:solidFill>
              <a:latin typeface="Calibri"/>
              <a:ea typeface="Calibri"/>
              <a:cs typeface="Calibri"/>
              <a:sym typeface="Calibri"/>
            </a:endParaRPr>
          </a:p>
        </p:txBody>
      </p:sp>
      <p:sp>
        <p:nvSpPr>
          <p:cNvPr id="1424" name="Google Shape;1424;g386fa9f7404_4_905"/>
          <p:cNvSpPr/>
          <p:nvPr/>
        </p:nvSpPr>
        <p:spPr>
          <a:xfrm>
            <a:off x="487680" y="3169920"/>
            <a:ext cx="2706624"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g386fa9f7404_4_905"/>
          <p:cNvSpPr/>
          <p:nvPr/>
        </p:nvSpPr>
        <p:spPr>
          <a:xfrm>
            <a:off x="3267456" y="3169920"/>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g386fa9f7404_4_905"/>
          <p:cNvSpPr/>
          <p:nvPr/>
        </p:nvSpPr>
        <p:spPr>
          <a:xfrm>
            <a:off x="5023104" y="3169920"/>
            <a:ext cx="6437376"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g386fa9f7404_4_905"/>
          <p:cNvSpPr/>
          <p:nvPr/>
        </p:nvSpPr>
        <p:spPr>
          <a:xfrm>
            <a:off x="609600" y="3169920"/>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file_write_executable</a:t>
            </a:r>
            <a:endParaRPr b="0" i="0" sz="1200" u="none" cap="none" strike="noStrike">
              <a:solidFill>
                <a:schemeClr val="dk1"/>
              </a:solidFill>
              <a:latin typeface="Calibri"/>
              <a:ea typeface="Calibri"/>
              <a:cs typeface="Calibri"/>
              <a:sym typeface="Calibri"/>
            </a:endParaRPr>
          </a:p>
        </p:txBody>
      </p:sp>
      <p:sp>
        <p:nvSpPr>
          <p:cNvPr id="1428" name="Google Shape;1428;g386fa9f7404_4_905"/>
          <p:cNvSpPr/>
          <p:nvPr/>
        </p:nvSpPr>
        <p:spPr>
          <a:xfrm>
            <a:off x="3364992" y="3243072"/>
            <a:ext cx="100584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g386fa9f7404_4_905"/>
          <p:cNvSpPr/>
          <p:nvPr/>
        </p:nvSpPr>
        <p:spPr>
          <a:xfrm>
            <a:off x="4608576" y="3169920"/>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+30</a:t>
            </a:r>
            <a:endParaRPr b="0" i="0" sz="1200" u="none" cap="none" strike="noStrike">
              <a:solidFill>
                <a:schemeClr val="dk1"/>
              </a:solidFill>
              <a:latin typeface="Calibri"/>
              <a:ea typeface="Calibri"/>
              <a:cs typeface="Calibri"/>
              <a:sym typeface="Calibri"/>
            </a:endParaRPr>
          </a:p>
        </p:txBody>
      </p:sp>
      <p:sp>
        <p:nvSpPr>
          <p:cNvPr id="1430" name="Google Shape;1430;g386fa9f7404_4_905"/>
          <p:cNvSpPr/>
          <p:nvPr/>
        </p:nvSpPr>
        <p:spPr>
          <a:xfrm>
            <a:off x="5145024" y="3169920"/>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Writing a new binary = dropper behaviour.</a:t>
            </a:r>
            <a:endParaRPr b="0" i="0" sz="1200" u="none" cap="none" strike="noStrike">
              <a:solidFill>
                <a:schemeClr val="dk1"/>
              </a:solidFill>
              <a:latin typeface="Calibri"/>
              <a:ea typeface="Calibri"/>
              <a:cs typeface="Calibri"/>
              <a:sym typeface="Calibri"/>
            </a:endParaRPr>
          </a:p>
        </p:txBody>
      </p:sp>
      <p:sp>
        <p:nvSpPr>
          <p:cNvPr id="1431" name="Google Shape;1431;g386fa9f7404_4_905"/>
          <p:cNvSpPr/>
          <p:nvPr/>
        </p:nvSpPr>
        <p:spPr>
          <a:xfrm>
            <a:off x="487680" y="3511296"/>
            <a:ext cx="2706624"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g386fa9f7404_4_905"/>
          <p:cNvSpPr/>
          <p:nvPr/>
        </p:nvSpPr>
        <p:spPr>
          <a:xfrm>
            <a:off x="3267456" y="3511296"/>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g386fa9f7404_4_905"/>
          <p:cNvSpPr/>
          <p:nvPr/>
        </p:nvSpPr>
        <p:spPr>
          <a:xfrm>
            <a:off x="5023104" y="3511296"/>
            <a:ext cx="6437376"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g386fa9f7404_4_905"/>
          <p:cNvSpPr/>
          <p:nvPr/>
        </p:nvSpPr>
        <p:spPr>
          <a:xfrm>
            <a:off x="609600" y="3511296"/>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api_hooking</a:t>
            </a:r>
            <a:endParaRPr b="0" i="0" sz="1200" u="none" cap="none" strike="noStrike">
              <a:solidFill>
                <a:schemeClr val="dk1"/>
              </a:solidFill>
              <a:latin typeface="Calibri"/>
              <a:ea typeface="Calibri"/>
              <a:cs typeface="Calibri"/>
              <a:sym typeface="Calibri"/>
            </a:endParaRPr>
          </a:p>
        </p:txBody>
      </p:sp>
      <p:sp>
        <p:nvSpPr>
          <p:cNvPr id="1435" name="Google Shape;1435;g386fa9f7404_4_905"/>
          <p:cNvSpPr/>
          <p:nvPr/>
        </p:nvSpPr>
        <p:spPr>
          <a:xfrm>
            <a:off x="3364992" y="3584448"/>
            <a:ext cx="100584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g386fa9f7404_4_905"/>
          <p:cNvSpPr/>
          <p:nvPr/>
        </p:nvSpPr>
        <p:spPr>
          <a:xfrm>
            <a:off x="4608576" y="3511296"/>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+30</a:t>
            </a:r>
            <a:endParaRPr b="0" i="0" sz="1200" u="none" cap="none" strike="noStrike">
              <a:solidFill>
                <a:schemeClr val="dk1"/>
              </a:solidFill>
              <a:latin typeface="Calibri"/>
              <a:ea typeface="Calibri"/>
              <a:cs typeface="Calibri"/>
              <a:sym typeface="Calibri"/>
            </a:endParaRPr>
          </a:p>
        </p:txBody>
      </p:sp>
      <p:sp>
        <p:nvSpPr>
          <p:cNvPr id="1437" name="Google Shape;1437;g386fa9f7404_4_905"/>
          <p:cNvSpPr/>
          <p:nvPr/>
        </p:nvSpPr>
        <p:spPr>
          <a:xfrm>
            <a:off x="5145024" y="3511296"/>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Hooking system calls = rootkit behaviour.</a:t>
            </a:r>
            <a:endParaRPr b="0" i="0" sz="1200" u="none" cap="none" strike="noStrike">
              <a:solidFill>
                <a:schemeClr val="dk1"/>
              </a:solidFill>
              <a:latin typeface="Calibri"/>
              <a:ea typeface="Calibri"/>
              <a:cs typeface="Calibri"/>
              <a:sym typeface="Calibri"/>
            </a:endParaRPr>
          </a:p>
        </p:txBody>
      </p:sp>
      <p:sp>
        <p:nvSpPr>
          <p:cNvPr id="1438" name="Google Shape;1438;g386fa9f7404_4_905"/>
          <p:cNvSpPr/>
          <p:nvPr/>
        </p:nvSpPr>
        <p:spPr>
          <a:xfrm>
            <a:off x="487680" y="3852672"/>
            <a:ext cx="2706624"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g386fa9f7404_4_905"/>
          <p:cNvSpPr/>
          <p:nvPr/>
        </p:nvSpPr>
        <p:spPr>
          <a:xfrm>
            <a:off x="3267456" y="3852672"/>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g386fa9f7404_4_905"/>
          <p:cNvSpPr/>
          <p:nvPr/>
        </p:nvSpPr>
        <p:spPr>
          <a:xfrm>
            <a:off x="5023104" y="3852672"/>
            <a:ext cx="6437376"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g386fa9f7404_4_905"/>
          <p:cNvSpPr/>
          <p:nvPr/>
        </p:nvSpPr>
        <p:spPr>
          <a:xfrm>
            <a:off x="609600" y="3852672"/>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network_connect</a:t>
            </a:r>
            <a:endParaRPr b="0" i="0" sz="1200" u="none" cap="none" strike="noStrike">
              <a:solidFill>
                <a:schemeClr val="dk1"/>
              </a:solidFill>
              <a:latin typeface="Calibri"/>
              <a:ea typeface="Calibri"/>
              <a:cs typeface="Calibri"/>
              <a:sym typeface="Calibri"/>
            </a:endParaRPr>
          </a:p>
        </p:txBody>
      </p:sp>
      <p:sp>
        <p:nvSpPr>
          <p:cNvPr id="1442" name="Google Shape;1442;g386fa9f7404_4_905"/>
          <p:cNvSpPr/>
          <p:nvPr/>
        </p:nvSpPr>
        <p:spPr>
          <a:xfrm>
            <a:off x="3364992" y="3925824"/>
            <a:ext cx="83820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g386fa9f7404_4_905"/>
          <p:cNvSpPr/>
          <p:nvPr/>
        </p:nvSpPr>
        <p:spPr>
          <a:xfrm>
            <a:off x="4608576" y="3852672"/>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+25</a:t>
            </a:r>
            <a:endParaRPr b="0" i="0" sz="1200" u="none" cap="none" strike="noStrike">
              <a:solidFill>
                <a:schemeClr val="dk1"/>
              </a:solidFill>
              <a:latin typeface="Calibri"/>
              <a:ea typeface="Calibri"/>
              <a:cs typeface="Calibri"/>
              <a:sym typeface="Calibri"/>
            </a:endParaRPr>
          </a:p>
        </p:txBody>
      </p:sp>
      <p:sp>
        <p:nvSpPr>
          <p:cNvPr id="1444" name="Google Shape;1444;g386fa9f7404_4_905"/>
          <p:cNvSpPr/>
          <p:nvPr/>
        </p:nvSpPr>
        <p:spPr>
          <a:xfrm>
            <a:off x="5145024" y="3852672"/>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Calling home = C2 callback or exfiltration.</a:t>
            </a:r>
            <a:endParaRPr b="0" i="0" sz="1200" u="none" cap="none" strike="noStrike">
              <a:solidFill>
                <a:schemeClr val="dk1"/>
              </a:solidFill>
              <a:latin typeface="Calibri"/>
              <a:ea typeface="Calibri"/>
              <a:cs typeface="Calibri"/>
              <a:sym typeface="Calibri"/>
            </a:endParaRPr>
          </a:p>
        </p:txBody>
      </p:sp>
      <p:sp>
        <p:nvSpPr>
          <p:cNvPr id="1445" name="Google Shape;1445;g386fa9f7404_4_905"/>
          <p:cNvSpPr/>
          <p:nvPr/>
        </p:nvSpPr>
        <p:spPr>
          <a:xfrm>
            <a:off x="487680" y="4194048"/>
            <a:ext cx="2706624"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g386fa9f7404_4_905"/>
          <p:cNvSpPr/>
          <p:nvPr/>
        </p:nvSpPr>
        <p:spPr>
          <a:xfrm>
            <a:off x="3267456" y="4194048"/>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g386fa9f7404_4_905"/>
          <p:cNvSpPr/>
          <p:nvPr/>
        </p:nvSpPr>
        <p:spPr>
          <a:xfrm>
            <a:off x="5023104" y="4194048"/>
            <a:ext cx="6437376"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g386fa9f7404_4_905"/>
          <p:cNvSpPr/>
          <p:nvPr/>
        </p:nvSpPr>
        <p:spPr>
          <a:xfrm>
            <a:off x="609600" y="4194048"/>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shell_command</a:t>
            </a:r>
            <a:endParaRPr b="0" i="0" sz="1200" u="none" cap="none" strike="noStrike">
              <a:solidFill>
                <a:schemeClr val="dk1"/>
              </a:solidFill>
              <a:latin typeface="Calibri"/>
              <a:ea typeface="Calibri"/>
              <a:cs typeface="Calibri"/>
              <a:sym typeface="Calibri"/>
            </a:endParaRPr>
          </a:p>
        </p:txBody>
      </p:sp>
      <p:sp>
        <p:nvSpPr>
          <p:cNvPr id="1449" name="Google Shape;1449;g386fa9f7404_4_905"/>
          <p:cNvSpPr/>
          <p:nvPr/>
        </p:nvSpPr>
        <p:spPr>
          <a:xfrm>
            <a:off x="3364992" y="4267200"/>
            <a:ext cx="83820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g386fa9f7404_4_905"/>
          <p:cNvSpPr/>
          <p:nvPr/>
        </p:nvSpPr>
        <p:spPr>
          <a:xfrm>
            <a:off x="4608576" y="4194048"/>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+25</a:t>
            </a:r>
            <a:endParaRPr b="0" i="0" sz="1200" u="none" cap="none" strike="noStrike">
              <a:solidFill>
                <a:schemeClr val="dk1"/>
              </a:solidFill>
              <a:latin typeface="Calibri"/>
              <a:ea typeface="Calibri"/>
              <a:cs typeface="Calibri"/>
              <a:sym typeface="Calibri"/>
            </a:endParaRPr>
          </a:p>
        </p:txBody>
      </p:sp>
      <p:sp>
        <p:nvSpPr>
          <p:cNvPr id="1451" name="Google Shape;1451;g386fa9f7404_4_905"/>
          <p:cNvSpPr/>
          <p:nvPr/>
        </p:nvSpPr>
        <p:spPr>
          <a:xfrm>
            <a:off x="5145024" y="4194048"/>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Spawning bash/sh from a data file = reverse shell.</a:t>
            </a:r>
            <a:endParaRPr b="0" i="0" sz="1200" u="none" cap="none" strike="noStrike">
              <a:solidFill>
                <a:schemeClr val="dk1"/>
              </a:solidFill>
              <a:latin typeface="Calibri"/>
              <a:ea typeface="Calibri"/>
              <a:cs typeface="Calibri"/>
              <a:sym typeface="Calibri"/>
            </a:endParaRPr>
          </a:p>
        </p:txBody>
      </p:sp>
      <p:sp>
        <p:nvSpPr>
          <p:cNvPr id="1452" name="Google Shape;1452;g386fa9f7404_4_905"/>
          <p:cNvSpPr/>
          <p:nvPr/>
        </p:nvSpPr>
        <p:spPr>
          <a:xfrm>
            <a:off x="487680" y="4535424"/>
            <a:ext cx="2706624"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g386fa9f7404_4_905"/>
          <p:cNvSpPr/>
          <p:nvPr/>
        </p:nvSpPr>
        <p:spPr>
          <a:xfrm>
            <a:off x="3267456" y="4535424"/>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g386fa9f7404_4_905"/>
          <p:cNvSpPr/>
          <p:nvPr/>
        </p:nvSpPr>
        <p:spPr>
          <a:xfrm>
            <a:off x="5023104" y="4535424"/>
            <a:ext cx="6437376"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g386fa9f7404_4_905"/>
          <p:cNvSpPr/>
          <p:nvPr/>
        </p:nvSpPr>
        <p:spPr>
          <a:xfrm>
            <a:off x="609600" y="4535424"/>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registry_write</a:t>
            </a:r>
            <a:endParaRPr b="0" i="0" sz="1200" u="none" cap="none" strike="noStrike">
              <a:solidFill>
                <a:schemeClr val="dk1"/>
              </a:solidFill>
              <a:latin typeface="Calibri"/>
              <a:ea typeface="Calibri"/>
              <a:cs typeface="Calibri"/>
              <a:sym typeface="Calibri"/>
            </a:endParaRPr>
          </a:p>
        </p:txBody>
      </p:sp>
      <p:sp>
        <p:nvSpPr>
          <p:cNvPr id="1456" name="Google Shape;1456;g386fa9f7404_4_905"/>
          <p:cNvSpPr/>
          <p:nvPr/>
        </p:nvSpPr>
        <p:spPr>
          <a:xfrm>
            <a:off x="3364992" y="4608576"/>
            <a:ext cx="67056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g386fa9f7404_4_905"/>
          <p:cNvSpPr/>
          <p:nvPr/>
        </p:nvSpPr>
        <p:spPr>
          <a:xfrm>
            <a:off x="4608576" y="4535424"/>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+20</a:t>
            </a:r>
            <a:endParaRPr b="0" i="0" sz="1200" u="none" cap="none" strike="noStrike">
              <a:solidFill>
                <a:schemeClr val="dk1"/>
              </a:solidFill>
              <a:latin typeface="Calibri"/>
              <a:ea typeface="Calibri"/>
              <a:cs typeface="Calibri"/>
              <a:sym typeface="Calibri"/>
            </a:endParaRPr>
          </a:p>
        </p:txBody>
      </p:sp>
      <p:sp>
        <p:nvSpPr>
          <p:cNvPr id="1458" name="Google Shape;1458;g386fa9f7404_4_905"/>
          <p:cNvSpPr/>
          <p:nvPr/>
        </p:nvSpPr>
        <p:spPr>
          <a:xfrm>
            <a:off x="5145024" y="4535424"/>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Windows persistence (flagged for review on Linux).</a:t>
            </a:r>
            <a:endParaRPr b="0" i="0" sz="1200" u="none" cap="none" strike="noStrike">
              <a:solidFill>
                <a:schemeClr val="dk1"/>
              </a:solidFill>
              <a:latin typeface="Calibri"/>
              <a:ea typeface="Calibri"/>
              <a:cs typeface="Calibri"/>
              <a:sym typeface="Calibri"/>
            </a:endParaRPr>
          </a:p>
        </p:txBody>
      </p:sp>
      <p:sp>
        <p:nvSpPr>
          <p:cNvPr id="1459" name="Google Shape;1459;g386fa9f7404_4_905"/>
          <p:cNvSpPr/>
          <p:nvPr/>
        </p:nvSpPr>
        <p:spPr>
          <a:xfrm>
            <a:off x="487680" y="4876800"/>
            <a:ext cx="2706624"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g386fa9f7404_4_905"/>
          <p:cNvSpPr/>
          <p:nvPr/>
        </p:nvSpPr>
        <p:spPr>
          <a:xfrm>
            <a:off x="3267456" y="4876800"/>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g386fa9f7404_4_905"/>
          <p:cNvSpPr/>
          <p:nvPr/>
        </p:nvSpPr>
        <p:spPr>
          <a:xfrm>
            <a:off x="5023104" y="4876800"/>
            <a:ext cx="6437376"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g386fa9f7404_4_905"/>
          <p:cNvSpPr/>
          <p:nvPr/>
        </p:nvSpPr>
        <p:spPr>
          <a:xfrm>
            <a:off x="609600" y="4876800"/>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dns_lookup</a:t>
            </a:r>
            <a:endParaRPr b="0" i="0" sz="1200" u="none" cap="none" strike="noStrike">
              <a:solidFill>
                <a:schemeClr val="dk1"/>
              </a:solidFill>
              <a:latin typeface="Calibri"/>
              <a:ea typeface="Calibri"/>
              <a:cs typeface="Calibri"/>
              <a:sym typeface="Calibri"/>
            </a:endParaRPr>
          </a:p>
        </p:txBody>
      </p:sp>
      <p:sp>
        <p:nvSpPr>
          <p:cNvPr id="1463" name="Google Shape;1463;g386fa9f7404_4_905"/>
          <p:cNvSpPr/>
          <p:nvPr/>
        </p:nvSpPr>
        <p:spPr>
          <a:xfrm>
            <a:off x="3364992" y="4949952"/>
            <a:ext cx="50292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g386fa9f7404_4_905"/>
          <p:cNvSpPr/>
          <p:nvPr/>
        </p:nvSpPr>
        <p:spPr>
          <a:xfrm>
            <a:off x="4608576" y="4876800"/>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+15</a:t>
            </a:r>
            <a:endParaRPr b="0" i="0" sz="1200" u="none" cap="none" strike="noStrike">
              <a:solidFill>
                <a:schemeClr val="dk1"/>
              </a:solidFill>
              <a:latin typeface="Calibri"/>
              <a:ea typeface="Calibri"/>
              <a:cs typeface="Calibri"/>
              <a:sym typeface="Calibri"/>
            </a:endParaRPr>
          </a:p>
        </p:txBody>
      </p:sp>
      <p:sp>
        <p:nvSpPr>
          <p:cNvPr id="1465" name="Google Shape;1465;g386fa9f7404_4_905"/>
          <p:cNvSpPr/>
          <p:nvPr/>
        </p:nvSpPr>
        <p:spPr>
          <a:xfrm>
            <a:off x="5145024" y="4876800"/>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Resolving unknown domain = possible C2 lookup.</a:t>
            </a:r>
            <a:endParaRPr b="0" i="0" sz="1200" u="none" cap="none" strike="noStrike">
              <a:solidFill>
                <a:schemeClr val="dk1"/>
              </a:solidFill>
              <a:latin typeface="Calibri"/>
              <a:ea typeface="Calibri"/>
              <a:cs typeface="Calibri"/>
              <a:sym typeface="Calibri"/>
            </a:endParaRPr>
          </a:p>
        </p:txBody>
      </p:sp>
      <p:sp>
        <p:nvSpPr>
          <p:cNvPr id="1466" name="Google Shape;1466;g386fa9f7404_4_905"/>
          <p:cNvSpPr/>
          <p:nvPr/>
        </p:nvSpPr>
        <p:spPr>
          <a:xfrm>
            <a:off x="487680" y="5218176"/>
            <a:ext cx="2706624"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g386fa9f7404_4_905"/>
          <p:cNvSpPr/>
          <p:nvPr/>
        </p:nvSpPr>
        <p:spPr>
          <a:xfrm>
            <a:off x="3267456" y="5218176"/>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g386fa9f7404_4_905"/>
          <p:cNvSpPr/>
          <p:nvPr/>
        </p:nvSpPr>
        <p:spPr>
          <a:xfrm>
            <a:off x="5023104" y="5218176"/>
            <a:ext cx="6437376"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g386fa9f7404_4_905"/>
          <p:cNvSpPr/>
          <p:nvPr/>
        </p:nvSpPr>
        <p:spPr>
          <a:xfrm>
            <a:off x="609600" y="5218176"/>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high_entropy_write</a:t>
            </a:r>
            <a:endParaRPr b="0" i="0" sz="1200" u="none" cap="none" strike="noStrike">
              <a:solidFill>
                <a:schemeClr val="dk1"/>
              </a:solidFill>
              <a:latin typeface="Calibri"/>
              <a:ea typeface="Calibri"/>
              <a:cs typeface="Calibri"/>
              <a:sym typeface="Calibri"/>
            </a:endParaRPr>
          </a:p>
        </p:txBody>
      </p:sp>
      <p:sp>
        <p:nvSpPr>
          <p:cNvPr id="1470" name="Google Shape;1470;g386fa9f7404_4_905"/>
          <p:cNvSpPr/>
          <p:nvPr/>
        </p:nvSpPr>
        <p:spPr>
          <a:xfrm>
            <a:off x="3364992" y="5291328"/>
            <a:ext cx="50292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g386fa9f7404_4_905"/>
          <p:cNvSpPr/>
          <p:nvPr/>
        </p:nvSpPr>
        <p:spPr>
          <a:xfrm>
            <a:off x="4608576" y="5218176"/>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+15</a:t>
            </a:r>
            <a:endParaRPr b="0" i="0" sz="1200" u="none" cap="none" strike="noStrike">
              <a:solidFill>
                <a:schemeClr val="dk1"/>
              </a:solidFill>
              <a:latin typeface="Calibri"/>
              <a:ea typeface="Calibri"/>
              <a:cs typeface="Calibri"/>
              <a:sym typeface="Calibri"/>
            </a:endParaRPr>
          </a:p>
        </p:txBody>
      </p:sp>
      <p:sp>
        <p:nvSpPr>
          <p:cNvPr id="1472" name="Google Shape;1472;g386fa9f7404_4_905"/>
          <p:cNvSpPr/>
          <p:nvPr/>
        </p:nvSpPr>
        <p:spPr>
          <a:xfrm>
            <a:off x="5145024" y="5218176"/>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Writing encrypted/packed data = payload staging.</a:t>
            </a:r>
            <a:endParaRPr b="0" i="0" sz="1200" u="none" cap="none" strike="noStrike">
              <a:solidFill>
                <a:schemeClr val="dk1"/>
              </a:solidFill>
              <a:latin typeface="Calibri"/>
              <a:ea typeface="Calibri"/>
              <a:cs typeface="Calibri"/>
              <a:sym typeface="Calibri"/>
            </a:endParaRPr>
          </a:p>
        </p:txBody>
      </p:sp>
      <p:sp>
        <p:nvSpPr>
          <p:cNvPr id="1473" name="Google Shape;1473;g386fa9f7404_4_905"/>
          <p:cNvSpPr/>
          <p:nvPr/>
        </p:nvSpPr>
        <p:spPr>
          <a:xfrm>
            <a:off x="487680" y="5559552"/>
            <a:ext cx="2706624"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g386fa9f7404_4_905"/>
          <p:cNvSpPr/>
          <p:nvPr/>
        </p:nvSpPr>
        <p:spPr>
          <a:xfrm>
            <a:off x="3267456" y="5559552"/>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g386fa9f7404_4_905"/>
          <p:cNvSpPr/>
          <p:nvPr/>
        </p:nvSpPr>
        <p:spPr>
          <a:xfrm>
            <a:off x="5023104" y="5559552"/>
            <a:ext cx="6437376"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g386fa9f7404_4_905"/>
          <p:cNvSpPr/>
          <p:nvPr/>
        </p:nvSpPr>
        <p:spPr>
          <a:xfrm>
            <a:off x="609600" y="5559552"/>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file_delete</a:t>
            </a:r>
            <a:endParaRPr b="0" i="0" sz="1200" u="none" cap="none" strike="noStrike">
              <a:solidFill>
                <a:schemeClr val="dk1"/>
              </a:solidFill>
              <a:latin typeface="Calibri"/>
              <a:ea typeface="Calibri"/>
              <a:cs typeface="Calibri"/>
              <a:sym typeface="Calibri"/>
            </a:endParaRPr>
          </a:p>
        </p:txBody>
      </p:sp>
      <p:sp>
        <p:nvSpPr>
          <p:cNvPr id="1477" name="Google Shape;1477;g386fa9f7404_4_905"/>
          <p:cNvSpPr/>
          <p:nvPr/>
        </p:nvSpPr>
        <p:spPr>
          <a:xfrm>
            <a:off x="3364992" y="5632704"/>
            <a:ext cx="33528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g386fa9f7404_4_905"/>
          <p:cNvSpPr/>
          <p:nvPr/>
        </p:nvSpPr>
        <p:spPr>
          <a:xfrm>
            <a:off x="4608576" y="5559552"/>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+10</a:t>
            </a:r>
            <a:endParaRPr b="0" i="0" sz="1200" u="none" cap="none" strike="noStrike">
              <a:solidFill>
                <a:schemeClr val="dk1"/>
              </a:solidFill>
              <a:latin typeface="Calibri"/>
              <a:ea typeface="Calibri"/>
              <a:cs typeface="Calibri"/>
              <a:sym typeface="Calibri"/>
            </a:endParaRPr>
          </a:p>
        </p:txBody>
      </p:sp>
      <p:sp>
        <p:nvSpPr>
          <p:cNvPr id="1479" name="Google Shape;1479;g386fa9f7404_4_905"/>
          <p:cNvSpPr/>
          <p:nvPr/>
        </p:nvSpPr>
        <p:spPr>
          <a:xfrm>
            <a:off x="5145024" y="5559552"/>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Deleting evidence of execution.</a:t>
            </a:r>
            <a:endParaRPr b="0" i="0" sz="1200" u="none" cap="none" strike="noStrike">
              <a:solidFill>
                <a:schemeClr val="dk1"/>
              </a:solidFill>
              <a:latin typeface="Calibri"/>
              <a:ea typeface="Calibri"/>
              <a:cs typeface="Calibri"/>
              <a:sym typeface="Calibri"/>
            </a:endParaRPr>
          </a:p>
        </p:txBody>
      </p:sp>
      <p:sp>
        <p:nvSpPr>
          <p:cNvPr id="1480" name="Google Shape;1480;g386fa9f7404_4_905"/>
          <p:cNvSpPr/>
          <p:nvPr/>
        </p:nvSpPr>
        <p:spPr>
          <a:xfrm>
            <a:off x="487680" y="5900928"/>
            <a:ext cx="2706624"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g386fa9f7404_4_905"/>
          <p:cNvSpPr/>
          <p:nvPr/>
        </p:nvSpPr>
        <p:spPr>
          <a:xfrm>
            <a:off x="3267456" y="5900928"/>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g386fa9f7404_4_905"/>
          <p:cNvSpPr/>
          <p:nvPr/>
        </p:nvSpPr>
        <p:spPr>
          <a:xfrm>
            <a:off x="5023104" y="5900928"/>
            <a:ext cx="6437376" cy="316992"/>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g386fa9f7404_4_905"/>
          <p:cNvSpPr/>
          <p:nvPr/>
        </p:nvSpPr>
        <p:spPr>
          <a:xfrm>
            <a:off x="609600" y="5900928"/>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process_spawn</a:t>
            </a:r>
            <a:endParaRPr b="0" i="0" sz="1200" u="none" cap="none" strike="noStrike">
              <a:solidFill>
                <a:schemeClr val="dk1"/>
              </a:solidFill>
              <a:latin typeface="Calibri"/>
              <a:ea typeface="Calibri"/>
              <a:cs typeface="Calibri"/>
              <a:sym typeface="Calibri"/>
            </a:endParaRPr>
          </a:p>
        </p:txBody>
      </p:sp>
      <p:sp>
        <p:nvSpPr>
          <p:cNvPr id="1484" name="Google Shape;1484;g386fa9f7404_4_905"/>
          <p:cNvSpPr/>
          <p:nvPr/>
        </p:nvSpPr>
        <p:spPr>
          <a:xfrm>
            <a:off x="3364992" y="5974080"/>
            <a:ext cx="33528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g386fa9f7404_4_905"/>
          <p:cNvSpPr/>
          <p:nvPr/>
        </p:nvSpPr>
        <p:spPr>
          <a:xfrm>
            <a:off x="4608576" y="5900928"/>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+10</a:t>
            </a:r>
            <a:endParaRPr b="0" i="0" sz="1200" u="none" cap="none" strike="noStrike">
              <a:solidFill>
                <a:schemeClr val="dk1"/>
              </a:solidFill>
              <a:latin typeface="Calibri"/>
              <a:ea typeface="Calibri"/>
              <a:cs typeface="Calibri"/>
              <a:sym typeface="Calibri"/>
            </a:endParaRPr>
          </a:p>
        </p:txBody>
      </p:sp>
      <p:sp>
        <p:nvSpPr>
          <p:cNvPr id="1486" name="Google Shape;1486;g386fa9f7404_4_905"/>
          <p:cNvSpPr/>
          <p:nvPr/>
        </p:nvSpPr>
        <p:spPr>
          <a:xfrm>
            <a:off x="5145024" y="5900928"/>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Suspicious but could have innocent explanation.</a:t>
            </a:r>
            <a:endParaRPr b="0" i="0" sz="1200" u="none" cap="none" strike="noStrike">
              <a:solidFill>
                <a:schemeClr val="dk1"/>
              </a:solidFill>
              <a:latin typeface="Calibri"/>
              <a:ea typeface="Calibri"/>
              <a:cs typeface="Calibri"/>
              <a:sym typeface="Calibri"/>
            </a:endParaRPr>
          </a:p>
        </p:txBody>
      </p:sp>
      <p:sp>
        <p:nvSpPr>
          <p:cNvPr id="1487" name="Google Shape;1487;g386fa9f7404_4_905"/>
          <p:cNvSpPr/>
          <p:nvPr/>
        </p:nvSpPr>
        <p:spPr>
          <a:xfrm>
            <a:off x="487680" y="6242304"/>
            <a:ext cx="2706624"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g386fa9f7404_4_905"/>
          <p:cNvSpPr/>
          <p:nvPr/>
        </p:nvSpPr>
        <p:spPr>
          <a:xfrm>
            <a:off x="3267456" y="6242304"/>
            <a:ext cx="1682496" cy="316992"/>
          </a:xfrm>
          <a:prstGeom prst="rect">
            <a:avLst/>
          </a:prstGeom>
          <a:solidFill>
            <a:srgbClr val="D6EAF8"/>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g386fa9f7404_4_905"/>
          <p:cNvSpPr/>
          <p:nvPr/>
        </p:nvSpPr>
        <p:spPr>
          <a:xfrm>
            <a:off x="5023104" y="6242304"/>
            <a:ext cx="6437376"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g386fa9f7404_4_905"/>
          <p:cNvSpPr/>
          <p:nvPr/>
        </p:nvSpPr>
        <p:spPr>
          <a:xfrm>
            <a:off x="609600" y="6242304"/>
            <a:ext cx="2462784"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file_system_write</a:t>
            </a:r>
            <a:endParaRPr b="0" i="0" sz="1200" u="none" cap="none" strike="noStrike">
              <a:solidFill>
                <a:schemeClr val="dk1"/>
              </a:solidFill>
              <a:latin typeface="Calibri"/>
              <a:ea typeface="Calibri"/>
              <a:cs typeface="Calibri"/>
              <a:sym typeface="Calibri"/>
            </a:endParaRPr>
          </a:p>
        </p:txBody>
      </p:sp>
      <p:sp>
        <p:nvSpPr>
          <p:cNvPr id="1491" name="Google Shape;1491;g386fa9f7404_4_905"/>
          <p:cNvSpPr/>
          <p:nvPr/>
        </p:nvSpPr>
        <p:spPr>
          <a:xfrm>
            <a:off x="3364992" y="6315456"/>
            <a:ext cx="167640" cy="170688"/>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g386fa9f7404_4_905"/>
          <p:cNvSpPr/>
          <p:nvPr/>
        </p:nvSpPr>
        <p:spPr>
          <a:xfrm>
            <a:off x="4608576" y="6242304"/>
            <a:ext cx="341376" cy="31699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471A3"/>
              </a:buClr>
              <a:buSzPts val="1200"/>
              <a:buFont typeface="Calibri"/>
              <a:buNone/>
            </a:pPr>
            <a:r>
              <a:rPr b="1" i="0" lang="en-US" sz="1200" u="none" cap="none" strike="noStrike">
                <a:solidFill>
                  <a:srgbClr val="2471A3"/>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1493" name="Google Shape;1493;g386fa9f7404_4_905"/>
          <p:cNvSpPr/>
          <p:nvPr/>
        </p:nvSpPr>
        <p:spPr>
          <a:xfrm>
            <a:off x="5145024" y="6242304"/>
            <a:ext cx="619353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Low weight — writing files alone is not unusual.</a:t>
            </a:r>
            <a:endParaRPr b="0" i="0" sz="1200" u="none" cap="none" strike="noStrike">
              <a:solidFill>
                <a:schemeClr val="dk1"/>
              </a:solidFill>
              <a:latin typeface="Calibri"/>
              <a:ea typeface="Calibri"/>
              <a:cs typeface="Calibri"/>
              <a:sym typeface="Calibri"/>
            </a:endParaRPr>
          </a:p>
        </p:txBody>
      </p:sp>
      <p:sp>
        <p:nvSpPr>
          <p:cNvPr id="1494" name="Google Shape;1494;g386fa9f7404_4_905"/>
          <p:cNvSpPr/>
          <p:nvPr/>
        </p:nvSpPr>
        <p:spPr>
          <a:xfrm>
            <a:off x="487680" y="5974080"/>
            <a:ext cx="11216640"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g386fa9f7404_4_905"/>
          <p:cNvSpPr/>
          <p:nvPr/>
        </p:nvSpPr>
        <p:spPr>
          <a:xfrm>
            <a:off x="585216" y="5974080"/>
            <a:ext cx="109728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 Scoring approach validated by: Cuckoo Sandbox (cuckoo.readthedocs.io) | Chen &amp; Bridges (2017) WannaCry behavioral analysis — arxiv.org/abs/1709.08753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499" name="Shape 1499"/>
        <p:cNvGrpSpPr/>
        <p:nvPr/>
      </p:nvGrpSpPr>
      <p:grpSpPr>
        <a:xfrm>
          <a:off x="0" y="0"/>
          <a:ext cx="0" cy="0"/>
          <a:chOff x="0" y="0"/>
          <a:chExt cx="0" cy="0"/>
        </a:xfrm>
      </p:grpSpPr>
      <p:sp>
        <p:nvSpPr>
          <p:cNvPr id="1500" name="Google Shape;1500;g386fa9f7404_4_1011"/>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g386fa9f7404_4_1011"/>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6 — IOC Correlation</a:t>
            </a:r>
            <a:endParaRPr b="0" i="0" sz="2700" u="none" cap="none" strike="noStrike">
              <a:solidFill>
                <a:schemeClr val="dk1"/>
              </a:solidFill>
              <a:latin typeface="Calibri"/>
              <a:ea typeface="Calibri"/>
              <a:cs typeface="Calibri"/>
              <a:sym typeface="Calibri"/>
            </a:endParaRPr>
          </a:p>
        </p:txBody>
      </p:sp>
      <p:sp>
        <p:nvSpPr>
          <p:cNvPr id="1502" name="Google Shape;1502;g386fa9f7404_4_1011"/>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8</a:t>
            </a:r>
            <a:endParaRPr b="0" i="0" sz="1100" u="none" cap="none" strike="noStrike">
              <a:solidFill>
                <a:schemeClr val="dk1"/>
              </a:solidFill>
              <a:latin typeface="Calibri"/>
              <a:ea typeface="Calibri"/>
              <a:cs typeface="Calibri"/>
              <a:sym typeface="Calibri"/>
            </a:endParaRPr>
          </a:p>
        </p:txBody>
      </p:sp>
      <p:sp>
        <p:nvSpPr>
          <p:cNvPr id="1503" name="Google Shape;1503;g386fa9f7404_4_1011"/>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After scoring behavior, we check three types of indicators against a known-malicious database.</a:t>
            </a:r>
            <a:endParaRPr b="0" i="0" sz="1700" u="none" cap="none" strike="noStrike">
              <a:solidFill>
                <a:schemeClr val="dk1"/>
              </a:solidFill>
              <a:latin typeface="Calibri"/>
              <a:ea typeface="Calibri"/>
              <a:cs typeface="Calibri"/>
              <a:sym typeface="Calibri"/>
            </a:endParaRPr>
          </a:p>
        </p:txBody>
      </p:sp>
      <p:sp>
        <p:nvSpPr>
          <p:cNvPr id="1504" name="Google Shape;1504;g386fa9f7404_4_1011"/>
          <p:cNvSpPr/>
          <p:nvPr/>
        </p:nvSpPr>
        <p:spPr>
          <a:xfrm>
            <a:off x="487680" y="1645920"/>
            <a:ext cx="11216640" cy="1097280"/>
          </a:xfrm>
          <a:prstGeom prst="rect">
            <a:avLst/>
          </a:prstGeom>
          <a:solidFill>
            <a:srgbClr val="FFFFFF"/>
          </a:solidFill>
          <a:ln cap="flat" cmpd="sng" w="1905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g386fa9f7404_4_1011"/>
          <p:cNvSpPr/>
          <p:nvPr/>
        </p:nvSpPr>
        <p:spPr>
          <a:xfrm>
            <a:off x="487680" y="1645920"/>
            <a:ext cx="121920" cy="109728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g386fa9f7404_4_1011"/>
          <p:cNvSpPr/>
          <p:nvPr/>
        </p:nvSpPr>
        <p:spPr>
          <a:xfrm>
            <a:off x="792480" y="1731264"/>
            <a:ext cx="304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File Hash (SHA256)</a:t>
            </a:r>
            <a:endParaRPr b="0" i="0" sz="1600" u="none" cap="none" strike="noStrike">
              <a:solidFill>
                <a:schemeClr val="dk1"/>
              </a:solidFill>
              <a:latin typeface="Calibri"/>
              <a:ea typeface="Calibri"/>
              <a:cs typeface="Calibri"/>
              <a:sym typeface="Calibri"/>
            </a:endParaRPr>
          </a:p>
        </p:txBody>
      </p:sp>
      <p:sp>
        <p:nvSpPr>
          <p:cNvPr id="1507" name="Google Shape;1507;g386fa9f7404_4_1011"/>
          <p:cNvSpPr/>
          <p:nvPr/>
        </p:nvSpPr>
        <p:spPr>
          <a:xfrm>
            <a:off x="792480" y="2157984"/>
            <a:ext cx="6339840" cy="487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A fingerprint of the entire file. If this exact file is known malware, we catch it instantly at Stage 6 regardless of behavior score.</a:t>
            </a:r>
            <a:endParaRPr b="0" i="0" sz="1400" u="none" cap="none" strike="noStrike">
              <a:solidFill>
                <a:schemeClr val="dk1"/>
              </a:solidFill>
              <a:latin typeface="Calibri"/>
              <a:ea typeface="Calibri"/>
              <a:cs typeface="Calibri"/>
              <a:sym typeface="Calibri"/>
            </a:endParaRPr>
          </a:p>
        </p:txBody>
      </p:sp>
      <p:sp>
        <p:nvSpPr>
          <p:cNvPr id="1508" name="Google Shape;1508;g386fa9f7404_4_1011"/>
          <p:cNvSpPr/>
          <p:nvPr/>
        </p:nvSpPr>
        <p:spPr>
          <a:xfrm>
            <a:off x="7437120" y="1743456"/>
            <a:ext cx="4084320" cy="90220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g386fa9f7404_4_1011"/>
          <p:cNvSpPr/>
          <p:nvPr/>
        </p:nvSpPr>
        <p:spPr>
          <a:xfrm>
            <a:off x="7559040" y="1743456"/>
            <a:ext cx="3877056" cy="487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e.g. Hash of malware.py → checked against known malware hash DB</a:t>
            </a:r>
            <a:endParaRPr b="0" i="0" sz="1300" u="none" cap="none" strike="noStrike">
              <a:solidFill>
                <a:schemeClr val="dk1"/>
              </a:solidFill>
              <a:latin typeface="Calibri"/>
              <a:ea typeface="Calibri"/>
              <a:cs typeface="Calibri"/>
              <a:sym typeface="Calibri"/>
            </a:endParaRPr>
          </a:p>
        </p:txBody>
      </p:sp>
      <p:sp>
        <p:nvSpPr>
          <p:cNvPr id="1510" name="Google Shape;1510;g386fa9f7404_4_1011"/>
          <p:cNvSpPr/>
          <p:nvPr/>
        </p:nvSpPr>
        <p:spPr>
          <a:xfrm>
            <a:off x="7559040" y="2255520"/>
            <a:ext cx="387705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Source: VirusTotal, MISP, internal DB</a:t>
            </a:r>
            <a:endParaRPr b="0" i="0" sz="1200" u="none" cap="none" strike="noStrike">
              <a:solidFill>
                <a:schemeClr val="dk1"/>
              </a:solidFill>
              <a:latin typeface="Calibri"/>
              <a:ea typeface="Calibri"/>
              <a:cs typeface="Calibri"/>
              <a:sym typeface="Calibri"/>
            </a:endParaRPr>
          </a:p>
        </p:txBody>
      </p:sp>
      <p:sp>
        <p:nvSpPr>
          <p:cNvPr id="1511" name="Google Shape;1511;g386fa9f7404_4_1011"/>
          <p:cNvSpPr/>
          <p:nvPr/>
        </p:nvSpPr>
        <p:spPr>
          <a:xfrm>
            <a:off x="487680" y="2865120"/>
            <a:ext cx="11216640" cy="1097280"/>
          </a:xfrm>
          <a:prstGeom prst="rect">
            <a:avLst/>
          </a:prstGeom>
          <a:solidFill>
            <a:srgbClr val="FFFFFF"/>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g386fa9f7404_4_1011"/>
          <p:cNvSpPr/>
          <p:nvPr/>
        </p:nvSpPr>
        <p:spPr>
          <a:xfrm>
            <a:off x="487680" y="2865120"/>
            <a:ext cx="121920" cy="109728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g386fa9f7404_4_1011"/>
          <p:cNvSpPr/>
          <p:nvPr/>
        </p:nvSpPr>
        <p:spPr>
          <a:xfrm>
            <a:off x="792480" y="2950464"/>
            <a:ext cx="304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IP Addresses</a:t>
            </a:r>
            <a:endParaRPr b="0" i="0" sz="1600" u="none" cap="none" strike="noStrike">
              <a:solidFill>
                <a:schemeClr val="dk1"/>
              </a:solidFill>
              <a:latin typeface="Calibri"/>
              <a:ea typeface="Calibri"/>
              <a:cs typeface="Calibri"/>
              <a:sym typeface="Calibri"/>
            </a:endParaRPr>
          </a:p>
        </p:txBody>
      </p:sp>
      <p:sp>
        <p:nvSpPr>
          <p:cNvPr id="1514" name="Google Shape;1514;g386fa9f7404_4_1011"/>
          <p:cNvSpPr/>
          <p:nvPr/>
        </p:nvSpPr>
        <p:spPr>
          <a:xfrm>
            <a:off x="792480" y="3377184"/>
            <a:ext cx="6339840" cy="487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Any IP the process attempted to connect to during execution. Cross-referenced against known C2 server lists.</a:t>
            </a:r>
            <a:endParaRPr b="0" i="0" sz="1400" u="none" cap="none" strike="noStrike">
              <a:solidFill>
                <a:schemeClr val="dk1"/>
              </a:solidFill>
              <a:latin typeface="Calibri"/>
              <a:ea typeface="Calibri"/>
              <a:cs typeface="Calibri"/>
              <a:sym typeface="Calibri"/>
            </a:endParaRPr>
          </a:p>
        </p:txBody>
      </p:sp>
      <p:sp>
        <p:nvSpPr>
          <p:cNvPr id="1515" name="Google Shape;1515;g386fa9f7404_4_1011"/>
          <p:cNvSpPr/>
          <p:nvPr/>
        </p:nvSpPr>
        <p:spPr>
          <a:xfrm>
            <a:off x="7437120" y="2962656"/>
            <a:ext cx="4084320" cy="90220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g386fa9f7404_4_1011"/>
          <p:cNvSpPr/>
          <p:nvPr/>
        </p:nvSpPr>
        <p:spPr>
          <a:xfrm>
            <a:off x="7559040" y="2962656"/>
            <a:ext cx="3877056" cy="487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e.g. 203.0.113.42 → matched as known C2 server → +20 points</a:t>
            </a:r>
            <a:endParaRPr b="0" i="0" sz="1300" u="none" cap="none" strike="noStrike">
              <a:solidFill>
                <a:schemeClr val="dk1"/>
              </a:solidFill>
              <a:latin typeface="Calibri"/>
              <a:ea typeface="Calibri"/>
              <a:cs typeface="Calibri"/>
              <a:sym typeface="Calibri"/>
            </a:endParaRPr>
          </a:p>
        </p:txBody>
      </p:sp>
      <p:sp>
        <p:nvSpPr>
          <p:cNvPr id="1517" name="Google Shape;1517;g386fa9f7404_4_1011"/>
          <p:cNvSpPr/>
          <p:nvPr/>
        </p:nvSpPr>
        <p:spPr>
          <a:xfrm>
            <a:off x="7559040" y="3474720"/>
            <a:ext cx="387705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Source: AlienVault OTX, threat intel feeds</a:t>
            </a:r>
            <a:endParaRPr b="0" i="0" sz="1200" u="none" cap="none" strike="noStrike">
              <a:solidFill>
                <a:schemeClr val="dk1"/>
              </a:solidFill>
              <a:latin typeface="Calibri"/>
              <a:ea typeface="Calibri"/>
              <a:cs typeface="Calibri"/>
              <a:sym typeface="Calibri"/>
            </a:endParaRPr>
          </a:p>
        </p:txBody>
      </p:sp>
      <p:sp>
        <p:nvSpPr>
          <p:cNvPr id="1518" name="Google Shape;1518;g386fa9f7404_4_1011"/>
          <p:cNvSpPr/>
          <p:nvPr/>
        </p:nvSpPr>
        <p:spPr>
          <a:xfrm>
            <a:off x="487680" y="4084320"/>
            <a:ext cx="11216640" cy="1097280"/>
          </a:xfrm>
          <a:prstGeom prst="rect">
            <a:avLst/>
          </a:prstGeom>
          <a:solidFill>
            <a:srgbClr val="FFFFFF"/>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g386fa9f7404_4_1011"/>
          <p:cNvSpPr/>
          <p:nvPr/>
        </p:nvSpPr>
        <p:spPr>
          <a:xfrm>
            <a:off x="487680" y="4084320"/>
            <a:ext cx="121920" cy="109728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g386fa9f7404_4_1011"/>
          <p:cNvSpPr/>
          <p:nvPr/>
        </p:nvSpPr>
        <p:spPr>
          <a:xfrm>
            <a:off x="792480" y="4169664"/>
            <a:ext cx="304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Domains</a:t>
            </a:r>
            <a:endParaRPr b="0" i="0" sz="1600" u="none" cap="none" strike="noStrike">
              <a:solidFill>
                <a:schemeClr val="dk1"/>
              </a:solidFill>
              <a:latin typeface="Calibri"/>
              <a:ea typeface="Calibri"/>
              <a:cs typeface="Calibri"/>
              <a:sym typeface="Calibri"/>
            </a:endParaRPr>
          </a:p>
        </p:txBody>
      </p:sp>
      <p:sp>
        <p:nvSpPr>
          <p:cNvPr id="1521" name="Google Shape;1521;g386fa9f7404_4_1011"/>
          <p:cNvSpPr/>
          <p:nvPr/>
        </p:nvSpPr>
        <p:spPr>
          <a:xfrm>
            <a:off x="792480" y="4596384"/>
            <a:ext cx="6339840" cy="487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400"/>
              <a:buFont typeface="Calibri"/>
              <a:buNone/>
            </a:pPr>
            <a:r>
              <a:rPr b="0" i="0" lang="en-US" sz="1400" u="none" cap="none" strike="noStrike">
                <a:solidFill>
                  <a:srgbClr val="2C3E50"/>
                </a:solidFill>
                <a:latin typeface="Calibri"/>
                <a:ea typeface="Calibri"/>
                <a:cs typeface="Calibri"/>
                <a:sym typeface="Calibri"/>
              </a:rPr>
              <a:t>Any domain resolved during execution. Cross-referenced against known malware distribution domains.</a:t>
            </a:r>
            <a:endParaRPr b="0" i="0" sz="1400" u="none" cap="none" strike="noStrike">
              <a:solidFill>
                <a:schemeClr val="dk1"/>
              </a:solidFill>
              <a:latin typeface="Calibri"/>
              <a:ea typeface="Calibri"/>
              <a:cs typeface="Calibri"/>
              <a:sym typeface="Calibri"/>
            </a:endParaRPr>
          </a:p>
        </p:txBody>
      </p:sp>
      <p:sp>
        <p:nvSpPr>
          <p:cNvPr id="1522" name="Google Shape;1522;g386fa9f7404_4_1011"/>
          <p:cNvSpPr/>
          <p:nvPr/>
        </p:nvSpPr>
        <p:spPr>
          <a:xfrm>
            <a:off x="7437120" y="4181856"/>
            <a:ext cx="4084320" cy="902208"/>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g386fa9f7404_4_1011"/>
          <p:cNvSpPr/>
          <p:nvPr/>
        </p:nvSpPr>
        <p:spPr>
          <a:xfrm>
            <a:off x="7559040" y="4181856"/>
            <a:ext cx="3877056" cy="487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0" i="1" lang="en-US" sz="1300" u="none" cap="none" strike="noStrike">
                <a:solidFill>
                  <a:srgbClr val="1B3A5C"/>
                </a:solidFill>
                <a:latin typeface="Calibri"/>
                <a:ea typeface="Calibri"/>
                <a:cs typeface="Calibri"/>
                <a:sym typeface="Calibri"/>
              </a:rPr>
              <a:t>e.g. evil-c2.example.com → matched → +20 points</a:t>
            </a:r>
            <a:endParaRPr b="0" i="0" sz="1300" u="none" cap="none" strike="noStrike">
              <a:solidFill>
                <a:schemeClr val="dk1"/>
              </a:solidFill>
              <a:latin typeface="Calibri"/>
              <a:ea typeface="Calibri"/>
              <a:cs typeface="Calibri"/>
              <a:sym typeface="Calibri"/>
            </a:endParaRPr>
          </a:p>
        </p:txBody>
      </p:sp>
      <p:sp>
        <p:nvSpPr>
          <p:cNvPr id="1524" name="Google Shape;1524;g386fa9f7404_4_1011"/>
          <p:cNvSpPr/>
          <p:nvPr/>
        </p:nvSpPr>
        <p:spPr>
          <a:xfrm>
            <a:off x="7559040" y="4693920"/>
            <a:ext cx="3877056"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200"/>
              <a:buFont typeface="Calibri"/>
              <a:buNone/>
            </a:pPr>
            <a:r>
              <a:rPr b="0" i="0" lang="en-US" sz="1200" u="none" cap="none" strike="noStrike">
                <a:solidFill>
                  <a:srgbClr val="717D7E"/>
                </a:solidFill>
                <a:latin typeface="Calibri"/>
                <a:ea typeface="Calibri"/>
                <a:cs typeface="Calibri"/>
                <a:sym typeface="Calibri"/>
              </a:rPr>
              <a:t>Source: CISA, commercial threat intel</a:t>
            </a:r>
            <a:endParaRPr b="0" i="0" sz="1200" u="none" cap="none" strike="noStrike">
              <a:solidFill>
                <a:schemeClr val="dk1"/>
              </a:solidFill>
              <a:latin typeface="Calibri"/>
              <a:ea typeface="Calibri"/>
              <a:cs typeface="Calibri"/>
              <a:sym typeface="Calibri"/>
            </a:endParaRPr>
          </a:p>
        </p:txBody>
      </p:sp>
      <p:sp>
        <p:nvSpPr>
          <p:cNvPr id="1525" name="Google Shape;1525;g386fa9f7404_4_1011"/>
          <p:cNvSpPr/>
          <p:nvPr/>
        </p:nvSpPr>
        <p:spPr>
          <a:xfrm>
            <a:off x="487680" y="5425440"/>
            <a:ext cx="5486400" cy="512064"/>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g386fa9f7404_4_1011"/>
          <p:cNvSpPr/>
          <p:nvPr/>
        </p:nvSpPr>
        <p:spPr>
          <a:xfrm>
            <a:off x="707136" y="5425440"/>
            <a:ext cx="518160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IOC_MATCH_BONUS = 20  (from notebook)</a:t>
            </a:r>
            <a:endParaRPr b="0" i="0" sz="1500" u="none" cap="none" strike="noStrike">
              <a:solidFill>
                <a:schemeClr val="dk1"/>
              </a:solidFill>
              <a:latin typeface="Calibri"/>
              <a:ea typeface="Calibri"/>
              <a:cs typeface="Calibri"/>
              <a:sym typeface="Calibri"/>
            </a:endParaRPr>
          </a:p>
        </p:txBody>
      </p:sp>
      <p:sp>
        <p:nvSpPr>
          <p:cNvPr id="1527" name="Google Shape;1527;g386fa9f7404_4_1011"/>
          <p:cNvSpPr/>
          <p:nvPr/>
        </p:nvSpPr>
        <p:spPr>
          <a:xfrm>
            <a:off x="487680" y="6010656"/>
            <a:ext cx="11216640" cy="707136"/>
          </a:xfrm>
          <a:prstGeom prst="rect">
            <a:avLst/>
          </a:prstGeom>
          <a:solidFill>
            <a:srgbClr val="FDEBD0"/>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g386fa9f7404_4_1011"/>
          <p:cNvSpPr/>
          <p:nvPr/>
        </p:nvSpPr>
        <p:spPr>
          <a:xfrm>
            <a:off x="731520" y="6010656"/>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6F1E"/>
              </a:buClr>
              <a:buSzPts val="1500"/>
              <a:buFont typeface="Calibri"/>
              <a:buNone/>
            </a:pPr>
            <a:r>
              <a:rPr b="0" i="0" lang="en-US" sz="1500" u="none" cap="none" strike="noStrike">
                <a:solidFill>
                  <a:srgbClr val="CA6F1E"/>
                </a:solidFill>
                <a:latin typeface="Calibri"/>
                <a:ea typeface="Calibri"/>
                <a:cs typeface="Calibri"/>
                <a:sym typeface="Calibri"/>
              </a:rPr>
              <a:t>⚠️  Current status: STUB — local test list. Full system calls Threat Intelligence Correlator (Module 8) with live feeds.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2" name="Shape 1532"/>
        <p:cNvGrpSpPr/>
        <p:nvPr/>
      </p:nvGrpSpPr>
      <p:grpSpPr>
        <a:xfrm>
          <a:off x="0" y="0"/>
          <a:ext cx="0" cy="0"/>
          <a:chOff x="0" y="0"/>
          <a:chExt cx="0" cy="0"/>
        </a:xfrm>
      </p:grpSpPr>
      <p:sp>
        <p:nvSpPr>
          <p:cNvPr id="1533" name="Google Shape;1533;g386fa9f7404_4_1043"/>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g386fa9f7404_4_1043"/>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7 — Verdict &amp; the SUSPICIOUS Band</a:t>
            </a:r>
            <a:endParaRPr b="0" i="0" sz="2700" u="none" cap="none" strike="noStrike">
              <a:solidFill>
                <a:schemeClr val="dk1"/>
              </a:solidFill>
              <a:latin typeface="Calibri"/>
              <a:ea typeface="Calibri"/>
              <a:cs typeface="Calibri"/>
              <a:sym typeface="Calibri"/>
            </a:endParaRPr>
          </a:p>
        </p:txBody>
      </p:sp>
      <p:sp>
        <p:nvSpPr>
          <p:cNvPr id="1535" name="Google Shape;1535;g386fa9f7404_4_1043"/>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9</a:t>
            </a:r>
            <a:endParaRPr b="0" i="0" sz="1100" u="none" cap="none" strike="noStrike">
              <a:solidFill>
                <a:schemeClr val="dk1"/>
              </a:solidFill>
              <a:latin typeface="Calibri"/>
              <a:ea typeface="Calibri"/>
              <a:cs typeface="Calibri"/>
              <a:sym typeface="Calibri"/>
            </a:endParaRPr>
          </a:p>
        </p:txBody>
      </p:sp>
      <p:sp>
        <p:nvSpPr>
          <p:cNvPr id="1536" name="Google Shape;1536;g386fa9f7404_4_1043"/>
          <p:cNvSpPr/>
          <p:nvPr/>
        </p:nvSpPr>
        <p:spPr>
          <a:xfrm>
            <a:off x="487680" y="1121664"/>
            <a:ext cx="5242560" cy="1072896"/>
          </a:xfrm>
          <a:prstGeom prst="rect">
            <a:avLst/>
          </a:prstGeom>
          <a:solidFill>
            <a:srgbClr val="D5F5E3"/>
          </a:solidFill>
          <a:ln cap="flat" cmpd="sng" w="1905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g386fa9f7404_4_1043"/>
          <p:cNvSpPr/>
          <p:nvPr/>
        </p:nvSpPr>
        <p:spPr>
          <a:xfrm>
            <a:off x="487680" y="1121664"/>
            <a:ext cx="1828800" cy="1072896"/>
          </a:xfrm>
          <a:prstGeom prst="rect">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g386fa9f7404_4_1043"/>
          <p:cNvSpPr/>
          <p:nvPr/>
        </p:nvSpPr>
        <p:spPr>
          <a:xfrm>
            <a:off x="487680" y="1121664"/>
            <a:ext cx="1828800"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CLEAN</a:t>
            </a:r>
            <a:endParaRPr b="0" i="0" sz="1500" u="none" cap="none" strike="noStrike">
              <a:solidFill>
                <a:schemeClr val="dk1"/>
              </a:solidFill>
              <a:latin typeface="Calibri"/>
              <a:ea typeface="Calibri"/>
              <a:cs typeface="Calibri"/>
              <a:sym typeface="Calibri"/>
            </a:endParaRPr>
          </a:p>
        </p:txBody>
      </p:sp>
      <p:sp>
        <p:nvSpPr>
          <p:cNvPr id="1539" name="Google Shape;1539;g386fa9f7404_4_1043"/>
          <p:cNvSpPr/>
          <p:nvPr/>
        </p:nvSpPr>
        <p:spPr>
          <a:xfrm>
            <a:off x="2499360" y="1243584"/>
            <a:ext cx="304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Score &lt; 25</a:t>
            </a:r>
            <a:endParaRPr b="0" i="0" sz="1600" u="none" cap="none" strike="noStrike">
              <a:solidFill>
                <a:schemeClr val="dk1"/>
              </a:solidFill>
              <a:latin typeface="Calibri"/>
              <a:ea typeface="Calibri"/>
              <a:cs typeface="Calibri"/>
              <a:sym typeface="Calibri"/>
            </a:endParaRPr>
          </a:p>
        </p:txBody>
      </p:sp>
      <p:sp>
        <p:nvSpPr>
          <p:cNvPr id="1540" name="Google Shape;1540;g386fa9f7404_4_1043"/>
          <p:cNvSpPr/>
          <p:nvPr/>
        </p:nvSpPr>
        <p:spPr>
          <a:xfrm>
            <a:off x="2499360" y="1706880"/>
            <a:ext cx="3048000" cy="414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Forwarded to operational network</a:t>
            </a:r>
            <a:endParaRPr b="0" i="0" sz="1300" u="none" cap="none" strike="noStrike">
              <a:solidFill>
                <a:schemeClr val="dk1"/>
              </a:solidFill>
              <a:latin typeface="Calibri"/>
              <a:ea typeface="Calibri"/>
              <a:cs typeface="Calibri"/>
              <a:sym typeface="Calibri"/>
            </a:endParaRPr>
          </a:p>
        </p:txBody>
      </p:sp>
      <p:sp>
        <p:nvSpPr>
          <p:cNvPr id="1541" name="Google Shape;1541;g386fa9f7404_4_1043"/>
          <p:cNvSpPr/>
          <p:nvPr/>
        </p:nvSpPr>
        <p:spPr>
          <a:xfrm>
            <a:off x="487680" y="2340864"/>
            <a:ext cx="5242560" cy="1072896"/>
          </a:xfrm>
          <a:prstGeom prst="rect">
            <a:avLst/>
          </a:prstGeom>
          <a:solidFill>
            <a:srgbClr val="FDEBD0"/>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g386fa9f7404_4_1043"/>
          <p:cNvSpPr/>
          <p:nvPr/>
        </p:nvSpPr>
        <p:spPr>
          <a:xfrm>
            <a:off x="487680" y="2340864"/>
            <a:ext cx="1828800" cy="1072896"/>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g386fa9f7404_4_1043"/>
          <p:cNvSpPr/>
          <p:nvPr/>
        </p:nvSpPr>
        <p:spPr>
          <a:xfrm>
            <a:off x="487680" y="2340864"/>
            <a:ext cx="1828800"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SUSPICIOUS</a:t>
            </a:r>
            <a:endParaRPr b="0" i="0" sz="1500" u="none" cap="none" strike="noStrike">
              <a:solidFill>
                <a:schemeClr val="dk1"/>
              </a:solidFill>
              <a:latin typeface="Calibri"/>
              <a:ea typeface="Calibri"/>
              <a:cs typeface="Calibri"/>
              <a:sym typeface="Calibri"/>
            </a:endParaRPr>
          </a:p>
        </p:txBody>
      </p:sp>
      <p:sp>
        <p:nvSpPr>
          <p:cNvPr id="1544" name="Google Shape;1544;g386fa9f7404_4_1043"/>
          <p:cNvSpPr/>
          <p:nvPr/>
        </p:nvSpPr>
        <p:spPr>
          <a:xfrm>
            <a:off x="2499360" y="2462784"/>
            <a:ext cx="304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Score 25–59</a:t>
            </a:r>
            <a:endParaRPr b="0" i="0" sz="1600" u="none" cap="none" strike="noStrike">
              <a:solidFill>
                <a:schemeClr val="dk1"/>
              </a:solidFill>
              <a:latin typeface="Calibri"/>
              <a:ea typeface="Calibri"/>
              <a:cs typeface="Calibri"/>
              <a:sym typeface="Calibri"/>
            </a:endParaRPr>
          </a:p>
        </p:txBody>
      </p:sp>
      <p:sp>
        <p:nvSpPr>
          <p:cNvPr id="1545" name="Google Shape;1545;g386fa9f7404_4_1043"/>
          <p:cNvSpPr/>
          <p:nvPr/>
        </p:nvSpPr>
        <p:spPr>
          <a:xfrm>
            <a:off x="2499360" y="2926080"/>
            <a:ext cx="3048000" cy="414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Quarantined. Queued for analyst review.</a:t>
            </a:r>
            <a:endParaRPr b="0" i="0" sz="1300" u="none" cap="none" strike="noStrike">
              <a:solidFill>
                <a:schemeClr val="dk1"/>
              </a:solidFill>
              <a:latin typeface="Calibri"/>
              <a:ea typeface="Calibri"/>
              <a:cs typeface="Calibri"/>
              <a:sym typeface="Calibri"/>
            </a:endParaRPr>
          </a:p>
        </p:txBody>
      </p:sp>
      <p:sp>
        <p:nvSpPr>
          <p:cNvPr id="1546" name="Google Shape;1546;g386fa9f7404_4_1043"/>
          <p:cNvSpPr/>
          <p:nvPr/>
        </p:nvSpPr>
        <p:spPr>
          <a:xfrm>
            <a:off x="487680" y="3560064"/>
            <a:ext cx="5242560" cy="1072896"/>
          </a:xfrm>
          <a:prstGeom prst="rect">
            <a:avLst/>
          </a:prstGeom>
          <a:solidFill>
            <a:srgbClr val="FADBD8"/>
          </a:solidFill>
          <a:ln cap="flat" cmpd="sng" w="19050">
            <a:solidFill>
              <a:srgbClr val="C0392B"/>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g386fa9f7404_4_1043"/>
          <p:cNvSpPr/>
          <p:nvPr/>
        </p:nvSpPr>
        <p:spPr>
          <a:xfrm>
            <a:off x="487680" y="3560064"/>
            <a:ext cx="1828800" cy="107289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g386fa9f7404_4_1043"/>
          <p:cNvSpPr/>
          <p:nvPr/>
        </p:nvSpPr>
        <p:spPr>
          <a:xfrm>
            <a:off x="487680" y="3560064"/>
            <a:ext cx="1828800" cy="1072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MALICIOUS</a:t>
            </a:r>
            <a:endParaRPr b="0" i="0" sz="1500" u="none" cap="none" strike="noStrike">
              <a:solidFill>
                <a:schemeClr val="dk1"/>
              </a:solidFill>
              <a:latin typeface="Calibri"/>
              <a:ea typeface="Calibri"/>
              <a:cs typeface="Calibri"/>
              <a:sym typeface="Calibri"/>
            </a:endParaRPr>
          </a:p>
        </p:txBody>
      </p:sp>
      <p:sp>
        <p:nvSpPr>
          <p:cNvPr id="1549" name="Google Shape;1549;g386fa9f7404_4_1043"/>
          <p:cNvSpPr/>
          <p:nvPr/>
        </p:nvSpPr>
        <p:spPr>
          <a:xfrm>
            <a:off x="2499360" y="3681984"/>
            <a:ext cx="304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Score ≥ 60</a:t>
            </a:r>
            <a:endParaRPr b="0" i="0" sz="1600" u="none" cap="none" strike="noStrike">
              <a:solidFill>
                <a:schemeClr val="dk1"/>
              </a:solidFill>
              <a:latin typeface="Calibri"/>
              <a:ea typeface="Calibri"/>
              <a:cs typeface="Calibri"/>
              <a:sym typeface="Calibri"/>
            </a:endParaRPr>
          </a:p>
        </p:txBody>
      </p:sp>
      <p:sp>
        <p:nvSpPr>
          <p:cNvPr id="1550" name="Google Shape;1550;g386fa9f7404_4_1043"/>
          <p:cNvSpPr/>
          <p:nvPr/>
        </p:nvSpPr>
        <p:spPr>
          <a:xfrm>
            <a:off x="2499360" y="4145280"/>
            <a:ext cx="3048000" cy="414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Blocked immediately. SOC/SIEM alerted.</a:t>
            </a:r>
            <a:endParaRPr b="0" i="0" sz="1300" u="none" cap="none" strike="noStrike">
              <a:solidFill>
                <a:schemeClr val="dk1"/>
              </a:solidFill>
              <a:latin typeface="Calibri"/>
              <a:ea typeface="Calibri"/>
              <a:cs typeface="Calibri"/>
              <a:sym typeface="Calibri"/>
            </a:endParaRPr>
          </a:p>
        </p:txBody>
      </p:sp>
      <p:sp>
        <p:nvSpPr>
          <p:cNvPr id="1551" name="Google Shape;1551;g386fa9f7404_4_1043"/>
          <p:cNvSpPr/>
          <p:nvPr/>
        </p:nvSpPr>
        <p:spPr>
          <a:xfrm>
            <a:off x="6217920" y="1121664"/>
            <a:ext cx="5486400" cy="3718560"/>
          </a:xfrm>
          <a:prstGeom prst="rect">
            <a:avLst/>
          </a:prstGeom>
          <a:solidFill>
            <a:srgbClr val="EAF4FB"/>
          </a:solidFill>
          <a:ln cap="flat" cmpd="sng" w="12700">
            <a:solidFill>
              <a:srgbClr val="AED6F1"/>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g386fa9f7404_4_1043"/>
          <p:cNvSpPr/>
          <p:nvPr/>
        </p:nvSpPr>
        <p:spPr>
          <a:xfrm>
            <a:off x="6437376" y="1219200"/>
            <a:ext cx="505968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600"/>
              <a:buFont typeface="Calibri"/>
              <a:buNone/>
            </a:pPr>
            <a:r>
              <a:rPr b="1" i="0" lang="en-US" sz="1600" u="none" cap="none" strike="noStrike">
                <a:solidFill>
                  <a:srgbClr val="1B3A5C"/>
                </a:solidFill>
                <a:latin typeface="Calibri"/>
                <a:ea typeface="Calibri"/>
                <a:cs typeface="Calibri"/>
                <a:sym typeface="Calibri"/>
              </a:rPr>
              <a:t>Why the SUSPICIOUS band exists</a:t>
            </a:r>
            <a:endParaRPr b="0" i="0" sz="1600" u="none" cap="none" strike="noStrike">
              <a:solidFill>
                <a:schemeClr val="dk1"/>
              </a:solidFill>
              <a:latin typeface="Calibri"/>
              <a:ea typeface="Calibri"/>
              <a:cs typeface="Calibri"/>
              <a:sym typeface="Calibri"/>
            </a:endParaRPr>
          </a:p>
        </p:txBody>
      </p:sp>
      <p:sp>
        <p:nvSpPr>
          <p:cNvPr id="1553" name="Google Shape;1553;g386fa9f7404_4_1043"/>
          <p:cNvSpPr/>
          <p:nvPr/>
        </p:nvSpPr>
        <p:spPr>
          <a:xfrm>
            <a:off x="6461760" y="1804416"/>
            <a:ext cx="121920" cy="1219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g386fa9f7404_4_1043"/>
          <p:cNvSpPr/>
          <p:nvPr/>
        </p:nvSpPr>
        <p:spPr>
          <a:xfrm>
            <a:off x="6681216" y="1755648"/>
            <a:ext cx="48768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Prevents false positives</a:t>
            </a:r>
            <a:endParaRPr b="0" i="0" sz="1400" u="none" cap="none" strike="noStrike">
              <a:solidFill>
                <a:schemeClr val="dk1"/>
              </a:solidFill>
              <a:latin typeface="Calibri"/>
              <a:ea typeface="Calibri"/>
              <a:cs typeface="Calibri"/>
              <a:sym typeface="Calibri"/>
            </a:endParaRPr>
          </a:p>
        </p:txBody>
      </p:sp>
      <p:sp>
        <p:nvSpPr>
          <p:cNvPr id="1555" name="Google Shape;1555;g386fa9f7404_4_1043"/>
          <p:cNvSpPr/>
          <p:nvPr/>
        </p:nvSpPr>
        <p:spPr>
          <a:xfrm>
            <a:off x="6681216" y="2121408"/>
            <a:ext cx="4876800" cy="4632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 score of 30 could be a mildly suspicious script or a legitimate tool behaving unusually. Blocking it outright risks disrupting operations.</a:t>
            </a:r>
            <a:endParaRPr b="0" i="0" sz="1300" u="none" cap="none" strike="noStrike">
              <a:solidFill>
                <a:schemeClr val="dk1"/>
              </a:solidFill>
              <a:latin typeface="Calibri"/>
              <a:ea typeface="Calibri"/>
              <a:cs typeface="Calibri"/>
              <a:sym typeface="Calibri"/>
            </a:endParaRPr>
          </a:p>
        </p:txBody>
      </p:sp>
      <p:sp>
        <p:nvSpPr>
          <p:cNvPr id="1556" name="Google Shape;1556;g386fa9f7404_4_1043"/>
          <p:cNvSpPr/>
          <p:nvPr/>
        </p:nvSpPr>
        <p:spPr>
          <a:xfrm>
            <a:off x="6461760" y="2682240"/>
            <a:ext cx="121920" cy="1219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g386fa9f7404_4_1043"/>
          <p:cNvSpPr/>
          <p:nvPr/>
        </p:nvSpPr>
        <p:spPr>
          <a:xfrm>
            <a:off x="6681216" y="2633472"/>
            <a:ext cx="48768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Human judgment for grey areas</a:t>
            </a:r>
            <a:endParaRPr b="0" i="0" sz="1400" u="none" cap="none" strike="noStrike">
              <a:solidFill>
                <a:schemeClr val="dk1"/>
              </a:solidFill>
              <a:latin typeface="Calibri"/>
              <a:ea typeface="Calibri"/>
              <a:cs typeface="Calibri"/>
              <a:sym typeface="Calibri"/>
            </a:endParaRPr>
          </a:p>
        </p:txBody>
      </p:sp>
      <p:sp>
        <p:nvSpPr>
          <p:cNvPr id="1558" name="Google Shape;1558;g386fa9f7404_4_1043"/>
          <p:cNvSpPr/>
          <p:nvPr/>
        </p:nvSpPr>
        <p:spPr>
          <a:xfrm>
            <a:off x="6681216" y="2999232"/>
            <a:ext cx="4876800" cy="4632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An analyst reviews the behavioral trace and makes the final call. Their decision is recorded.</a:t>
            </a:r>
            <a:endParaRPr b="0" i="0" sz="1300" u="none" cap="none" strike="noStrike">
              <a:solidFill>
                <a:schemeClr val="dk1"/>
              </a:solidFill>
              <a:latin typeface="Calibri"/>
              <a:ea typeface="Calibri"/>
              <a:cs typeface="Calibri"/>
              <a:sym typeface="Calibri"/>
            </a:endParaRPr>
          </a:p>
        </p:txBody>
      </p:sp>
      <p:sp>
        <p:nvSpPr>
          <p:cNvPr id="1559" name="Google Shape;1559;g386fa9f7404_4_1043"/>
          <p:cNvSpPr/>
          <p:nvPr/>
        </p:nvSpPr>
        <p:spPr>
          <a:xfrm>
            <a:off x="6461760" y="3560064"/>
            <a:ext cx="121920" cy="121920"/>
          </a:xfrm>
          <a:prstGeom prst="ellipse">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g386fa9f7404_4_1043"/>
          <p:cNvSpPr/>
          <p:nvPr/>
        </p:nvSpPr>
        <p:spPr>
          <a:xfrm>
            <a:off x="6681216" y="3511296"/>
            <a:ext cx="487680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Feeds back into the model</a:t>
            </a:r>
            <a:endParaRPr b="0" i="0" sz="1400" u="none" cap="none" strike="noStrike">
              <a:solidFill>
                <a:schemeClr val="dk1"/>
              </a:solidFill>
              <a:latin typeface="Calibri"/>
              <a:ea typeface="Calibri"/>
              <a:cs typeface="Calibri"/>
              <a:sym typeface="Calibri"/>
            </a:endParaRPr>
          </a:p>
        </p:txBody>
      </p:sp>
      <p:sp>
        <p:nvSpPr>
          <p:cNvPr id="1561" name="Google Shape;1561;g386fa9f7404_4_1043"/>
          <p:cNvSpPr/>
          <p:nvPr/>
        </p:nvSpPr>
        <p:spPr>
          <a:xfrm>
            <a:off x="6681216" y="3877056"/>
            <a:ext cx="4876800" cy="4632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Analyst verdict becomes a labeled training sample — improving ML classifier and Estimator accuracy over time.</a:t>
            </a:r>
            <a:endParaRPr b="0" i="0" sz="1300" u="none" cap="none" strike="noStrike">
              <a:solidFill>
                <a:schemeClr val="dk1"/>
              </a:solidFill>
              <a:latin typeface="Calibri"/>
              <a:ea typeface="Calibri"/>
              <a:cs typeface="Calibri"/>
              <a:sym typeface="Calibri"/>
            </a:endParaRPr>
          </a:p>
        </p:txBody>
      </p:sp>
      <p:sp>
        <p:nvSpPr>
          <p:cNvPr id="1562" name="Google Shape;1562;g386fa9f7404_4_1043"/>
          <p:cNvSpPr/>
          <p:nvPr/>
        </p:nvSpPr>
        <p:spPr>
          <a:xfrm>
            <a:off x="487680" y="5059680"/>
            <a:ext cx="11216640" cy="707136"/>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g386fa9f7404_4_1043"/>
          <p:cNvSpPr/>
          <p:nvPr/>
        </p:nvSpPr>
        <p:spPr>
          <a:xfrm>
            <a:off x="731520" y="5059680"/>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0" i="0" lang="en-US" sz="1500" u="none" cap="none" strike="noStrike">
                <a:solidFill>
                  <a:srgbClr val="1B3A5C"/>
                </a:solidFill>
                <a:latin typeface="Calibri"/>
                <a:ea typeface="Calibri"/>
                <a:cs typeface="Calibri"/>
                <a:sym typeface="Calibri"/>
              </a:rPr>
              <a:t>Notebook: VERDICT_THRESHOLDS = {MALICIOUS: 60, SUSPICIOUS: 25}  — from Section 9 code.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567" name="Shape 1567"/>
        <p:cNvGrpSpPr/>
        <p:nvPr/>
      </p:nvGrpSpPr>
      <p:grpSpPr>
        <a:xfrm>
          <a:off x="0" y="0"/>
          <a:ext cx="0" cy="0"/>
          <a:chOff x="0" y="0"/>
          <a:chExt cx="0" cy="0"/>
        </a:xfrm>
      </p:grpSpPr>
      <p:sp>
        <p:nvSpPr>
          <p:cNvPr id="1568" name="Google Shape;1568;g386fa9f7404_4_1077"/>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g386fa9f7404_4_1077"/>
          <p:cNvSpPr/>
          <p:nvPr/>
        </p:nvSpPr>
        <p:spPr>
          <a:xfrm>
            <a:off x="548640" y="0"/>
            <a:ext cx="8778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Stage 8 — Feedback Loop</a:t>
            </a:r>
            <a:endParaRPr b="0" i="0" sz="2700" u="none" cap="none" strike="noStrike">
              <a:solidFill>
                <a:schemeClr val="dk1"/>
              </a:solidFill>
              <a:latin typeface="Calibri"/>
              <a:ea typeface="Calibri"/>
              <a:cs typeface="Calibri"/>
              <a:sym typeface="Calibri"/>
            </a:endParaRPr>
          </a:p>
        </p:txBody>
      </p:sp>
      <p:sp>
        <p:nvSpPr>
          <p:cNvPr id="1570" name="Google Shape;1570;g386fa9f7404_4_1077"/>
          <p:cNvSpPr/>
          <p:nvPr/>
        </p:nvSpPr>
        <p:spPr>
          <a:xfrm>
            <a:off x="9204960" y="0"/>
            <a:ext cx="2743200" cy="914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ED6F1"/>
              </a:buClr>
              <a:buSzPts val="1100"/>
              <a:buFont typeface="Calibri"/>
              <a:buNone/>
            </a:pPr>
            <a:r>
              <a:rPr b="0" i="1" lang="en-US" sz="1100" u="none" cap="none" strike="noStrike">
                <a:solidFill>
                  <a:srgbClr val="AED6F1"/>
                </a:solidFill>
                <a:latin typeface="Calibri"/>
                <a:ea typeface="Calibri"/>
                <a:cs typeface="Calibri"/>
                <a:sym typeface="Calibri"/>
              </a:rPr>
              <a:t>Notebook: Section 10</a:t>
            </a:r>
            <a:endParaRPr b="0" i="0" sz="1100" u="none" cap="none" strike="noStrike">
              <a:solidFill>
                <a:schemeClr val="dk1"/>
              </a:solidFill>
              <a:latin typeface="Calibri"/>
              <a:ea typeface="Calibri"/>
              <a:cs typeface="Calibri"/>
              <a:sym typeface="Calibri"/>
            </a:endParaRPr>
          </a:p>
        </p:txBody>
      </p:sp>
      <p:sp>
        <p:nvSpPr>
          <p:cNvPr id="1571" name="Google Shape;1571;g386fa9f7404_4_1077"/>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The sandbox sends its findings back to three other modules. The system gets smarter with every mission cycle.</a:t>
            </a:r>
            <a:endParaRPr b="0" i="0" sz="1700" u="none" cap="none" strike="noStrike">
              <a:solidFill>
                <a:schemeClr val="dk1"/>
              </a:solidFill>
              <a:latin typeface="Calibri"/>
              <a:ea typeface="Calibri"/>
              <a:cs typeface="Calibri"/>
              <a:sym typeface="Calibri"/>
            </a:endParaRPr>
          </a:p>
        </p:txBody>
      </p:sp>
      <p:sp>
        <p:nvSpPr>
          <p:cNvPr id="1572" name="Google Shape;1572;g386fa9f7404_4_1077"/>
          <p:cNvSpPr/>
          <p:nvPr/>
        </p:nvSpPr>
        <p:spPr>
          <a:xfrm>
            <a:off x="487680" y="1645920"/>
            <a:ext cx="11216640" cy="1097280"/>
          </a:xfrm>
          <a:prstGeom prst="rect">
            <a:avLst/>
          </a:prstGeom>
          <a:solidFill>
            <a:srgbClr val="FFFFFF"/>
          </a:solidFill>
          <a:ln cap="flat" cmpd="sng" w="1905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g386fa9f7404_4_1077"/>
          <p:cNvSpPr/>
          <p:nvPr/>
        </p:nvSpPr>
        <p:spPr>
          <a:xfrm>
            <a:off x="487680" y="1645920"/>
            <a:ext cx="121920" cy="1097280"/>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g386fa9f7404_4_1077"/>
          <p:cNvSpPr/>
          <p:nvPr/>
        </p:nvSpPr>
        <p:spPr>
          <a:xfrm>
            <a:off x="755904" y="1719072"/>
            <a:ext cx="390144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notify_feedback_loop()</a:t>
            </a:r>
            <a:endParaRPr b="0" i="0" sz="1400" u="none" cap="none" strike="noStrike">
              <a:solidFill>
                <a:schemeClr val="dk1"/>
              </a:solidFill>
              <a:latin typeface="Calibri"/>
              <a:ea typeface="Calibri"/>
              <a:cs typeface="Calibri"/>
              <a:sym typeface="Calibri"/>
            </a:endParaRPr>
          </a:p>
        </p:txBody>
      </p:sp>
      <p:sp>
        <p:nvSpPr>
          <p:cNvPr id="1575" name="Google Shape;1575;g386fa9f7404_4_1077"/>
          <p:cNvSpPr/>
          <p:nvPr/>
        </p:nvSpPr>
        <p:spPr>
          <a:xfrm>
            <a:off x="755904" y="2084832"/>
            <a:ext cx="54864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71A3"/>
              </a:buClr>
              <a:buSzPts val="1300"/>
              <a:buFont typeface="Calibri"/>
              <a:buNone/>
            </a:pPr>
            <a:r>
              <a:rPr b="0" i="0" lang="en-US" sz="1300" u="none" cap="none" strike="noStrike">
                <a:solidFill>
                  <a:srgbClr val="2471A3"/>
                </a:solidFill>
                <a:latin typeface="Calibri"/>
                <a:ea typeface="Calibri"/>
                <a:cs typeface="Calibri"/>
                <a:sym typeface="Calibri"/>
              </a:rPr>
              <a:t>→  Security Feedback Loop &amp; Dashboard (Module 9)</a:t>
            </a:r>
            <a:endParaRPr b="0" i="0" sz="1300" u="none" cap="none" strike="noStrike">
              <a:solidFill>
                <a:schemeClr val="dk1"/>
              </a:solidFill>
              <a:latin typeface="Calibri"/>
              <a:ea typeface="Calibri"/>
              <a:cs typeface="Calibri"/>
              <a:sym typeface="Calibri"/>
            </a:endParaRPr>
          </a:p>
        </p:txBody>
      </p:sp>
      <p:sp>
        <p:nvSpPr>
          <p:cNvPr id="1576" name="Google Shape;1576;g386fa9f7404_4_1077"/>
          <p:cNvSpPr/>
          <p:nvPr/>
        </p:nvSpPr>
        <p:spPr>
          <a:xfrm>
            <a:off x="755904" y="2401824"/>
            <a:ext cx="54864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1" lang="en-US" sz="1300" u="none" cap="none" strike="noStrike">
                <a:solidFill>
                  <a:srgbClr val="2C3E50"/>
                </a:solidFill>
                <a:latin typeface="Calibri"/>
                <a:ea typeface="Calibri"/>
                <a:cs typeface="Calibri"/>
                <a:sym typeface="Calibri"/>
              </a:rPr>
              <a:t>Full SandboxReport — verdict, score, behavioral trace, IOC result</a:t>
            </a:r>
            <a:endParaRPr b="0" i="0" sz="1300" u="none" cap="none" strike="noStrike">
              <a:solidFill>
                <a:schemeClr val="dk1"/>
              </a:solidFill>
              <a:latin typeface="Calibri"/>
              <a:ea typeface="Calibri"/>
              <a:cs typeface="Calibri"/>
              <a:sym typeface="Calibri"/>
            </a:endParaRPr>
          </a:p>
        </p:txBody>
      </p:sp>
      <p:sp>
        <p:nvSpPr>
          <p:cNvPr id="1577" name="Google Shape;1577;g386fa9f7404_4_1077"/>
          <p:cNvSpPr/>
          <p:nvPr/>
        </p:nvSpPr>
        <p:spPr>
          <a:xfrm>
            <a:off x="6522720" y="1767840"/>
            <a:ext cx="5059680" cy="85344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g386fa9f7404_4_1077"/>
          <p:cNvSpPr/>
          <p:nvPr/>
        </p:nvSpPr>
        <p:spPr>
          <a:xfrm>
            <a:off x="6681216" y="1767840"/>
            <a:ext cx="4779264" cy="853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Effect: Logs incident. Populates dashboard. Provides audit trail.</a:t>
            </a:r>
            <a:endParaRPr b="0" i="0" sz="1300" u="none" cap="none" strike="noStrike">
              <a:solidFill>
                <a:schemeClr val="dk1"/>
              </a:solidFill>
              <a:latin typeface="Calibri"/>
              <a:ea typeface="Calibri"/>
              <a:cs typeface="Calibri"/>
              <a:sym typeface="Calibri"/>
            </a:endParaRPr>
          </a:p>
        </p:txBody>
      </p:sp>
      <p:sp>
        <p:nvSpPr>
          <p:cNvPr id="1579" name="Google Shape;1579;g386fa9f7404_4_1077"/>
          <p:cNvSpPr/>
          <p:nvPr/>
        </p:nvSpPr>
        <p:spPr>
          <a:xfrm>
            <a:off x="487680" y="2865120"/>
            <a:ext cx="11216640" cy="1097280"/>
          </a:xfrm>
          <a:prstGeom prst="rect">
            <a:avLst/>
          </a:prstGeom>
          <a:solidFill>
            <a:srgbClr val="FFFFFF"/>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g386fa9f7404_4_1077"/>
          <p:cNvSpPr/>
          <p:nvPr/>
        </p:nvSpPr>
        <p:spPr>
          <a:xfrm>
            <a:off x="487680" y="2865120"/>
            <a:ext cx="121920" cy="1097280"/>
          </a:xfrm>
          <a:prstGeom prst="rect">
            <a:avLst/>
          </a:prstGeom>
          <a:solidFill>
            <a:srgbClr val="CA6F1E"/>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g386fa9f7404_4_1077"/>
          <p:cNvSpPr/>
          <p:nvPr/>
        </p:nvSpPr>
        <p:spPr>
          <a:xfrm>
            <a:off x="755904" y="2938272"/>
            <a:ext cx="390144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update_ioc_database()</a:t>
            </a:r>
            <a:endParaRPr b="0" i="0" sz="1400" u="none" cap="none" strike="noStrike">
              <a:solidFill>
                <a:schemeClr val="dk1"/>
              </a:solidFill>
              <a:latin typeface="Calibri"/>
              <a:ea typeface="Calibri"/>
              <a:cs typeface="Calibri"/>
              <a:sym typeface="Calibri"/>
            </a:endParaRPr>
          </a:p>
        </p:txBody>
      </p:sp>
      <p:sp>
        <p:nvSpPr>
          <p:cNvPr id="1582" name="Google Shape;1582;g386fa9f7404_4_1077"/>
          <p:cNvSpPr/>
          <p:nvPr/>
        </p:nvSpPr>
        <p:spPr>
          <a:xfrm>
            <a:off x="755904" y="3304032"/>
            <a:ext cx="54864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6F1E"/>
              </a:buClr>
              <a:buSzPts val="1300"/>
              <a:buFont typeface="Calibri"/>
              <a:buNone/>
            </a:pPr>
            <a:r>
              <a:rPr b="0" i="0" lang="en-US" sz="1300" u="none" cap="none" strike="noStrike">
                <a:solidFill>
                  <a:srgbClr val="CA6F1E"/>
                </a:solidFill>
                <a:latin typeface="Calibri"/>
                <a:ea typeface="Calibri"/>
                <a:cs typeface="Calibri"/>
                <a:sym typeface="Calibri"/>
              </a:rPr>
              <a:t>→  Threat Intelligence Correlator (Module 8)</a:t>
            </a:r>
            <a:endParaRPr b="0" i="0" sz="1300" u="none" cap="none" strike="noStrike">
              <a:solidFill>
                <a:schemeClr val="dk1"/>
              </a:solidFill>
              <a:latin typeface="Calibri"/>
              <a:ea typeface="Calibri"/>
              <a:cs typeface="Calibri"/>
              <a:sym typeface="Calibri"/>
            </a:endParaRPr>
          </a:p>
        </p:txBody>
      </p:sp>
      <p:sp>
        <p:nvSpPr>
          <p:cNvPr id="1583" name="Google Shape;1583;g386fa9f7404_4_1077"/>
          <p:cNvSpPr/>
          <p:nvPr/>
        </p:nvSpPr>
        <p:spPr>
          <a:xfrm>
            <a:off x="755904" y="3621024"/>
            <a:ext cx="54864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1" lang="en-US" sz="1300" u="none" cap="none" strike="noStrike">
                <a:solidFill>
                  <a:srgbClr val="2C3E50"/>
                </a:solidFill>
                <a:latin typeface="Calibri"/>
                <a:ea typeface="Calibri"/>
                <a:cs typeface="Calibri"/>
                <a:sym typeface="Calibri"/>
              </a:rPr>
              <a:t>If MALICIOUS: file hash + C2 IPs added to IOC database</a:t>
            </a:r>
            <a:endParaRPr b="0" i="0" sz="1300" u="none" cap="none" strike="noStrike">
              <a:solidFill>
                <a:schemeClr val="dk1"/>
              </a:solidFill>
              <a:latin typeface="Calibri"/>
              <a:ea typeface="Calibri"/>
              <a:cs typeface="Calibri"/>
              <a:sym typeface="Calibri"/>
            </a:endParaRPr>
          </a:p>
        </p:txBody>
      </p:sp>
      <p:sp>
        <p:nvSpPr>
          <p:cNvPr id="1584" name="Google Shape;1584;g386fa9f7404_4_1077"/>
          <p:cNvSpPr/>
          <p:nvPr/>
        </p:nvSpPr>
        <p:spPr>
          <a:xfrm>
            <a:off x="6522720" y="2987040"/>
            <a:ext cx="5059680" cy="85344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g386fa9f7404_4_1077"/>
          <p:cNvSpPr/>
          <p:nvPr/>
        </p:nvSpPr>
        <p:spPr>
          <a:xfrm>
            <a:off x="6681216" y="2987040"/>
            <a:ext cx="4779264" cy="853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Effect: Future files with same hash / same IPs caught at Stage 6 instantly.</a:t>
            </a:r>
            <a:endParaRPr b="0" i="0" sz="1300" u="none" cap="none" strike="noStrike">
              <a:solidFill>
                <a:schemeClr val="dk1"/>
              </a:solidFill>
              <a:latin typeface="Calibri"/>
              <a:ea typeface="Calibri"/>
              <a:cs typeface="Calibri"/>
              <a:sym typeface="Calibri"/>
            </a:endParaRPr>
          </a:p>
        </p:txBody>
      </p:sp>
      <p:sp>
        <p:nvSpPr>
          <p:cNvPr id="1586" name="Google Shape;1586;g386fa9f7404_4_1077"/>
          <p:cNvSpPr/>
          <p:nvPr/>
        </p:nvSpPr>
        <p:spPr>
          <a:xfrm>
            <a:off x="487680" y="4084320"/>
            <a:ext cx="11216640" cy="1097280"/>
          </a:xfrm>
          <a:prstGeom prst="rect">
            <a:avLst/>
          </a:prstGeom>
          <a:solidFill>
            <a:srgbClr val="FFFFFF"/>
          </a:solidFill>
          <a:ln cap="flat" cmpd="sng" w="1905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g386fa9f7404_4_1077"/>
          <p:cNvSpPr/>
          <p:nvPr/>
        </p:nvSpPr>
        <p:spPr>
          <a:xfrm>
            <a:off x="487680" y="4084320"/>
            <a:ext cx="121920" cy="1097280"/>
          </a:xfrm>
          <a:prstGeom prst="rect">
            <a:avLst/>
          </a:prstGeom>
          <a:solidFill>
            <a:srgbClr val="1E8449"/>
          </a:solidFill>
          <a:ln cap="flat" cmpd="sng" w="1270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g386fa9f7404_4_1077"/>
          <p:cNvSpPr/>
          <p:nvPr/>
        </p:nvSpPr>
        <p:spPr>
          <a:xfrm>
            <a:off x="755904" y="4157472"/>
            <a:ext cx="390144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queue_for_ml_retraining()</a:t>
            </a:r>
            <a:endParaRPr b="0" i="0" sz="1400" u="none" cap="none" strike="noStrike">
              <a:solidFill>
                <a:schemeClr val="dk1"/>
              </a:solidFill>
              <a:latin typeface="Calibri"/>
              <a:ea typeface="Calibri"/>
              <a:cs typeface="Calibri"/>
              <a:sym typeface="Calibri"/>
            </a:endParaRPr>
          </a:p>
        </p:txBody>
      </p:sp>
      <p:sp>
        <p:nvSpPr>
          <p:cNvPr id="1589" name="Google Shape;1589;g386fa9f7404_4_1077"/>
          <p:cNvSpPr/>
          <p:nvPr/>
        </p:nvSpPr>
        <p:spPr>
          <a:xfrm>
            <a:off x="755904" y="4523232"/>
            <a:ext cx="54864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8449"/>
              </a:buClr>
              <a:buSzPts val="1300"/>
              <a:buFont typeface="Calibri"/>
              <a:buNone/>
            </a:pPr>
            <a:r>
              <a:rPr b="0" i="0" lang="en-US" sz="1300" u="none" cap="none" strike="noStrike">
                <a:solidFill>
                  <a:srgbClr val="1E8449"/>
                </a:solidFill>
                <a:latin typeface="Calibri"/>
                <a:ea typeface="Calibri"/>
                <a:cs typeface="Calibri"/>
                <a:sym typeface="Calibri"/>
              </a:rPr>
              <a:t>→  AI / ML Classifier (Module 2)</a:t>
            </a:r>
            <a:endParaRPr b="0" i="0" sz="1300" u="none" cap="none" strike="noStrike">
              <a:solidFill>
                <a:schemeClr val="dk1"/>
              </a:solidFill>
              <a:latin typeface="Calibri"/>
              <a:ea typeface="Calibri"/>
              <a:cs typeface="Calibri"/>
              <a:sym typeface="Calibri"/>
            </a:endParaRPr>
          </a:p>
        </p:txBody>
      </p:sp>
      <p:sp>
        <p:nvSpPr>
          <p:cNvPr id="1590" name="Google Shape;1590;g386fa9f7404_4_1077"/>
          <p:cNvSpPr/>
          <p:nvPr/>
        </p:nvSpPr>
        <p:spPr>
          <a:xfrm>
            <a:off x="755904" y="4840224"/>
            <a:ext cx="54864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1" lang="en-US" sz="1300" u="none" cap="none" strike="noStrike">
                <a:solidFill>
                  <a:srgbClr val="2C3E50"/>
                </a:solidFill>
                <a:latin typeface="Calibri"/>
                <a:ea typeface="Calibri"/>
                <a:cs typeface="Calibri"/>
                <a:sym typeface="Calibri"/>
              </a:rPr>
              <a:t>Behavioral event trace + verdict label (0=clean, 1=malicious)</a:t>
            </a:r>
            <a:endParaRPr b="0" i="0" sz="1300" u="none" cap="none" strike="noStrike">
              <a:solidFill>
                <a:schemeClr val="dk1"/>
              </a:solidFill>
              <a:latin typeface="Calibri"/>
              <a:ea typeface="Calibri"/>
              <a:cs typeface="Calibri"/>
              <a:sym typeface="Calibri"/>
            </a:endParaRPr>
          </a:p>
        </p:txBody>
      </p:sp>
      <p:sp>
        <p:nvSpPr>
          <p:cNvPr id="1591" name="Google Shape;1591;g386fa9f7404_4_1077"/>
          <p:cNvSpPr/>
          <p:nvPr/>
        </p:nvSpPr>
        <p:spPr>
          <a:xfrm>
            <a:off x="6522720" y="4206240"/>
            <a:ext cx="5059680" cy="85344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g386fa9f7404_4_1077"/>
          <p:cNvSpPr/>
          <p:nvPr/>
        </p:nvSpPr>
        <p:spPr>
          <a:xfrm>
            <a:off x="6681216" y="4206240"/>
            <a:ext cx="4779264" cy="853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Effect: ML classifier retrains. Detection accuracy improves over time.</a:t>
            </a:r>
            <a:endParaRPr b="0" i="0" sz="1300" u="none" cap="none" strike="noStrike">
              <a:solidFill>
                <a:schemeClr val="dk1"/>
              </a:solidFill>
              <a:latin typeface="Calibri"/>
              <a:ea typeface="Calibri"/>
              <a:cs typeface="Calibri"/>
              <a:sym typeface="Calibri"/>
            </a:endParaRPr>
          </a:p>
        </p:txBody>
      </p:sp>
      <p:sp>
        <p:nvSpPr>
          <p:cNvPr id="1593" name="Google Shape;1593;g386fa9f7404_4_1077"/>
          <p:cNvSpPr/>
          <p:nvPr/>
        </p:nvSpPr>
        <p:spPr>
          <a:xfrm>
            <a:off x="487680" y="5388864"/>
            <a:ext cx="11216640" cy="707136"/>
          </a:xfrm>
          <a:prstGeom prst="rect">
            <a:avLst/>
          </a:prstGeom>
          <a:solidFill>
            <a:srgbClr val="FDEBD0"/>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g386fa9f7404_4_1077"/>
          <p:cNvSpPr/>
          <p:nvPr/>
        </p:nvSpPr>
        <p:spPr>
          <a:xfrm>
            <a:off x="731520" y="5388864"/>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6F1E"/>
              </a:buClr>
              <a:buSzPts val="1500"/>
              <a:buFont typeface="Calibri"/>
              <a:buNone/>
            </a:pPr>
            <a:r>
              <a:rPr b="0" i="0" lang="en-US" sz="1500" u="none" cap="none" strike="noStrike">
                <a:solidFill>
                  <a:srgbClr val="CA6F1E"/>
                </a:solidFill>
                <a:latin typeface="Calibri"/>
                <a:ea typeface="Calibri"/>
                <a:cs typeface="Calibri"/>
                <a:sym typeface="Calibri"/>
              </a:rPr>
              <a:t>⚠️  All three are NOT_IMPLEMENTED stubs in the notebook. They log what would happen. Integration point when all modules are assembled.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8" name="Shape 1598"/>
        <p:cNvGrpSpPr/>
        <p:nvPr/>
      </p:nvGrpSpPr>
      <p:grpSpPr>
        <a:xfrm>
          <a:off x="0" y="0"/>
          <a:ext cx="0" cy="0"/>
          <a:chOff x="0" y="0"/>
          <a:chExt cx="0" cy="0"/>
        </a:xfrm>
      </p:grpSpPr>
      <p:sp>
        <p:nvSpPr>
          <p:cNvPr id="1599" name="Google Shape;1599;g386fa9f7404_4_1107"/>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g386fa9f7404_4_1107"/>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Custom Sandbox vs Existing Tools — The Full Comparison</a:t>
            </a:r>
            <a:endParaRPr b="0" i="0" sz="2700" u="none" cap="none" strike="noStrike">
              <a:solidFill>
                <a:schemeClr val="dk1"/>
              </a:solidFill>
              <a:latin typeface="Calibri"/>
              <a:ea typeface="Calibri"/>
              <a:cs typeface="Calibri"/>
              <a:sym typeface="Calibri"/>
            </a:endParaRPr>
          </a:p>
        </p:txBody>
      </p:sp>
      <p:sp>
        <p:nvSpPr>
          <p:cNvPr id="1601" name="Google Shape;1601;g386fa9f7404_4_1107"/>
          <p:cNvSpPr/>
          <p:nvPr/>
        </p:nvSpPr>
        <p:spPr>
          <a:xfrm>
            <a:off x="548640" y="1036320"/>
            <a:ext cx="1109472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Why we evaluated existing tools and chose to build from scratch.</a:t>
            </a:r>
            <a:endParaRPr b="0" i="0" sz="1700" u="none" cap="none" strike="noStrike">
              <a:solidFill>
                <a:schemeClr val="dk1"/>
              </a:solidFill>
              <a:latin typeface="Calibri"/>
              <a:ea typeface="Calibri"/>
              <a:cs typeface="Calibri"/>
              <a:sym typeface="Calibri"/>
            </a:endParaRPr>
          </a:p>
        </p:txBody>
      </p:sp>
      <p:sp>
        <p:nvSpPr>
          <p:cNvPr id="1602" name="Google Shape;1602;g386fa9f7404_4_1107"/>
          <p:cNvSpPr/>
          <p:nvPr/>
        </p:nvSpPr>
        <p:spPr>
          <a:xfrm>
            <a:off x="487680" y="1560576"/>
            <a:ext cx="1889760"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g386fa9f7404_4_1107"/>
          <p:cNvSpPr/>
          <p:nvPr/>
        </p:nvSpPr>
        <p:spPr>
          <a:xfrm>
            <a:off x="560832" y="1560576"/>
            <a:ext cx="174345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Tool</a:t>
            </a:r>
            <a:endParaRPr b="0" i="0" sz="1300" u="none" cap="none" strike="noStrike">
              <a:solidFill>
                <a:schemeClr val="dk1"/>
              </a:solidFill>
              <a:latin typeface="Calibri"/>
              <a:ea typeface="Calibri"/>
              <a:cs typeface="Calibri"/>
              <a:sym typeface="Calibri"/>
            </a:endParaRPr>
          </a:p>
        </p:txBody>
      </p:sp>
      <p:sp>
        <p:nvSpPr>
          <p:cNvPr id="1604" name="Google Shape;1604;g386fa9f7404_4_1107"/>
          <p:cNvSpPr/>
          <p:nvPr/>
        </p:nvSpPr>
        <p:spPr>
          <a:xfrm>
            <a:off x="2462784" y="1560576"/>
            <a:ext cx="1828800"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g386fa9f7404_4_1107"/>
          <p:cNvSpPr/>
          <p:nvPr/>
        </p:nvSpPr>
        <p:spPr>
          <a:xfrm>
            <a:off x="2535936" y="1560576"/>
            <a:ext cx="1682496"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Type</a:t>
            </a:r>
            <a:endParaRPr b="0" i="0" sz="1300" u="none" cap="none" strike="noStrike">
              <a:solidFill>
                <a:schemeClr val="dk1"/>
              </a:solidFill>
              <a:latin typeface="Calibri"/>
              <a:ea typeface="Calibri"/>
              <a:cs typeface="Calibri"/>
              <a:sym typeface="Calibri"/>
            </a:endParaRPr>
          </a:p>
        </p:txBody>
      </p:sp>
      <p:sp>
        <p:nvSpPr>
          <p:cNvPr id="1606" name="Google Shape;1606;g386fa9f7404_4_1107"/>
          <p:cNvSpPr/>
          <p:nvPr/>
        </p:nvSpPr>
        <p:spPr>
          <a:xfrm>
            <a:off x="4364736" y="1560576"/>
            <a:ext cx="4169664"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g386fa9f7404_4_1107"/>
          <p:cNvSpPr/>
          <p:nvPr/>
        </p:nvSpPr>
        <p:spPr>
          <a:xfrm>
            <a:off x="4437888" y="1560576"/>
            <a:ext cx="402336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Pros / Cons</a:t>
            </a:r>
            <a:endParaRPr b="0" i="0" sz="1300" u="none" cap="none" strike="noStrike">
              <a:solidFill>
                <a:schemeClr val="dk1"/>
              </a:solidFill>
              <a:latin typeface="Calibri"/>
              <a:ea typeface="Calibri"/>
              <a:cs typeface="Calibri"/>
              <a:sym typeface="Calibri"/>
            </a:endParaRPr>
          </a:p>
        </p:txBody>
      </p:sp>
      <p:sp>
        <p:nvSpPr>
          <p:cNvPr id="1608" name="Google Shape;1608;g386fa9f7404_4_1107"/>
          <p:cNvSpPr/>
          <p:nvPr/>
        </p:nvSpPr>
        <p:spPr>
          <a:xfrm>
            <a:off x="8631936" y="1560576"/>
            <a:ext cx="2584704"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g386fa9f7404_4_1107"/>
          <p:cNvSpPr/>
          <p:nvPr/>
        </p:nvSpPr>
        <p:spPr>
          <a:xfrm>
            <a:off x="8705088" y="1560576"/>
            <a:ext cx="243840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Deployment fit</a:t>
            </a:r>
            <a:endParaRPr b="0" i="0" sz="1300" u="none" cap="none" strike="noStrike">
              <a:solidFill>
                <a:schemeClr val="dk1"/>
              </a:solidFill>
              <a:latin typeface="Calibri"/>
              <a:ea typeface="Calibri"/>
              <a:cs typeface="Calibri"/>
              <a:sym typeface="Calibri"/>
            </a:endParaRPr>
          </a:p>
        </p:txBody>
      </p:sp>
      <p:sp>
        <p:nvSpPr>
          <p:cNvPr id="1610" name="Google Shape;1610;g386fa9f7404_4_1107"/>
          <p:cNvSpPr/>
          <p:nvPr/>
        </p:nvSpPr>
        <p:spPr>
          <a:xfrm>
            <a:off x="11314176" y="1560576"/>
            <a:ext cx="585216" cy="46329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g386fa9f7404_4_1107"/>
          <p:cNvSpPr/>
          <p:nvPr/>
        </p:nvSpPr>
        <p:spPr>
          <a:xfrm>
            <a:off x="11387328" y="1560576"/>
            <a:ext cx="438912"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Go?</a:t>
            </a:r>
            <a:endParaRPr b="0" i="0" sz="1300" u="none" cap="none" strike="noStrike">
              <a:solidFill>
                <a:schemeClr val="dk1"/>
              </a:solidFill>
              <a:latin typeface="Calibri"/>
              <a:ea typeface="Calibri"/>
              <a:cs typeface="Calibri"/>
              <a:sym typeface="Calibri"/>
            </a:endParaRPr>
          </a:p>
        </p:txBody>
      </p:sp>
      <p:sp>
        <p:nvSpPr>
          <p:cNvPr id="1612" name="Google Shape;1612;g386fa9f7404_4_1107"/>
          <p:cNvSpPr/>
          <p:nvPr/>
        </p:nvSpPr>
        <p:spPr>
          <a:xfrm>
            <a:off x="487680" y="2048256"/>
            <a:ext cx="1889760"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g386fa9f7404_4_1107"/>
          <p:cNvSpPr/>
          <p:nvPr/>
        </p:nvSpPr>
        <p:spPr>
          <a:xfrm>
            <a:off x="2462784" y="2048256"/>
            <a:ext cx="1828800"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g386fa9f7404_4_1107"/>
          <p:cNvSpPr/>
          <p:nvPr/>
        </p:nvSpPr>
        <p:spPr>
          <a:xfrm>
            <a:off x="4364736" y="2048256"/>
            <a:ext cx="4169664"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g386fa9f7404_4_1107"/>
          <p:cNvSpPr/>
          <p:nvPr/>
        </p:nvSpPr>
        <p:spPr>
          <a:xfrm>
            <a:off x="8631936" y="2048256"/>
            <a:ext cx="2584704"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g386fa9f7404_4_1107"/>
          <p:cNvSpPr/>
          <p:nvPr/>
        </p:nvSpPr>
        <p:spPr>
          <a:xfrm>
            <a:off x="11314176" y="2048256"/>
            <a:ext cx="585216"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g386fa9f7404_4_1107"/>
          <p:cNvSpPr/>
          <p:nvPr/>
        </p:nvSpPr>
        <p:spPr>
          <a:xfrm>
            <a:off x="560832" y="2048256"/>
            <a:ext cx="174345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Cuckoo Sandbox</a:t>
            </a:r>
            <a:endParaRPr b="0" i="0" sz="1200" u="none" cap="none" strike="noStrike">
              <a:solidFill>
                <a:schemeClr val="dk1"/>
              </a:solidFill>
              <a:latin typeface="Calibri"/>
              <a:ea typeface="Calibri"/>
              <a:cs typeface="Calibri"/>
              <a:sym typeface="Calibri"/>
            </a:endParaRPr>
          </a:p>
        </p:txBody>
      </p:sp>
      <p:sp>
        <p:nvSpPr>
          <p:cNvPr id="1618" name="Google Shape;1618;g386fa9f7404_4_1107"/>
          <p:cNvSpPr/>
          <p:nvPr/>
        </p:nvSpPr>
        <p:spPr>
          <a:xfrm>
            <a:off x="2535936" y="2048256"/>
            <a:ext cx="168249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Open source, VM-based</a:t>
            </a:r>
            <a:endParaRPr b="0" i="0" sz="1100" u="none" cap="none" strike="noStrike">
              <a:solidFill>
                <a:schemeClr val="dk1"/>
              </a:solidFill>
              <a:latin typeface="Calibri"/>
              <a:ea typeface="Calibri"/>
              <a:cs typeface="Calibri"/>
              <a:sym typeface="Calibri"/>
            </a:endParaRPr>
          </a:p>
        </p:txBody>
      </p:sp>
      <p:sp>
        <p:nvSpPr>
          <p:cNvPr id="1619" name="Google Shape;1619;g386fa9f7404_4_1107"/>
          <p:cNvSpPr/>
          <p:nvPr/>
        </p:nvSpPr>
        <p:spPr>
          <a:xfrm>
            <a:off x="4437888" y="2072640"/>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Feature-rich. Strong community. Supports Windows, Linux, Android.</a:t>
            </a:r>
            <a:endParaRPr b="0" i="0" sz="1100" u="none" cap="none" strike="noStrike">
              <a:solidFill>
                <a:schemeClr val="dk1"/>
              </a:solidFill>
              <a:latin typeface="Calibri"/>
              <a:ea typeface="Calibri"/>
              <a:cs typeface="Calibri"/>
              <a:sym typeface="Calibri"/>
            </a:endParaRPr>
          </a:p>
        </p:txBody>
      </p:sp>
      <p:sp>
        <p:nvSpPr>
          <p:cNvPr id="1620" name="Google Shape;1620;g386fa9f7404_4_1107"/>
          <p:cNvSpPr/>
          <p:nvPr/>
        </p:nvSpPr>
        <p:spPr>
          <a:xfrm>
            <a:off x="4437888" y="2389632"/>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 Requires dedicated VMs. 10–30s startup per sample. Last major update 2016. VM infrastructure not viable on edge nodes.</a:t>
            </a:r>
            <a:endParaRPr b="0" i="0" sz="1100" u="none" cap="none" strike="noStrike">
              <a:solidFill>
                <a:schemeClr val="dk1"/>
              </a:solidFill>
              <a:latin typeface="Calibri"/>
              <a:ea typeface="Calibri"/>
              <a:cs typeface="Calibri"/>
              <a:sym typeface="Calibri"/>
            </a:endParaRPr>
          </a:p>
        </p:txBody>
      </p:sp>
      <p:sp>
        <p:nvSpPr>
          <p:cNvPr id="1621" name="Google Shape;1621;g386fa9f7404_4_1107"/>
          <p:cNvSpPr/>
          <p:nvPr/>
        </p:nvSpPr>
        <p:spPr>
          <a:xfrm>
            <a:off x="11314176" y="2048256"/>
            <a:ext cx="585216"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622" name="Google Shape;1622;g386fa9f7404_4_1107"/>
          <p:cNvSpPr/>
          <p:nvPr/>
        </p:nvSpPr>
        <p:spPr>
          <a:xfrm>
            <a:off x="487680" y="2755392"/>
            <a:ext cx="1889760"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g386fa9f7404_4_1107"/>
          <p:cNvSpPr/>
          <p:nvPr/>
        </p:nvSpPr>
        <p:spPr>
          <a:xfrm>
            <a:off x="2462784" y="2755392"/>
            <a:ext cx="1828800"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g386fa9f7404_4_1107"/>
          <p:cNvSpPr/>
          <p:nvPr/>
        </p:nvSpPr>
        <p:spPr>
          <a:xfrm>
            <a:off x="4364736" y="2755392"/>
            <a:ext cx="4169664"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g386fa9f7404_4_1107"/>
          <p:cNvSpPr/>
          <p:nvPr/>
        </p:nvSpPr>
        <p:spPr>
          <a:xfrm>
            <a:off x="8631936" y="2755392"/>
            <a:ext cx="2584704"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g386fa9f7404_4_1107"/>
          <p:cNvSpPr/>
          <p:nvPr/>
        </p:nvSpPr>
        <p:spPr>
          <a:xfrm>
            <a:off x="11314176" y="2755392"/>
            <a:ext cx="585216"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g386fa9f7404_4_1107"/>
          <p:cNvSpPr/>
          <p:nvPr/>
        </p:nvSpPr>
        <p:spPr>
          <a:xfrm>
            <a:off x="560832" y="2755392"/>
            <a:ext cx="174345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DRAKVUF</a:t>
            </a:r>
            <a:endParaRPr b="0" i="0" sz="1200" u="none" cap="none" strike="noStrike">
              <a:solidFill>
                <a:schemeClr val="dk1"/>
              </a:solidFill>
              <a:latin typeface="Calibri"/>
              <a:ea typeface="Calibri"/>
              <a:cs typeface="Calibri"/>
              <a:sym typeface="Calibri"/>
            </a:endParaRPr>
          </a:p>
        </p:txBody>
      </p:sp>
      <p:sp>
        <p:nvSpPr>
          <p:cNvPr id="1628" name="Google Shape;1628;g386fa9f7404_4_1107"/>
          <p:cNvSpPr/>
          <p:nvPr/>
        </p:nvSpPr>
        <p:spPr>
          <a:xfrm>
            <a:off x="2535936" y="2755392"/>
            <a:ext cx="168249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Hypervisor / VMI-based</a:t>
            </a:r>
            <a:endParaRPr b="0" i="0" sz="1100" u="none" cap="none" strike="noStrike">
              <a:solidFill>
                <a:schemeClr val="dk1"/>
              </a:solidFill>
              <a:latin typeface="Calibri"/>
              <a:ea typeface="Calibri"/>
              <a:cs typeface="Calibri"/>
              <a:sym typeface="Calibri"/>
            </a:endParaRPr>
          </a:p>
        </p:txBody>
      </p:sp>
      <p:sp>
        <p:nvSpPr>
          <p:cNvPr id="1629" name="Google Shape;1629;g386fa9f7404_4_1107"/>
          <p:cNvSpPr/>
          <p:nvPr/>
        </p:nvSpPr>
        <p:spPr>
          <a:xfrm>
            <a:off x="4437888" y="2779776"/>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Kernel-level introspection. Stealthier than Cuckoo. Faster than VM-based.</a:t>
            </a:r>
            <a:endParaRPr b="0" i="0" sz="1100" u="none" cap="none" strike="noStrike">
              <a:solidFill>
                <a:schemeClr val="dk1"/>
              </a:solidFill>
              <a:latin typeface="Calibri"/>
              <a:ea typeface="Calibri"/>
              <a:cs typeface="Calibri"/>
              <a:sym typeface="Calibri"/>
            </a:endParaRPr>
          </a:p>
        </p:txBody>
      </p:sp>
      <p:sp>
        <p:nvSpPr>
          <p:cNvPr id="1630" name="Google Shape;1630;g386fa9f7404_4_1107"/>
          <p:cNvSpPr/>
          <p:nvPr/>
        </p:nvSpPr>
        <p:spPr>
          <a:xfrm>
            <a:off x="4437888" y="3096768"/>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 Requires Intel VT-x + EPT hardware. Xen hypervisor dependency. Cannot run on AWS/GCP/Azure. Complex setup.</a:t>
            </a:r>
            <a:endParaRPr b="0" i="0" sz="1100" u="none" cap="none" strike="noStrike">
              <a:solidFill>
                <a:schemeClr val="dk1"/>
              </a:solidFill>
              <a:latin typeface="Calibri"/>
              <a:ea typeface="Calibri"/>
              <a:cs typeface="Calibri"/>
              <a:sym typeface="Calibri"/>
            </a:endParaRPr>
          </a:p>
        </p:txBody>
      </p:sp>
      <p:sp>
        <p:nvSpPr>
          <p:cNvPr id="1631" name="Google Shape;1631;g386fa9f7404_4_1107"/>
          <p:cNvSpPr/>
          <p:nvPr/>
        </p:nvSpPr>
        <p:spPr>
          <a:xfrm>
            <a:off x="11314176" y="2755392"/>
            <a:ext cx="585216"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632" name="Google Shape;1632;g386fa9f7404_4_1107"/>
          <p:cNvSpPr/>
          <p:nvPr/>
        </p:nvSpPr>
        <p:spPr>
          <a:xfrm>
            <a:off x="487680" y="3462528"/>
            <a:ext cx="1889760"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g386fa9f7404_4_1107"/>
          <p:cNvSpPr/>
          <p:nvPr/>
        </p:nvSpPr>
        <p:spPr>
          <a:xfrm>
            <a:off x="2462784" y="3462528"/>
            <a:ext cx="1828800"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g386fa9f7404_4_1107"/>
          <p:cNvSpPr/>
          <p:nvPr/>
        </p:nvSpPr>
        <p:spPr>
          <a:xfrm>
            <a:off x="4364736" y="3462528"/>
            <a:ext cx="4169664"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g386fa9f7404_4_1107"/>
          <p:cNvSpPr/>
          <p:nvPr/>
        </p:nvSpPr>
        <p:spPr>
          <a:xfrm>
            <a:off x="8631936" y="3462528"/>
            <a:ext cx="2584704"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g386fa9f7404_4_1107"/>
          <p:cNvSpPr/>
          <p:nvPr/>
        </p:nvSpPr>
        <p:spPr>
          <a:xfrm>
            <a:off x="11314176" y="3462528"/>
            <a:ext cx="585216" cy="67056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g386fa9f7404_4_1107"/>
          <p:cNvSpPr/>
          <p:nvPr/>
        </p:nvSpPr>
        <p:spPr>
          <a:xfrm>
            <a:off x="560832" y="3462528"/>
            <a:ext cx="174345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ANY.RUN</a:t>
            </a:r>
            <a:endParaRPr b="0" i="0" sz="1200" u="none" cap="none" strike="noStrike">
              <a:solidFill>
                <a:schemeClr val="dk1"/>
              </a:solidFill>
              <a:latin typeface="Calibri"/>
              <a:ea typeface="Calibri"/>
              <a:cs typeface="Calibri"/>
              <a:sym typeface="Calibri"/>
            </a:endParaRPr>
          </a:p>
        </p:txBody>
      </p:sp>
      <p:sp>
        <p:nvSpPr>
          <p:cNvPr id="1638" name="Google Shape;1638;g386fa9f7404_4_1107"/>
          <p:cNvSpPr/>
          <p:nvPr/>
        </p:nvSpPr>
        <p:spPr>
          <a:xfrm>
            <a:off x="2535936" y="3462528"/>
            <a:ext cx="168249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Cloud / Interactive</a:t>
            </a:r>
            <a:endParaRPr b="0" i="0" sz="1100" u="none" cap="none" strike="noStrike">
              <a:solidFill>
                <a:schemeClr val="dk1"/>
              </a:solidFill>
              <a:latin typeface="Calibri"/>
              <a:ea typeface="Calibri"/>
              <a:cs typeface="Calibri"/>
              <a:sym typeface="Calibri"/>
            </a:endParaRPr>
          </a:p>
        </p:txBody>
      </p:sp>
      <p:sp>
        <p:nvSpPr>
          <p:cNvPr id="1639" name="Google Shape;1639;g386fa9f7404_4_1107"/>
          <p:cNvSpPr/>
          <p:nvPr/>
        </p:nvSpPr>
        <p:spPr>
          <a:xfrm>
            <a:off x="4437888" y="3486912"/>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Easy to use. Real-time interactive. Good for ad-hoc analysis.</a:t>
            </a:r>
            <a:endParaRPr b="0" i="0" sz="1100" u="none" cap="none" strike="noStrike">
              <a:solidFill>
                <a:schemeClr val="dk1"/>
              </a:solidFill>
              <a:latin typeface="Calibri"/>
              <a:ea typeface="Calibri"/>
              <a:cs typeface="Calibri"/>
              <a:sym typeface="Calibri"/>
            </a:endParaRPr>
          </a:p>
        </p:txBody>
      </p:sp>
      <p:sp>
        <p:nvSpPr>
          <p:cNvPr id="1640" name="Google Shape;1640;g386fa9f7404_4_1107"/>
          <p:cNvSpPr/>
          <p:nvPr/>
        </p:nvSpPr>
        <p:spPr>
          <a:xfrm>
            <a:off x="4437888" y="3803904"/>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 Cloud-only. No offline/edge deployment. Data privacy concern for classified drone feeds.</a:t>
            </a:r>
            <a:endParaRPr b="0" i="0" sz="1100" u="none" cap="none" strike="noStrike">
              <a:solidFill>
                <a:schemeClr val="dk1"/>
              </a:solidFill>
              <a:latin typeface="Calibri"/>
              <a:ea typeface="Calibri"/>
              <a:cs typeface="Calibri"/>
              <a:sym typeface="Calibri"/>
            </a:endParaRPr>
          </a:p>
        </p:txBody>
      </p:sp>
      <p:sp>
        <p:nvSpPr>
          <p:cNvPr id="1641" name="Google Shape;1641;g386fa9f7404_4_1107"/>
          <p:cNvSpPr/>
          <p:nvPr/>
        </p:nvSpPr>
        <p:spPr>
          <a:xfrm>
            <a:off x="11314176" y="3462528"/>
            <a:ext cx="585216"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642" name="Google Shape;1642;g386fa9f7404_4_1107"/>
          <p:cNvSpPr/>
          <p:nvPr/>
        </p:nvSpPr>
        <p:spPr>
          <a:xfrm>
            <a:off x="487680" y="4169664"/>
            <a:ext cx="1889760"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g386fa9f7404_4_1107"/>
          <p:cNvSpPr/>
          <p:nvPr/>
        </p:nvSpPr>
        <p:spPr>
          <a:xfrm>
            <a:off x="2462784" y="4169664"/>
            <a:ext cx="1828800"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g386fa9f7404_4_1107"/>
          <p:cNvSpPr/>
          <p:nvPr/>
        </p:nvSpPr>
        <p:spPr>
          <a:xfrm>
            <a:off x="4364736" y="4169664"/>
            <a:ext cx="4169664"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g386fa9f7404_4_1107"/>
          <p:cNvSpPr/>
          <p:nvPr/>
        </p:nvSpPr>
        <p:spPr>
          <a:xfrm>
            <a:off x="8631936" y="4169664"/>
            <a:ext cx="2584704"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g386fa9f7404_4_1107"/>
          <p:cNvSpPr/>
          <p:nvPr/>
        </p:nvSpPr>
        <p:spPr>
          <a:xfrm>
            <a:off x="11314176" y="4169664"/>
            <a:ext cx="585216" cy="670560"/>
          </a:xfrm>
          <a:prstGeom prst="rect">
            <a:avLst/>
          </a:prstGeom>
          <a:solidFill>
            <a:srgbClr val="FFFFFF"/>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g386fa9f7404_4_1107"/>
          <p:cNvSpPr/>
          <p:nvPr/>
        </p:nvSpPr>
        <p:spPr>
          <a:xfrm>
            <a:off x="560832" y="4169664"/>
            <a:ext cx="174345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200"/>
              <a:buFont typeface="Calibri"/>
              <a:buNone/>
            </a:pPr>
            <a:r>
              <a:rPr b="0" i="0" lang="en-US" sz="1200" u="none" cap="none" strike="noStrike">
                <a:solidFill>
                  <a:srgbClr val="1B3A5C"/>
                </a:solidFill>
                <a:latin typeface="Calibri"/>
                <a:ea typeface="Calibri"/>
                <a:cs typeface="Calibri"/>
                <a:sym typeface="Calibri"/>
              </a:rPr>
              <a:t>Joe Sandbox</a:t>
            </a:r>
            <a:endParaRPr b="0" i="0" sz="1200" u="none" cap="none" strike="noStrike">
              <a:solidFill>
                <a:schemeClr val="dk1"/>
              </a:solidFill>
              <a:latin typeface="Calibri"/>
              <a:ea typeface="Calibri"/>
              <a:cs typeface="Calibri"/>
              <a:sym typeface="Calibri"/>
            </a:endParaRPr>
          </a:p>
        </p:txBody>
      </p:sp>
      <p:sp>
        <p:nvSpPr>
          <p:cNvPr id="1648" name="Google Shape;1648;g386fa9f7404_4_1107"/>
          <p:cNvSpPr/>
          <p:nvPr/>
        </p:nvSpPr>
        <p:spPr>
          <a:xfrm>
            <a:off x="2535936" y="4169664"/>
            <a:ext cx="168249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Commercial / Enterprise</a:t>
            </a:r>
            <a:endParaRPr b="0" i="0" sz="1100" u="none" cap="none" strike="noStrike">
              <a:solidFill>
                <a:schemeClr val="dk1"/>
              </a:solidFill>
              <a:latin typeface="Calibri"/>
              <a:ea typeface="Calibri"/>
              <a:cs typeface="Calibri"/>
              <a:sym typeface="Calibri"/>
            </a:endParaRPr>
          </a:p>
        </p:txBody>
      </p:sp>
      <p:sp>
        <p:nvSpPr>
          <p:cNvPr id="1649" name="Google Shape;1649;g386fa9f7404_4_1107"/>
          <p:cNvSpPr/>
          <p:nvPr/>
        </p:nvSpPr>
        <p:spPr>
          <a:xfrm>
            <a:off x="4437888" y="4194048"/>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Comprehensive multi-platform analysis. Enterprise-grade.</a:t>
            </a:r>
            <a:endParaRPr b="0" i="0" sz="1100" u="none" cap="none" strike="noStrike">
              <a:solidFill>
                <a:schemeClr val="dk1"/>
              </a:solidFill>
              <a:latin typeface="Calibri"/>
              <a:ea typeface="Calibri"/>
              <a:cs typeface="Calibri"/>
              <a:sym typeface="Calibri"/>
            </a:endParaRPr>
          </a:p>
        </p:txBody>
      </p:sp>
      <p:sp>
        <p:nvSpPr>
          <p:cNvPr id="1650" name="Google Shape;1650;g386fa9f7404_4_1107"/>
          <p:cNvSpPr/>
          <p:nvPr/>
        </p:nvSpPr>
        <p:spPr>
          <a:xfrm>
            <a:off x="4437888" y="4511040"/>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 Expensive. Closed-source. General-purpose — no integration with our custom Estimator module.</a:t>
            </a:r>
            <a:endParaRPr b="0" i="0" sz="1100" u="none" cap="none" strike="noStrike">
              <a:solidFill>
                <a:schemeClr val="dk1"/>
              </a:solidFill>
              <a:latin typeface="Calibri"/>
              <a:ea typeface="Calibri"/>
              <a:cs typeface="Calibri"/>
              <a:sym typeface="Calibri"/>
            </a:endParaRPr>
          </a:p>
        </p:txBody>
      </p:sp>
      <p:sp>
        <p:nvSpPr>
          <p:cNvPr id="1651" name="Google Shape;1651;g386fa9f7404_4_1107"/>
          <p:cNvSpPr/>
          <p:nvPr/>
        </p:nvSpPr>
        <p:spPr>
          <a:xfrm>
            <a:off x="11314176" y="4169664"/>
            <a:ext cx="585216"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652" name="Google Shape;1652;g386fa9f7404_4_1107"/>
          <p:cNvSpPr/>
          <p:nvPr/>
        </p:nvSpPr>
        <p:spPr>
          <a:xfrm>
            <a:off x="487680" y="4876800"/>
            <a:ext cx="1889760" cy="670560"/>
          </a:xfrm>
          <a:prstGeom prst="rect">
            <a:avLst/>
          </a:prstGeom>
          <a:solidFill>
            <a:srgbClr val="D5F5E3"/>
          </a:solidFill>
          <a:ln cap="flat" cmpd="sng" w="1905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g386fa9f7404_4_1107"/>
          <p:cNvSpPr/>
          <p:nvPr/>
        </p:nvSpPr>
        <p:spPr>
          <a:xfrm>
            <a:off x="2462784" y="4876800"/>
            <a:ext cx="1828800" cy="670560"/>
          </a:xfrm>
          <a:prstGeom prst="rect">
            <a:avLst/>
          </a:prstGeom>
          <a:solidFill>
            <a:srgbClr val="D5F5E3"/>
          </a:solidFill>
          <a:ln cap="flat" cmpd="sng" w="1905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g386fa9f7404_4_1107"/>
          <p:cNvSpPr/>
          <p:nvPr/>
        </p:nvSpPr>
        <p:spPr>
          <a:xfrm>
            <a:off x="4364736" y="4876800"/>
            <a:ext cx="4169664" cy="670560"/>
          </a:xfrm>
          <a:prstGeom prst="rect">
            <a:avLst/>
          </a:prstGeom>
          <a:solidFill>
            <a:srgbClr val="D5F5E3"/>
          </a:solidFill>
          <a:ln cap="flat" cmpd="sng" w="1905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g386fa9f7404_4_1107"/>
          <p:cNvSpPr/>
          <p:nvPr/>
        </p:nvSpPr>
        <p:spPr>
          <a:xfrm>
            <a:off x="8631936" y="4876800"/>
            <a:ext cx="2584704" cy="670560"/>
          </a:xfrm>
          <a:prstGeom prst="rect">
            <a:avLst/>
          </a:prstGeom>
          <a:solidFill>
            <a:srgbClr val="D5F5E3"/>
          </a:solidFill>
          <a:ln cap="flat" cmpd="sng" w="1905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g386fa9f7404_4_1107"/>
          <p:cNvSpPr/>
          <p:nvPr/>
        </p:nvSpPr>
        <p:spPr>
          <a:xfrm>
            <a:off x="11314176" y="4876800"/>
            <a:ext cx="585216" cy="670560"/>
          </a:xfrm>
          <a:prstGeom prst="rect">
            <a:avLst/>
          </a:prstGeom>
          <a:solidFill>
            <a:srgbClr val="D5F5E3"/>
          </a:solidFill>
          <a:ln cap="flat" cmpd="sng" w="19050">
            <a:solidFill>
              <a:srgbClr val="1E8449"/>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g386fa9f7404_4_1107"/>
          <p:cNvSpPr/>
          <p:nvPr/>
        </p:nvSpPr>
        <p:spPr>
          <a:xfrm>
            <a:off x="560832" y="4876800"/>
            <a:ext cx="174345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8449"/>
              </a:buClr>
              <a:buSzPts val="1200"/>
              <a:buFont typeface="Calibri"/>
              <a:buNone/>
            </a:pPr>
            <a:r>
              <a:rPr b="1" i="0" lang="en-US" sz="1200" u="none" cap="none" strike="noStrike">
                <a:solidFill>
                  <a:srgbClr val="1E8449"/>
                </a:solidFill>
                <a:latin typeface="Calibri"/>
                <a:ea typeface="Calibri"/>
                <a:cs typeface="Calibri"/>
                <a:sym typeface="Calibri"/>
              </a:rPr>
              <a:t>Our Custom Sandbox</a:t>
            </a:r>
            <a:endParaRPr b="0" i="0" sz="1200" u="none" cap="none" strike="noStrike">
              <a:solidFill>
                <a:schemeClr val="dk1"/>
              </a:solidFill>
              <a:latin typeface="Calibri"/>
              <a:ea typeface="Calibri"/>
              <a:cs typeface="Calibri"/>
              <a:sym typeface="Calibri"/>
            </a:endParaRPr>
          </a:p>
        </p:txBody>
      </p:sp>
      <p:sp>
        <p:nvSpPr>
          <p:cNvPr id="1658" name="Google Shape;1658;g386fa9f7404_4_1107"/>
          <p:cNvSpPr/>
          <p:nvPr/>
        </p:nvSpPr>
        <p:spPr>
          <a:xfrm>
            <a:off x="2535936" y="4876800"/>
            <a:ext cx="1682496" cy="670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Purpose-built, process-level</a:t>
            </a:r>
            <a:endParaRPr b="0" i="0" sz="1100" u="none" cap="none" strike="noStrike">
              <a:solidFill>
                <a:schemeClr val="dk1"/>
              </a:solidFill>
              <a:latin typeface="Calibri"/>
              <a:ea typeface="Calibri"/>
              <a:cs typeface="Calibri"/>
              <a:sym typeface="Calibri"/>
            </a:endParaRPr>
          </a:p>
        </p:txBody>
      </p:sp>
      <p:sp>
        <p:nvSpPr>
          <p:cNvPr id="1659" name="Google Shape;1659;g386fa9f7404_4_1107"/>
          <p:cNvSpPr/>
          <p:nvPr/>
        </p:nvSpPr>
        <p:spPr>
          <a:xfrm>
            <a:off x="4437888" y="4901184"/>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100"/>
              <a:buFont typeface="Calibri"/>
              <a:buNone/>
            </a:pPr>
            <a:r>
              <a:rPr b="0" i="0" lang="en-US" sz="1100" u="none" cap="none" strike="noStrike">
                <a:solidFill>
                  <a:srgbClr val="2C3E50"/>
                </a:solidFill>
                <a:latin typeface="Calibri"/>
                <a:ea typeface="Calibri"/>
                <a:cs typeface="Calibri"/>
                <a:sym typeface="Calibri"/>
              </a:rPr>
              <a:t>✓ Zero startup overhead. Runs on any Linux edge node. Directly integrated with Estimator. Full /proc monitoring.</a:t>
            </a:r>
            <a:endParaRPr b="0" i="0" sz="1100" u="none" cap="none" strike="noStrike">
              <a:solidFill>
                <a:schemeClr val="dk1"/>
              </a:solidFill>
              <a:latin typeface="Calibri"/>
              <a:ea typeface="Calibri"/>
              <a:cs typeface="Calibri"/>
              <a:sym typeface="Calibri"/>
            </a:endParaRPr>
          </a:p>
        </p:txBody>
      </p:sp>
      <p:sp>
        <p:nvSpPr>
          <p:cNvPr id="1660" name="Google Shape;1660;g386fa9f7404_4_1107"/>
          <p:cNvSpPr/>
          <p:nvPr/>
        </p:nvSpPr>
        <p:spPr>
          <a:xfrm>
            <a:off x="4437888" y="5218176"/>
            <a:ext cx="402336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0" lang="en-US" sz="1100" u="none" cap="none" strike="noStrike">
                <a:solidFill>
                  <a:srgbClr val="717D7E"/>
                </a:solidFill>
                <a:latin typeface="Calibri"/>
                <a:ea typeface="Calibri"/>
                <a:cs typeface="Calibri"/>
                <a:sym typeface="Calibri"/>
              </a:rPr>
              <a:t>✗ Process-level (not VM-level) isolation. Windows PE files not yet supported.</a:t>
            </a:r>
            <a:endParaRPr b="0" i="0" sz="1100" u="none" cap="none" strike="noStrike">
              <a:solidFill>
                <a:schemeClr val="dk1"/>
              </a:solidFill>
              <a:latin typeface="Calibri"/>
              <a:ea typeface="Calibri"/>
              <a:cs typeface="Calibri"/>
              <a:sym typeface="Calibri"/>
            </a:endParaRPr>
          </a:p>
        </p:txBody>
      </p:sp>
      <p:sp>
        <p:nvSpPr>
          <p:cNvPr id="1661" name="Google Shape;1661;g386fa9f7404_4_1107"/>
          <p:cNvSpPr/>
          <p:nvPr/>
        </p:nvSpPr>
        <p:spPr>
          <a:xfrm>
            <a:off x="11314176" y="4876800"/>
            <a:ext cx="585216" cy="6705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662" name="Google Shape;1662;g386fa9f7404_4_1107"/>
          <p:cNvSpPr/>
          <p:nvPr/>
        </p:nvSpPr>
        <p:spPr>
          <a:xfrm>
            <a:off x="487680" y="5608320"/>
            <a:ext cx="11216640" cy="316992"/>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g386fa9f7404_4_1107"/>
          <p:cNvSpPr/>
          <p:nvPr/>
        </p:nvSpPr>
        <p:spPr>
          <a:xfrm>
            <a:off x="585216" y="5608320"/>
            <a:ext cx="10972800" cy="3169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 Melvin &amp; Kathrine (2021) DRAKVUF vs Cuckoo — doi.org/10.1007/978-981-15-5285-4_27  |  DRAKVUF GitHub — github.com/CERT-Polska/drakvuf-sandbox</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4FB"/>
        </a:solidFill>
      </p:bgPr>
    </p:bg>
    <p:spTree>
      <p:nvGrpSpPr>
        <p:cNvPr id="1667" name="Shape 1667"/>
        <p:cNvGrpSpPr/>
        <p:nvPr/>
      </p:nvGrpSpPr>
      <p:grpSpPr>
        <a:xfrm>
          <a:off x="0" y="0"/>
          <a:ext cx="0" cy="0"/>
          <a:chOff x="0" y="0"/>
          <a:chExt cx="0" cy="0"/>
        </a:xfrm>
      </p:grpSpPr>
      <p:sp>
        <p:nvSpPr>
          <p:cNvPr id="1668" name="Google Shape;1668;g386fa9f7404_4_1175"/>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g386fa9f7404_4_1175"/>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Module Boundaries — What Is Ours vs What Connects</a:t>
            </a:r>
            <a:endParaRPr b="0" i="0" sz="2700" u="none" cap="none" strike="noStrike">
              <a:solidFill>
                <a:schemeClr val="dk1"/>
              </a:solidFill>
              <a:latin typeface="Calibri"/>
              <a:ea typeface="Calibri"/>
              <a:cs typeface="Calibri"/>
              <a:sym typeface="Calibri"/>
            </a:endParaRPr>
          </a:p>
        </p:txBody>
      </p:sp>
      <p:sp>
        <p:nvSpPr>
          <p:cNvPr id="1670" name="Google Shape;1670;g386fa9f7404_4_1175"/>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The sandbox is self-contained. One input, one output, three outbound stubs to other modules.</a:t>
            </a:r>
            <a:endParaRPr b="0" i="0" sz="1700" u="none" cap="none" strike="noStrike">
              <a:solidFill>
                <a:schemeClr val="dk1"/>
              </a:solidFill>
              <a:latin typeface="Calibri"/>
              <a:ea typeface="Calibri"/>
              <a:cs typeface="Calibri"/>
              <a:sym typeface="Calibri"/>
            </a:endParaRPr>
          </a:p>
        </p:txBody>
      </p:sp>
      <p:sp>
        <p:nvSpPr>
          <p:cNvPr id="1671" name="Google Shape;1671;g386fa9f7404_4_1175"/>
          <p:cNvSpPr/>
          <p:nvPr/>
        </p:nvSpPr>
        <p:spPr>
          <a:xfrm>
            <a:off x="487680" y="1645920"/>
            <a:ext cx="11216640" cy="731520"/>
          </a:xfrm>
          <a:prstGeom prst="rect">
            <a:avLst/>
          </a:prstGeom>
          <a:solidFill>
            <a:srgbClr val="FFFFFF"/>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g386fa9f7404_4_1175"/>
          <p:cNvSpPr/>
          <p:nvPr/>
        </p:nvSpPr>
        <p:spPr>
          <a:xfrm>
            <a:off x="707136" y="1645920"/>
            <a:ext cx="14630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Called by:</a:t>
            </a:r>
            <a:endParaRPr b="0" i="0" sz="1500" u="none" cap="none" strike="noStrike">
              <a:solidFill>
                <a:schemeClr val="dk1"/>
              </a:solidFill>
              <a:latin typeface="Calibri"/>
              <a:ea typeface="Calibri"/>
              <a:cs typeface="Calibri"/>
              <a:sym typeface="Calibri"/>
            </a:endParaRPr>
          </a:p>
        </p:txBody>
      </p:sp>
      <p:sp>
        <p:nvSpPr>
          <p:cNvPr id="1673" name="Google Shape;1673;g386fa9f7404_4_1175"/>
          <p:cNvSpPr/>
          <p:nvPr/>
        </p:nvSpPr>
        <p:spPr>
          <a:xfrm>
            <a:off x="2292096" y="1645920"/>
            <a:ext cx="920496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500"/>
              <a:buFont typeface="Calibri"/>
              <a:buNone/>
            </a:pPr>
            <a:r>
              <a:rPr b="0" i="0" lang="en-US" sz="1500" u="none" cap="none" strike="noStrike">
                <a:solidFill>
                  <a:srgbClr val="2C3E50"/>
                </a:solidFill>
                <a:latin typeface="Calibri"/>
                <a:ea typeface="Calibri"/>
                <a:cs typeface="Calibri"/>
                <a:sym typeface="Calibri"/>
              </a:rPr>
              <a:t>Inspection Strategy Selector  →  SandboxAnalyzer.analyze(file_path, drone_id='DRONE_01')  when threat score is HIGH</a:t>
            </a:r>
            <a:endParaRPr b="0" i="0" sz="1500" u="none" cap="none" strike="noStrike">
              <a:solidFill>
                <a:schemeClr val="dk1"/>
              </a:solidFill>
              <a:latin typeface="Calibri"/>
              <a:ea typeface="Calibri"/>
              <a:cs typeface="Calibri"/>
              <a:sym typeface="Calibri"/>
            </a:endParaRPr>
          </a:p>
        </p:txBody>
      </p:sp>
      <p:sp>
        <p:nvSpPr>
          <p:cNvPr id="1674" name="Google Shape;1674;g386fa9f7404_4_1175"/>
          <p:cNvSpPr/>
          <p:nvPr/>
        </p:nvSpPr>
        <p:spPr>
          <a:xfrm>
            <a:off x="487680" y="2499360"/>
            <a:ext cx="11216640" cy="731520"/>
          </a:xfrm>
          <a:prstGeom prst="rect">
            <a:avLst/>
          </a:prstGeom>
          <a:solidFill>
            <a:srgbClr val="FFFFFF"/>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g386fa9f7404_4_1175"/>
          <p:cNvSpPr/>
          <p:nvPr/>
        </p:nvSpPr>
        <p:spPr>
          <a:xfrm>
            <a:off x="707136" y="2499360"/>
            <a:ext cx="14630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1" i="0" lang="en-US" sz="1500" u="none" cap="none" strike="noStrike">
                <a:solidFill>
                  <a:srgbClr val="1B3A5C"/>
                </a:solidFill>
                <a:latin typeface="Calibri"/>
                <a:ea typeface="Calibri"/>
                <a:cs typeface="Calibri"/>
                <a:sym typeface="Calibri"/>
              </a:rPr>
              <a:t>Returns:</a:t>
            </a:r>
            <a:endParaRPr b="0" i="0" sz="1500" u="none" cap="none" strike="noStrike">
              <a:solidFill>
                <a:schemeClr val="dk1"/>
              </a:solidFill>
              <a:latin typeface="Calibri"/>
              <a:ea typeface="Calibri"/>
              <a:cs typeface="Calibri"/>
              <a:sym typeface="Calibri"/>
            </a:endParaRPr>
          </a:p>
        </p:txBody>
      </p:sp>
      <p:sp>
        <p:nvSpPr>
          <p:cNvPr id="1676" name="Google Shape;1676;g386fa9f7404_4_1175"/>
          <p:cNvSpPr/>
          <p:nvPr/>
        </p:nvSpPr>
        <p:spPr>
          <a:xfrm>
            <a:off x="2292096" y="2499360"/>
            <a:ext cx="920496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500"/>
              <a:buFont typeface="Calibri"/>
              <a:buNone/>
            </a:pPr>
            <a:r>
              <a:rPr b="0" i="0" lang="en-US" sz="1500" u="none" cap="none" strike="noStrike">
                <a:solidFill>
                  <a:srgbClr val="2C3E50"/>
                </a:solidFill>
                <a:latin typeface="Calibri"/>
                <a:ea typeface="Calibri"/>
                <a:cs typeface="Calibri"/>
                <a:sym typeface="Calibri"/>
              </a:rPr>
              <a:t>SandboxReport  →  verdict, risk_score, action (string), events (full log), ioc_result, file_hash, duration_sec</a:t>
            </a:r>
            <a:endParaRPr b="0" i="0" sz="1500" u="none" cap="none" strike="noStrike">
              <a:solidFill>
                <a:schemeClr val="dk1"/>
              </a:solidFill>
              <a:latin typeface="Calibri"/>
              <a:ea typeface="Calibri"/>
              <a:cs typeface="Calibri"/>
              <a:sym typeface="Calibri"/>
            </a:endParaRPr>
          </a:p>
        </p:txBody>
      </p:sp>
      <p:sp>
        <p:nvSpPr>
          <p:cNvPr id="1677" name="Google Shape;1677;g386fa9f7404_4_1175"/>
          <p:cNvSpPr/>
          <p:nvPr/>
        </p:nvSpPr>
        <p:spPr>
          <a:xfrm>
            <a:off x="487680" y="3438144"/>
            <a:ext cx="11216640" cy="60960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g386fa9f7404_4_1175"/>
          <p:cNvSpPr/>
          <p:nvPr/>
        </p:nvSpPr>
        <p:spPr>
          <a:xfrm>
            <a:off x="707136" y="3438144"/>
            <a:ext cx="4486656"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query_threat_intelligence_correlator()</a:t>
            </a:r>
            <a:endParaRPr b="0" i="0" sz="1300" u="none" cap="none" strike="noStrike">
              <a:solidFill>
                <a:schemeClr val="dk1"/>
              </a:solidFill>
              <a:latin typeface="Calibri"/>
              <a:ea typeface="Calibri"/>
              <a:cs typeface="Calibri"/>
              <a:sym typeface="Calibri"/>
            </a:endParaRPr>
          </a:p>
        </p:txBody>
      </p:sp>
      <p:sp>
        <p:nvSpPr>
          <p:cNvPr id="1679" name="Google Shape;1679;g386fa9f7404_4_1175"/>
          <p:cNvSpPr/>
          <p:nvPr/>
        </p:nvSpPr>
        <p:spPr>
          <a:xfrm>
            <a:off x="5266944" y="3438144"/>
            <a:ext cx="43281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Threat Intelligence Correlator (Module 8)</a:t>
            </a:r>
            <a:endParaRPr b="0" i="0" sz="1300" u="none" cap="none" strike="noStrike">
              <a:solidFill>
                <a:schemeClr val="dk1"/>
              </a:solidFill>
              <a:latin typeface="Calibri"/>
              <a:ea typeface="Calibri"/>
              <a:cs typeface="Calibri"/>
              <a:sym typeface="Calibri"/>
            </a:endParaRPr>
          </a:p>
        </p:txBody>
      </p:sp>
      <p:sp>
        <p:nvSpPr>
          <p:cNvPr id="1680" name="Google Shape;1680;g386fa9f7404_4_1175"/>
          <p:cNvSpPr/>
          <p:nvPr/>
        </p:nvSpPr>
        <p:spPr>
          <a:xfrm>
            <a:off x="9851136" y="3560064"/>
            <a:ext cx="1731264" cy="365760"/>
          </a:xfrm>
          <a:prstGeom prst="rect">
            <a:avLst/>
          </a:prstGeom>
          <a:solidFill>
            <a:srgbClr val="FDEBD0"/>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g386fa9f7404_4_1175"/>
          <p:cNvSpPr/>
          <p:nvPr/>
        </p:nvSpPr>
        <p:spPr>
          <a:xfrm>
            <a:off x="9851136" y="3560064"/>
            <a:ext cx="1731264"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000"/>
              <a:buFont typeface="Calibri"/>
              <a:buNone/>
            </a:pPr>
            <a:r>
              <a:rPr b="1" i="0" lang="en-US" sz="1000" u="none" cap="none" strike="noStrike">
                <a:solidFill>
                  <a:srgbClr val="CA6F1E"/>
                </a:solidFill>
                <a:latin typeface="Calibri"/>
                <a:ea typeface="Calibri"/>
                <a:cs typeface="Calibri"/>
                <a:sym typeface="Calibri"/>
              </a:rPr>
              <a:t>NOT_IMPLEMENTED</a:t>
            </a:r>
            <a:endParaRPr b="0" i="0" sz="1000" u="none" cap="none" strike="noStrike">
              <a:solidFill>
                <a:schemeClr val="dk1"/>
              </a:solidFill>
              <a:latin typeface="Calibri"/>
              <a:ea typeface="Calibri"/>
              <a:cs typeface="Calibri"/>
              <a:sym typeface="Calibri"/>
            </a:endParaRPr>
          </a:p>
        </p:txBody>
      </p:sp>
      <p:sp>
        <p:nvSpPr>
          <p:cNvPr id="1682" name="Google Shape;1682;g386fa9f7404_4_1175"/>
          <p:cNvSpPr/>
          <p:nvPr/>
        </p:nvSpPr>
        <p:spPr>
          <a:xfrm>
            <a:off x="487680" y="4120896"/>
            <a:ext cx="11216640" cy="60960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g386fa9f7404_4_1175"/>
          <p:cNvSpPr/>
          <p:nvPr/>
        </p:nvSpPr>
        <p:spPr>
          <a:xfrm>
            <a:off x="707136" y="4120896"/>
            <a:ext cx="4486656"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notify_response_manager()</a:t>
            </a:r>
            <a:endParaRPr b="0" i="0" sz="1300" u="none" cap="none" strike="noStrike">
              <a:solidFill>
                <a:schemeClr val="dk1"/>
              </a:solidFill>
              <a:latin typeface="Calibri"/>
              <a:ea typeface="Calibri"/>
              <a:cs typeface="Calibri"/>
              <a:sym typeface="Calibri"/>
            </a:endParaRPr>
          </a:p>
        </p:txBody>
      </p:sp>
      <p:sp>
        <p:nvSpPr>
          <p:cNvPr id="1684" name="Google Shape;1684;g386fa9f7404_4_1175"/>
          <p:cNvSpPr/>
          <p:nvPr/>
        </p:nvSpPr>
        <p:spPr>
          <a:xfrm>
            <a:off x="5266944" y="4120896"/>
            <a:ext cx="43281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Response &amp; Quarantine Manager (Module 9)</a:t>
            </a:r>
            <a:endParaRPr b="0" i="0" sz="1300" u="none" cap="none" strike="noStrike">
              <a:solidFill>
                <a:schemeClr val="dk1"/>
              </a:solidFill>
              <a:latin typeface="Calibri"/>
              <a:ea typeface="Calibri"/>
              <a:cs typeface="Calibri"/>
              <a:sym typeface="Calibri"/>
            </a:endParaRPr>
          </a:p>
        </p:txBody>
      </p:sp>
      <p:sp>
        <p:nvSpPr>
          <p:cNvPr id="1685" name="Google Shape;1685;g386fa9f7404_4_1175"/>
          <p:cNvSpPr/>
          <p:nvPr/>
        </p:nvSpPr>
        <p:spPr>
          <a:xfrm>
            <a:off x="9851136" y="4242816"/>
            <a:ext cx="1731264" cy="365760"/>
          </a:xfrm>
          <a:prstGeom prst="rect">
            <a:avLst/>
          </a:prstGeom>
          <a:solidFill>
            <a:srgbClr val="FDEBD0"/>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g386fa9f7404_4_1175"/>
          <p:cNvSpPr/>
          <p:nvPr/>
        </p:nvSpPr>
        <p:spPr>
          <a:xfrm>
            <a:off x="9851136" y="4242816"/>
            <a:ext cx="1731264"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000"/>
              <a:buFont typeface="Calibri"/>
              <a:buNone/>
            </a:pPr>
            <a:r>
              <a:rPr b="1" i="0" lang="en-US" sz="1000" u="none" cap="none" strike="noStrike">
                <a:solidFill>
                  <a:srgbClr val="CA6F1E"/>
                </a:solidFill>
                <a:latin typeface="Calibri"/>
                <a:ea typeface="Calibri"/>
                <a:cs typeface="Calibri"/>
                <a:sym typeface="Calibri"/>
              </a:rPr>
              <a:t>NOT_IMPLEMENTED</a:t>
            </a:r>
            <a:endParaRPr b="0" i="0" sz="1000" u="none" cap="none" strike="noStrike">
              <a:solidFill>
                <a:schemeClr val="dk1"/>
              </a:solidFill>
              <a:latin typeface="Calibri"/>
              <a:ea typeface="Calibri"/>
              <a:cs typeface="Calibri"/>
              <a:sym typeface="Calibri"/>
            </a:endParaRPr>
          </a:p>
        </p:txBody>
      </p:sp>
      <p:sp>
        <p:nvSpPr>
          <p:cNvPr id="1687" name="Google Shape;1687;g386fa9f7404_4_1175"/>
          <p:cNvSpPr/>
          <p:nvPr/>
        </p:nvSpPr>
        <p:spPr>
          <a:xfrm>
            <a:off x="487680" y="4803648"/>
            <a:ext cx="11216640" cy="609600"/>
          </a:xfrm>
          <a:prstGeom prst="rect">
            <a:avLst/>
          </a:prstGeom>
          <a:solidFill>
            <a:srgbClr val="EAF4FB"/>
          </a:solidFill>
          <a:ln cap="flat" cmpd="sng" w="12700">
            <a:solidFill>
              <a:srgbClr val="BDC3C7"/>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g386fa9f7404_4_1175"/>
          <p:cNvSpPr/>
          <p:nvPr/>
        </p:nvSpPr>
        <p:spPr>
          <a:xfrm>
            <a:off x="707136" y="4803648"/>
            <a:ext cx="4486656"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300"/>
              <a:buFont typeface="Calibri"/>
              <a:buNone/>
            </a:pPr>
            <a:r>
              <a:rPr b="1" i="0" lang="en-US" sz="1300" u="none" cap="none" strike="noStrike">
                <a:solidFill>
                  <a:srgbClr val="1B3A5C"/>
                </a:solidFill>
                <a:latin typeface="Calibri"/>
                <a:ea typeface="Calibri"/>
                <a:cs typeface="Calibri"/>
                <a:sym typeface="Calibri"/>
              </a:rPr>
              <a:t>run_feedback_loop()</a:t>
            </a:r>
            <a:endParaRPr b="0" i="0" sz="1300" u="none" cap="none" strike="noStrike">
              <a:solidFill>
                <a:schemeClr val="dk1"/>
              </a:solidFill>
              <a:latin typeface="Calibri"/>
              <a:ea typeface="Calibri"/>
              <a:cs typeface="Calibri"/>
              <a:sym typeface="Calibri"/>
            </a:endParaRPr>
          </a:p>
        </p:txBody>
      </p:sp>
      <p:sp>
        <p:nvSpPr>
          <p:cNvPr id="1689" name="Google Shape;1689;g386fa9f7404_4_1175"/>
          <p:cNvSpPr/>
          <p:nvPr/>
        </p:nvSpPr>
        <p:spPr>
          <a:xfrm>
            <a:off x="5266944" y="4803648"/>
            <a:ext cx="432816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300"/>
              <a:buFont typeface="Calibri"/>
              <a:buNone/>
            </a:pPr>
            <a:r>
              <a:rPr b="0" i="0" lang="en-US" sz="1300" u="none" cap="none" strike="noStrike">
                <a:solidFill>
                  <a:srgbClr val="717D7E"/>
                </a:solidFill>
                <a:latin typeface="Calibri"/>
                <a:ea typeface="Calibri"/>
                <a:cs typeface="Calibri"/>
                <a:sym typeface="Calibri"/>
              </a:rPr>
              <a:t>→  Security Feedback Loop &amp; Dashboard (Module 9)</a:t>
            </a:r>
            <a:endParaRPr b="0" i="0" sz="1300" u="none" cap="none" strike="noStrike">
              <a:solidFill>
                <a:schemeClr val="dk1"/>
              </a:solidFill>
              <a:latin typeface="Calibri"/>
              <a:ea typeface="Calibri"/>
              <a:cs typeface="Calibri"/>
              <a:sym typeface="Calibri"/>
            </a:endParaRPr>
          </a:p>
        </p:txBody>
      </p:sp>
      <p:sp>
        <p:nvSpPr>
          <p:cNvPr id="1690" name="Google Shape;1690;g386fa9f7404_4_1175"/>
          <p:cNvSpPr/>
          <p:nvPr/>
        </p:nvSpPr>
        <p:spPr>
          <a:xfrm>
            <a:off x="9851136" y="4925568"/>
            <a:ext cx="1731264" cy="365760"/>
          </a:xfrm>
          <a:prstGeom prst="rect">
            <a:avLst/>
          </a:prstGeom>
          <a:solidFill>
            <a:srgbClr val="FDEBD0"/>
          </a:solidFill>
          <a:ln cap="flat" cmpd="sng" w="12700">
            <a:solidFill>
              <a:srgbClr val="CA6F1E"/>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g386fa9f7404_4_1175"/>
          <p:cNvSpPr/>
          <p:nvPr/>
        </p:nvSpPr>
        <p:spPr>
          <a:xfrm>
            <a:off x="9851136" y="4925568"/>
            <a:ext cx="1731264"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6F1E"/>
              </a:buClr>
              <a:buSzPts val="1000"/>
              <a:buFont typeface="Calibri"/>
              <a:buNone/>
            </a:pPr>
            <a:r>
              <a:rPr b="1" i="0" lang="en-US" sz="1000" u="none" cap="none" strike="noStrike">
                <a:solidFill>
                  <a:srgbClr val="CA6F1E"/>
                </a:solidFill>
                <a:latin typeface="Calibri"/>
                <a:ea typeface="Calibri"/>
                <a:cs typeface="Calibri"/>
                <a:sym typeface="Calibri"/>
              </a:rPr>
              <a:t>NOT_IMPLEMENTED</a:t>
            </a:r>
            <a:endParaRPr b="0" i="0" sz="1000" u="none" cap="none" strike="noStrike">
              <a:solidFill>
                <a:schemeClr val="dk1"/>
              </a:solidFill>
              <a:latin typeface="Calibri"/>
              <a:ea typeface="Calibri"/>
              <a:cs typeface="Calibri"/>
              <a:sym typeface="Calibri"/>
            </a:endParaRPr>
          </a:p>
        </p:txBody>
      </p:sp>
      <p:sp>
        <p:nvSpPr>
          <p:cNvPr id="1692" name="Google Shape;1692;g386fa9f7404_4_1175"/>
          <p:cNvSpPr/>
          <p:nvPr/>
        </p:nvSpPr>
        <p:spPr>
          <a:xfrm>
            <a:off x="487680" y="5632704"/>
            <a:ext cx="11216640" cy="707136"/>
          </a:xfrm>
          <a:prstGeom prst="rect">
            <a:avLst/>
          </a:prstGeom>
          <a:solidFill>
            <a:srgbClr val="D6EAF8"/>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g386fa9f7404_4_1175"/>
          <p:cNvSpPr/>
          <p:nvPr/>
        </p:nvSpPr>
        <p:spPr>
          <a:xfrm>
            <a:off x="731520" y="5632704"/>
            <a:ext cx="10850880" cy="7071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500"/>
              <a:buFont typeface="Calibri"/>
              <a:buNone/>
            </a:pPr>
            <a:r>
              <a:rPr b="0" i="0" lang="en-US" sz="1500" u="none" cap="none" strike="noStrike">
                <a:solidFill>
                  <a:srgbClr val="1B3A5C"/>
                </a:solidFill>
                <a:latin typeface="Calibri"/>
                <a:ea typeface="Calibri"/>
                <a:cs typeface="Calibri"/>
                <a:sym typeface="Calibri"/>
              </a:rPr>
              <a:t>All three integration points will be replaced with real API calls when the full system is assembled. The interfaces — function names, parameters, return types — are already defined.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7" name="Shape 1697"/>
        <p:cNvGrpSpPr/>
        <p:nvPr/>
      </p:nvGrpSpPr>
      <p:grpSpPr>
        <a:xfrm>
          <a:off x="0" y="0"/>
          <a:ext cx="0" cy="0"/>
          <a:chOff x="0" y="0"/>
          <a:chExt cx="0" cy="0"/>
        </a:xfrm>
      </p:grpSpPr>
      <p:sp>
        <p:nvSpPr>
          <p:cNvPr id="1698" name="Google Shape;1698;g386fa9f7404_4_1204"/>
          <p:cNvSpPr/>
          <p:nvPr/>
        </p:nvSpPr>
        <p:spPr>
          <a:xfrm>
            <a:off x="0" y="0"/>
            <a:ext cx="12192000" cy="914400"/>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g386fa9f7404_4_1204"/>
          <p:cNvSpPr/>
          <p:nvPr/>
        </p:nvSpPr>
        <p:spPr>
          <a:xfrm>
            <a:off x="548640" y="0"/>
            <a:ext cx="10972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700"/>
              <a:buFont typeface="Calibri"/>
              <a:buNone/>
            </a:pPr>
            <a:r>
              <a:rPr b="1" i="0" lang="en-US" sz="2700" u="none" cap="none" strike="noStrike">
                <a:solidFill>
                  <a:srgbClr val="FFFFFF"/>
                </a:solidFill>
                <a:latin typeface="Calibri"/>
                <a:ea typeface="Calibri"/>
                <a:cs typeface="Calibri"/>
                <a:sym typeface="Calibri"/>
              </a:rPr>
              <a:t>Research Backing — Every Stage Has a Source</a:t>
            </a:r>
            <a:endParaRPr b="0" i="0" sz="2700" u="none" cap="none" strike="noStrike">
              <a:solidFill>
                <a:schemeClr val="dk1"/>
              </a:solidFill>
              <a:latin typeface="Calibri"/>
              <a:ea typeface="Calibri"/>
              <a:cs typeface="Calibri"/>
              <a:sym typeface="Calibri"/>
            </a:endParaRPr>
          </a:p>
        </p:txBody>
      </p:sp>
      <p:sp>
        <p:nvSpPr>
          <p:cNvPr id="1700" name="Google Shape;1700;g386fa9f7404_4_1204"/>
          <p:cNvSpPr/>
          <p:nvPr/>
        </p:nvSpPr>
        <p:spPr>
          <a:xfrm>
            <a:off x="548640" y="1036320"/>
            <a:ext cx="11094720" cy="4632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700"/>
              <a:buFont typeface="Calibri"/>
              <a:buNone/>
            </a:pPr>
            <a:r>
              <a:rPr b="0" i="1" lang="en-US" sz="1700" u="none" cap="none" strike="noStrike">
                <a:solidFill>
                  <a:srgbClr val="717D7E"/>
                </a:solidFill>
                <a:latin typeface="Calibri"/>
                <a:ea typeface="Calibri"/>
                <a:cs typeface="Calibri"/>
                <a:sym typeface="Calibri"/>
              </a:rPr>
              <a:t>Each major design decision in this module is grounded in published research or established industry practice.</a:t>
            </a:r>
            <a:endParaRPr b="0" i="0" sz="1700" u="none" cap="none" strike="noStrike">
              <a:solidFill>
                <a:schemeClr val="dk1"/>
              </a:solidFill>
              <a:latin typeface="Calibri"/>
              <a:ea typeface="Calibri"/>
              <a:cs typeface="Calibri"/>
              <a:sym typeface="Calibri"/>
            </a:endParaRPr>
          </a:p>
        </p:txBody>
      </p:sp>
      <p:sp>
        <p:nvSpPr>
          <p:cNvPr id="1701" name="Google Shape;1701;g386fa9f7404_4_1204"/>
          <p:cNvSpPr/>
          <p:nvPr/>
        </p:nvSpPr>
        <p:spPr>
          <a:xfrm>
            <a:off x="487680" y="1645920"/>
            <a:ext cx="11216640" cy="792480"/>
          </a:xfrm>
          <a:prstGeom prst="rect">
            <a:avLst/>
          </a:prstGeom>
          <a:solidFill>
            <a:srgbClr val="EAF4FB"/>
          </a:solidFill>
          <a:ln cap="flat" cmpd="sng" w="19050">
            <a:solidFill>
              <a:srgbClr val="2471A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g386fa9f7404_4_1204"/>
          <p:cNvSpPr/>
          <p:nvPr/>
        </p:nvSpPr>
        <p:spPr>
          <a:xfrm>
            <a:off x="670560" y="1840992"/>
            <a:ext cx="188976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g386fa9f7404_4_1204"/>
          <p:cNvSpPr/>
          <p:nvPr/>
        </p:nvSpPr>
        <p:spPr>
          <a:xfrm>
            <a:off x="670560" y="1840992"/>
            <a:ext cx="188976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100"/>
              <a:buFont typeface="Calibri"/>
              <a:buNone/>
            </a:pPr>
            <a:r>
              <a:rPr b="1" i="0" lang="en-US" sz="1100" u="none" cap="none" strike="noStrike">
                <a:solidFill>
                  <a:srgbClr val="AED6F1"/>
                </a:solidFill>
                <a:latin typeface="Calibri"/>
                <a:ea typeface="Calibri"/>
                <a:cs typeface="Calibri"/>
                <a:sym typeface="Calibri"/>
              </a:rPr>
              <a:t>Dynamic Analysis</a:t>
            </a:r>
            <a:endParaRPr b="0" i="0" sz="1100" u="none" cap="none" strike="noStrike">
              <a:solidFill>
                <a:schemeClr val="dk1"/>
              </a:solidFill>
              <a:latin typeface="Calibri"/>
              <a:ea typeface="Calibri"/>
              <a:cs typeface="Calibri"/>
              <a:sym typeface="Calibri"/>
            </a:endParaRPr>
          </a:p>
        </p:txBody>
      </p:sp>
      <p:sp>
        <p:nvSpPr>
          <p:cNvPr id="1704" name="Google Shape;1704;g386fa9f7404_4_1204"/>
          <p:cNvSpPr/>
          <p:nvPr/>
        </p:nvSpPr>
        <p:spPr>
          <a:xfrm>
            <a:off x="2743200" y="1706880"/>
            <a:ext cx="402336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Guven, M. (2024) — Dynamic Malware Analysis Using Sandbox &amp; AI</a:t>
            </a:r>
            <a:endParaRPr b="0" i="0" sz="1400" u="none" cap="none" strike="noStrike">
              <a:solidFill>
                <a:schemeClr val="dk1"/>
              </a:solidFill>
              <a:latin typeface="Calibri"/>
              <a:ea typeface="Calibri"/>
              <a:cs typeface="Calibri"/>
              <a:sym typeface="Calibri"/>
            </a:endParaRPr>
          </a:p>
        </p:txBody>
      </p:sp>
      <p:sp>
        <p:nvSpPr>
          <p:cNvPr id="1705" name="Google Shape;1705;g386fa9f7404_4_1204"/>
          <p:cNvSpPr/>
          <p:nvPr/>
        </p:nvSpPr>
        <p:spPr>
          <a:xfrm>
            <a:off x="2743200" y="2072640"/>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IJCESEN Vol.10(3)  |  doi.org/10.22399/ijcesen.460</a:t>
            </a:r>
            <a:endParaRPr b="0" i="0" sz="1100" u="none" cap="none" strike="noStrike">
              <a:solidFill>
                <a:schemeClr val="dk1"/>
              </a:solidFill>
              <a:latin typeface="Calibri"/>
              <a:ea typeface="Calibri"/>
              <a:cs typeface="Calibri"/>
              <a:sym typeface="Calibri"/>
            </a:endParaRPr>
          </a:p>
        </p:txBody>
      </p:sp>
      <p:sp>
        <p:nvSpPr>
          <p:cNvPr id="1706" name="Google Shape;1706;g386fa9f7404_4_1204"/>
          <p:cNvSpPr/>
          <p:nvPr/>
        </p:nvSpPr>
        <p:spPr>
          <a:xfrm>
            <a:off x="6925056" y="1743456"/>
            <a:ext cx="18288" cy="609600"/>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g386fa9f7404_4_1204"/>
          <p:cNvSpPr/>
          <p:nvPr/>
        </p:nvSpPr>
        <p:spPr>
          <a:xfrm>
            <a:off x="7095744" y="1743456"/>
            <a:ext cx="445008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Confirms behavioral analysis outperforms static methods — especially for encrypted malware. Direct support for our 3-layer architecture.</a:t>
            </a:r>
            <a:endParaRPr b="0" i="0" sz="1300" u="none" cap="none" strike="noStrike">
              <a:solidFill>
                <a:schemeClr val="dk1"/>
              </a:solidFill>
              <a:latin typeface="Calibri"/>
              <a:ea typeface="Calibri"/>
              <a:cs typeface="Calibri"/>
              <a:sym typeface="Calibri"/>
            </a:endParaRPr>
          </a:p>
        </p:txBody>
      </p:sp>
      <p:sp>
        <p:nvSpPr>
          <p:cNvPr id="1708" name="Google Shape;1708;g386fa9f7404_4_1204"/>
          <p:cNvSpPr/>
          <p:nvPr/>
        </p:nvSpPr>
        <p:spPr>
          <a:xfrm>
            <a:off x="487680" y="2523744"/>
            <a:ext cx="11216640" cy="792480"/>
          </a:xfrm>
          <a:prstGeom prst="rect">
            <a:avLst/>
          </a:prstGeom>
          <a:solidFill>
            <a:srgbClr val="EAF4FB"/>
          </a:solidFill>
          <a:ln cap="flat" cmpd="sng" w="19050">
            <a:solidFill>
              <a:srgbClr val="1B3A5C"/>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g386fa9f7404_4_1204"/>
          <p:cNvSpPr/>
          <p:nvPr/>
        </p:nvSpPr>
        <p:spPr>
          <a:xfrm>
            <a:off x="670560" y="2718816"/>
            <a:ext cx="188976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g386fa9f7404_4_1204"/>
          <p:cNvSpPr/>
          <p:nvPr/>
        </p:nvSpPr>
        <p:spPr>
          <a:xfrm>
            <a:off x="670560" y="2718816"/>
            <a:ext cx="188976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100"/>
              <a:buFont typeface="Calibri"/>
              <a:buNone/>
            </a:pPr>
            <a:r>
              <a:rPr b="1" i="0" lang="en-US" sz="1100" u="none" cap="none" strike="noStrike">
                <a:solidFill>
                  <a:srgbClr val="AED6F1"/>
                </a:solidFill>
                <a:latin typeface="Calibri"/>
                <a:ea typeface="Calibri"/>
                <a:cs typeface="Calibri"/>
                <a:sym typeface="Calibri"/>
              </a:rPr>
              <a:t>/proc Monitoring</a:t>
            </a:r>
            <a:endParaRPr b="0" i="0" sz="1100" u="none" cap="none" strike="noStrike">
              <a:solidFill>
                <a:schemeClr val="dk1"/>
              </a:solidFill>
              <a:latin typeface="Calibri"/>
              <a:ea typeface="Calibri"/>
              <a:cs typeface="Calibri"/>
              <a:sym typeface="Calibri"/>
            </a:endParaRPr>
          </a:p>
        </p:txBody>
      </p:sp>
      <p:sp>
        <p:nvSpPr>
          <p:cNvPr id="1711" name="Google Shape;1711;g386fa9f7404_4_1204"/>
          <p:cNvSpPr/>
          <p:nvPr/>
        </p:nvSpPr>
        <p:spPr>
          <a:xfrm>
            <a:off x="2743200" y="2584704"/>
            <a:ext cx="402336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Cozzi et al. (2018) — Understanding Linux Malware</a:t>
            </a:r>
            <a:endParaRPr b="0" i="0" sz="1400" u="none" cap="none" strike="noStrike">
              <a:solidFill>
                <a:schemeClr val="dk1"/>
              </a:solidFill>
              <a:latin typeface="Calibri"/>
              <a:ea typeface="Calibri"/>
              <a:cs typeface="Calibri"/>
              <a:sym typeface="Calibri"/>
            </a:endParaRPr>
          </a:p>
        </p:txBody>
      </p:sp>
      <p:sp>
        <p:nvSpPr>
          <p:cNvPr id="1712" name="Google Shape;1712;g386fa9f7404_4_1204"/>
          <p:cNvSpPr/>
          <p:nvPr/>
        </p:nvSpPr>
        <p:spPr>
          <a:xfrm>
            <a:off x="2743200" y="2950464"/>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IEEE S&amp;P Oakland  |  ieeexplore.ieee.org/document/8418602</a:t>
            </a:r>
            <a:endParaRPr b="0" i="0" sz="1100" u="none" cap="none" strike="noStrike">
              <a:solidFill>
                <a:schemeClr val="dk1"/>
              </a:solidFill>
              <a:latin typeface="Calibri"/>
              <a:ea typeface="Calibri"/>
              <a:cs typeface="Calibri"/>
              <a:sym typeface="Calibri"/>
            </a:endParaRPr>
          </a:p>
        </p:txBody>
      </p:sp>
      <p:sp>
        <p:nvSpPr>
          <p:cNvPr id="1713" name="Google Shape;1713;g386fa9f7404_4_1204"/>
          <p:cNvSpPr/>
          <p:nvPr/>
        </p:nvSpPr>
        <p:spPr>
          <a:xfrm>
            <a:off x="6925056" y="2621280"/>
            <a:ext cx="18288" cy="609600"/>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g386fa9f7404_4_1204"/>
          <p:cNvSpPr/>
          <p:nvPr/>
        </p:nvSpPr>
        <p:spPr>
          <a:xfrm>
            <a:off x="7095744" y="2621280"/>
            <a:ext cx="445008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Establishes kernel-level /proc monitoring as the correct method for Linux malware behavioral analysis.</a:t>
            </a:r>
            <a:endParaRPr b="0" i="0" sz="1300" u="none" cap="none" strike="noStrike">
              <a:solidFill>
                <a:schemeClr val="dk1"/>
              </a:solidFill>
              <a:latin typeface="Calibri"/>
              <a:ea typeface="Calibri"/>
              <a:cs typeface="Calibri"/>
              <a:sym typeface="Calibri"/>
            </a:endParaRPr>
          </a:p>
        </p:txBody>
      </p:sp>
      <p:sp>
        <p:nvSpPr>
          <p:cNvPr id="1715" name="Google Shape;1715;g386fa9f7404_4_1204"/>
          <p:cNvSpPr/>
          <p:nvPr/>
        </p:nvSpPr>
        <p:spPr>
          <a:xfrm>
            <a:off x="487680" y="3401568"/>
            <a:ext cx="11216640" cy="792480"/>
          </a:xfrm>
          <a:prstGeom prst="rect">
            <a:avLst/>
          </a:prstGeom>
          <a:solidFill>
            <a:srgbClr val="EAF4FB"/>
          </a:solidFill>
          <a:ln cap="flat" cmpd="sng" w="19050">
            <a:solidFill>
              <a:srgbClr val="CA6F1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g386fa9f7404_4_1204"/>
          <p:cNvSpPr/>
          <p:nvPr/>
        </p:nvSpPr>
        <p:spPr>
          <a:xfrm>
            <a:off x="670560" y="3596640"/>
            <a:ext cx="188976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g386fa9f7404_4_1204"/>
          <p:cNvSpPr/>
          <p:nvPr/>
        </p:nvSpPr>
        <p:spPr>
          <a:xfrm>
            <a:off x="670560" y="3596640"/>
            <a:ext cx="188976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100"/>
              <a:buFont typeface="Calibri"/>
              <a:buNone/>
            </a:pPr>
            <a:r>
              <a:rPr b="1" i="0" lang="en-US" sz="1100" u="none" cap="none" strike="noStrike">
                <a:solidFill>
                  <a:srgbClr val="AED6F1"/>
                </a:solidFill>
                <a:latin typeface="Calibri"/>
                <a:ea typeface="Calibri"/>
                <a:cs typeface="Calibri"/>
                <a:sym typeface="Calibri"/>
              </a:rPr>
              <a:t>Archive Delivery</a:t>
            </a:r>
            <a:endParaRPr b="0" i="0" sz="1100" u="none" cap="none" strike="noStrike">
              <a:solidFill>
                <a:schemeClr val="dk1"/>
              </a:solidFill>
              <a:latin typeface="Calibri"/>
              <a:ea typeface="Calibri"/>
              <a:cs typeface="Calibri"/>
              <a:sym typeface="Calibri"/>
            </a:endParaRPr>
          </a:p>
        </p:txBody>
      </p:sp>
      <p:sp>
        <p:nvSpPr>
          <p:cNvPr id="1718" name="Google Shape;1718;g386fa9f7404_4_1204"/>
          <p:cNvSpPr/>
          <p:nvPr/>
        </p:nvSpPr>
        <p:spPr>
          <a:xfrm>
            <a:off x="2743200" y="3462528"/>
            <a:ext cx="402336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HP Wolf Security — Threat Insights Reports Q3–Q4 2022</a:t>
            </a:r>
            <a:endParaRPr b="0" i="0" sz="1400" u="none" cap="none" strike="noStrike">
              <a:solidFill>
                <a:schemeClr val="dk1"/>
              </a:solidFill>
              <a:latin typeface="Calibri"/>
              <a:ea typeface="Calibri"/>
              <a:cs typeface="Calibri"/>
              <a:sym typeface="Calibri"/>
            </a:endParaRPr>
          </a:p>
        </p:txBody>
      </p:sp>
      <p:sp>
        <p:nvSpPr>
          <p:cNvPr id="1719" name="Google Shape;1719;g386fa9f7404_4_1204"/>
          <p:cNvSpPr/>
          <p:nvPr/>
        </p:nvSpPr>
        <p:spPr>
          <a:xfrm>
            <a:off x="2743200" y="3828288"/>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threatresearch.ext.hp.com</a:t>
            </a:r>
            <a:endParaRPr b="0" i="0" sz="1100" u="none" cap="none" strike="noStrike">
              <a:solidFill>
                <a:schemeClr val="dk1"/>
              </a:solidFill>
              <a:latin typeface="Calibri"/>
              <a:ea typeface="Calibri"/>
              <a:cs typeface="Calibri"/>
              <a:sym typeface="Calibri"/>
            </a:endParaRPr>
          </a:p>
        </p:txBody>
      </p:sp>
      <p:sp>
        <p:nvSpPr>
          <p:cNvPr id="1720" name="Google Shape;1720;g386fa9f7404_4_1204"/>
          <p:cNvSpPr/>
          <p:nvPr/>
        </p:nvSpPr>
        <p:spPr>
          <a:xfrm>
            <a:off x="6925056" y="3499104"/>
            <a:ext cx="18288" cy="609600"/>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g386fa9f7404_4_1204"/>
          <p:cNvSpPr/>
          <p:nvPr/>
        </p:nvSpPr>
        <p:spPr>
          <a:xfrm>
            <a:off x="7095744" y="3499104"/>
            <a:ext cx="445008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Archives = #1 malware delivery mechanism (42–44% of threats). Justifies our archive handler as a full stage.</a:t>
            </a:r>
            <a:endParaRPr b="0" i="0" sz="1300" u="none" cap="none" strike="noStrike">
              <a:solidFill>
                <a:schemeClr val="dk1"/>
              </a:solidFill>
              <a:latin typeface="Calibri"/>
              <a:ea typeface="Calibri"/>
              <a:cs typeface="Calibri"/>
              <a:sym typeface="Calibri"/>
            </a:endParaRPr>
          </a:p>
        </p:txBody>
      </p:sp>
      <p:sp>
        <p:nvSpPr>
          <p:cNvPr id="1722" name="Google Shape;1722;g386fa9f7404_4_1204"/>
          <p:cNvSpPr/>
          <p:nvPr/>
        </p:nvSpPr>
        <p:spPr>
          <a:xfrm>
            <a:off x="487680" y="4279392"/>
            <a:ext cx="11216640" cy="792480"/>
          </a:xfrm>
          <a:prstGeom prst="rect">
            <a:avLst/>
          </a:prstGeom>
          <a:solidFill>
            <a:srgbClr val="EAF4FB"/>
          </a:solidFill>
          <a:ln cap="flat" cmpd="sng" w="19050">
            <a:solidFill>
              <a:srgbClr val="1E844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g386fa9f7404_4_1204"/>
          <p:cNvSpPr/>
          <p:nvPr/>
        </p:nvSpPr>
        <p:spPr>
          <a:xfrm>
            <a:off x="670560" y="4474464"/>
            <a:ext cx="188976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g386fa9f7404_4_1204"/>
          <p:cNvSpPr/>
          <p:nvPr/>
        </p:nvSpPr>
        <p:spPr>
          <a:xfrm>
            <a:off x="670560" y="4474464"/>
            <a:ext cx="188976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100"/>
              <a:buFont typeface="Calibri"/>
              <a:buNone/>
            </a:pPr>
            <a:r>
              <a:rPr b="1" i="0" lang="en-US" sz="1100" u="none" cap="none" strike="noStrike">
                <a:solidFill>
                  <a:srgbClr val="AED6F1"/>
                </a:solidFill>
                <a:latin typeface="Calibri"/>
                <a:ea typeface="Calibri"/>
                <a:cs typeface="Calibri"/>
                <a:sym typeface="Calibri"/>
              </a:rPr>
              <a:t>Behavioral Scoring</a:t>
            </a:r>
            <a:endParaRPr b="0" i="0" sz="1100" u="none" cap="none" strike="noStrike">
              <a:solidFill>
                <a:schemeClr val="dk1"/>
              </a:solidFill>
              <a:latin typeface="Calibri"/>
              <a:ea typeface="Calibri"/>
              <a:cs typeface="Calibri"/>
              <a:sym typeface="Calibri"/>
            </a:endParaRPr>
          </a:p>
        </p:txBody>
      </p:sp>
      <p:sp>
        <p:nvSpPr>
          <p:cNvPr id="1725" name="Google Shape;1725;g386fa9f7404_4_1204"/>
          <p:cNvSpPr/>
          <p:nvPr/>
        </p:nvSpPr>
        <p:spPr>
          <a:xfrm>
            <a:off x="2743200" y="4340352"/>
            <a:ext cx="402336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Cuckoo Sandbox + Chen &amp; Bridges (2017) WannaCry Analysis</a:t>
            </a:r>
            <a:endParaRPr b="0" i="0" sz="1400" u="none" cap="none" strike="noStrike">
              <a:solidFill>
                <a:schemeClr val="dk1"/>
              </a:solidFill>
              <a:latin typeface="Calibri"/>
              <a:ea typeface="Calibri"/>
              <a:cs typeface="Calibri"/>
              <a:sym typeface="Calibri"/>
            </a:endParaRPr>
          </a:p>
        </p:txBody>
      </p:sp>
      <p:sp>
        <p:nvSpPr>
          <p:cNvPr id="1726" name="Google Shape;1726;g386fa9f7404_4_1204"/>
          <p:cNvSpPr/>
          <p:nvPr/>
        </p:nvSpPr>
        <p:spPr>
          <a:xfrm>
            <a:off x="2743200" y="4706112"/>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cuckoo.readthedocs.io  |  arxiv.org/abs/1709.08753</a:t>
            </a:r>
            <a:endParaRPr b="0" i="0" sz="1100" u="none" cap="none" strike="noStrike">
              <a:solidFill>
                <a:schemeClr val="dk1"/>
              </a:solidFill>
              <a:latin typeface="Calibri"/>
              <a:ea typeface="Calibri"/>
              <a:cs typeface="Calibri"/>
              <a:sym typeface="Calibri"/>
            </a:endParaRPr>
          </a:p>
        </p:txBody>
      </p:sp>
      <p:sp>
        <p:nvSpPr>
          <p:cNvPr id="1727" name="Google Shape;1727;g386fa9f7404_4_1204"/>
          <p:cNvSpPr/>
          <p:nvPr/>
        </p:nvSpPr>
        <p:spPr>
          <a:xfrm>
            <a:off x="6925056" y="4376928"/>
            <a:ext cx="18288" cy="609600"/>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g386fa9f7404_4_1204"/>
          <p:cNvSpPr/>
          <p:nvPr/>
        </p:nvSpPr>
        <p:spPr>
          <a:xfrm>
            <a:off x="7095744" y="4376928"/>
            <a:ext cx="445008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Weighted behavioral scoring is the industry-standard approach. Our specific weights are engineering judgments, calibrated by threat severity.</a:t>
            </a:r>
            <a:endParaRPr b="0" i="0" sz="1300" u="none" cap="none" strike="noStrike">
              <a:solidFill>
                <a:schemeClr val="dk1"/>
              </a:solidFill>
              <a:latin typeface="Calibri"/>
              <a:ea typeface="Calibri"/>
              <a:cs typeface="Calibri"/>
              <a:sym typeface="Calibri"/>
            </a:endParaRPr>
          </a:p>
        </p:txBody>
      </p:sp>
      <p:sp>
        <p:nvSpPr>
          <p:cNvPr id="1729" name="Google Shape;1729;g386fa9f7404_4_1204"/>
          <p:cNvSpPr/>
          <p:nvPr/>
        </p:nvSpPr>
        <p:spPr>
          <a:xfrm>
            <a:off x="487680" y="5157216"/>
            <a:ext cx="11216640" cy="792480"/>
          </a:xfrm>
          <a:prstGeom prst="rect">
            <a:avLst/>
          </a:prstGeom>
          <a:solidFill>
            <a:srgbClr val="EAF4FB"/>
          </a:solidFill>
          <a:ln cap="flat" cmpd="sng" w="19050">
            <a:solidFill>
              <a:srgbClr val="717D7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g386fa9f7404_4_1204"/>
          <p:cNvSpPr/>
          <p:nvPr/>
        </p:nvSpPr>
        <p:spPr>
          <a:xfrm>
            <a:off x="670560" y="5352288"/>
            <a:ext cx="1889760" cy="341376"/>
          </a:xfrm>
          <a:prstGeom prst="rect">
            <a:avLst/>
          </a:prstGeom>
          <a:solidFill>
            <a:srgbClr val="1B3A5C"/>
          </a:solidFill>
          <a:ln cap="flat" cmpd="sng" w="12700">
            <a:solidFill>
              <a:srgbClr val="1B3A5C"/>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g386fa9f7404_4_1204"/>
          <p:cNvSpPr/>
          <p:nvPr/>
        </p:nvSpPr>
        <p:spPr>
          <a:xfrm>
            <a:off x="670560" y="5352288"/>
            <a:ext cx="1889760" cy="3413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100"/>
              <a:buFont typeface="Calibri"/>
              <a:buNone/>
            </a:pPr>
            <a:r>
              <a:rPr b="1" i="0" lang="en-US" sz="1100" u="none" cap="none" strike="noStrike">
                <a:solidFill>
                  <a:srgbClr val="AED6F1"/>
                </a:solidFill>
                <a:latin typeface="Calibri"/>
                <a:ea typeface="Calibri"/>
                <a:cs typeface="Calibri"/>
                <a:sym typeface="Calibri"/>
              </a:rPr>
              <a:t>Sandbox Comparison</a:t>
            </a:r>
            <a:endParaRPr b="0" i="0" sz="1100" u="none" cap="none" strike="noStrike">
              <a:solidFill>
                <a:schemeClr val="dk1"/>
              </a:solidFill>
              <a:latin typeface="Calibri"/>
              <a:ea typeface="Calibri"/>
              <a:cs typeface="Calibri"/>
              <a:sym typeface="Calibri"/>
            </a:endParaRPr>
          </a:p>
        </p:txBody>
      </p:sp>
      <p:sp>
        <p:nvSpPr>
          <p:cNvPr id="1732" name="Google Shape;1732;g386fa9f7404_4_1204"/>
          <p:cNvSpPr/>
          <p:nvPr/>
        </p:nvSpPr>
        <p:spPr>
          <a:xfrm>
            <a:off x="2743200" y="5218176"/>
            <a:ext cx="4023360" cy="3413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3A5C"/>
              </a:buClr>
              <a:buSzPts val="1400"/>
              <a:buFont typeface="Calibri"/>
              <a:buNone/>
            </a:pPr>
            <a:r>
              <a:rPr b="1" i="0" lang="en-US" sz="1400" u="none" cap="none" strike="noStrike">
                <a:solidFill>
                  <a:srgbClr val="1B3A5C"/>
                </a:solidFill>
                <a:latin typeface="Calibri"/>
                <a:ea typeface="Calibri"/>
                <a:cs typeface="Calibri"/>
                <a:sym typeface="Calibri"/>
              </a:rPr>
              <a:t>Melvin &amp; Kathrine (2021) — DRAKVUF vs Cuckoo</a:t>
            </a:r>
            <a:endParaRPr b="0" i="0" sz="1400" u="none" cap="none" strike="noStrike">
              <a:solidFill>
                <a:schemeClr val="dk1"/>
              </a:solidFill>
              <a:latin typeface="Calibri"/>
              <a:ea typeface="Calibri"/>
              <a:cs typeface="Calibri"/>
              <a:sym typeface="Calibri"/>
            </a:endParaRPr>
          </a:p>
        </p:txBody>
      </p:sp>
      <p:sp>
        <p:nvSpPr>
          <p:cNvPr id="1733" name="Google Shape;1733;g386fa9f7404_4_1204"/>
          <p:cNvSpPr/>
          <p:nvPr/>
        </p:nvSpPr>
        <p:spPr>
          <a:xfrm>
            <a:off x="2743200" y="5583936"/>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7D7E"/>
              </a:buClr>
              <a:buSzPts val="1100"/>
              <a:buFont typeface="Calibri"/>
              <a:buNone/>
            </a:pPr>
            <a:r>
              <a:rPr b="0" i="1" lang="en-US" sz="1100" u="none" cap="none" strike="noStrike">
                <a:solidFill>
                  <a:srgbClr val="717D7E"/>
                </a:solidFill>
                <a:latin typeface="Calibri"/>
                <a:ea typeface="Calibri"/>
                <a:cs typeface="Calibri"/>
                <a:sym typeface="Calibri"/>
              </a:rPr>
              <a:t>Springer AISC Vol.1167  |  doi.org/10.1007/978-981-15-5285-4_27</a:t>
            </a:r>
            <a:endParaRPr b="0" i="0" sz="1100" u="none" cap="none" strike="noStrike">
              <a:solidFill>
                <a:schemeClr val="dk1"/>
              </a:solidFill>
              <a:latin typeface="Calibri"/>
              <a:ea typeface="Calibri"/>
              <a:cs typeface="Calibri"/>
              <a:sym typeface="Calibri"/>
            </a:endParaRPr>
          </a:p>
        </p:txBody>
      </p:sp>
      <p:sp>
        <p:nvSpPr>
          <p:cNvPr id="1734" name="Google Shape;1734;g386fa9f7404_4_1204"/>
          <p:cNvSpPr/>
          <p:nvPr/>
        </p:nvSpPr>
        <p:spPr>
          <a:xfrm>
            <a:off x="6925056" y="5254752"/>
            <a:ext cx="18288" cy="609600"/>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g386fa9f7404_4_1204"/>
          <p:cNvSpPr/>
          <p:nvPr/>
        </p:nvSpPr>
        <p:spPr>
          <a:xfrm>
            <a:off x="7095744" y="5254752"/>
            <a:ext cx="445008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1300"/>
              <a:buFont typeface="Calibri"/>
              <a:buNone/>
            </a:pPr>
            <a:r>
              <a:rPr b="0" i="0" lang="en-US" sz="1300" u="none" cap="none" strike="noStrike">
                <a:solidFill>
                  <a:srgbClr val="2C3E50"/>
                </a:solidFill>
                <a:latin typeface="Calibri"/>
                <a:ea typeface="Calibri"/>
                <a:cs typeface="Calibri"/>
                <a:sym typeface="Calibri"/>
              </a:rPr>
              <a:t>Validates our tool selection analysis. Confirms process-level isolation tradeoffs vs VM-level sandboxing.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5C"/>
        </a:solidFill>
      </p:bgPr>
    </p:bg>
    <p:spTree>
      <p:nvGrpSpPr>
        <p:cNvPr id="1739" name="Shape 1739"/>
        <p:cNvGrpSpPr/>
        <p:nvPr/>
      </p:nvGrpSpPr>
      <p:grpSpPr>
        <a:xfrm>
          <a:off x="0" y="0"/>
          <a:ext cx="0" cy="0"/>
          <a:chOff x="0" y="0"/>
          <a:chExt cx="0" cy="0"/>
        </a:xfrm>
      </p:grpSpPr>
      <p:sp>
        <p:nvSpPr>
          <p:cNvPr id="1740" name="Google Shape;1740;g386fa9f7404_4_1245"/>
          <p:cNvSpPr/>
          <p:nvPr/>
        </p:nvSpPr>
        <p:spPr>
          <a:xfrm>
            <a:off x="0" y="0"/>
            <a:ext cx="12192000" cy="121920"/>
          </a:xfrm>
          <a:prstGeom prst="rect">
            <a:avLst/>
          </a:prstGeom>
          <a:solidFill>
            <a:srgbClr val="AED6F1"/>
          </a:solidFill>
          <a:ln cap="flat" cmpd="sng" w="12700">
            <a:solidFill>
              <a:srgbClr val="AED6F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g386fa9f7404_4_1245"/>
          <p:cNvSpPr/>
          <p:nvPr/>
        </p:nvSpPr>
        <p:spPr>
          <a:xfrm>
            <a:off x="731520" y="512064"/>
            <a:ext cx="10972800" cy="7559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Summary</a:t>
            </a:r>
            <a:endParaRPr b="0" i="0" sz="4000" u="none" cap="none" strike="noStrike">
              <a:solidFill>
                <a:schemeClr val="dk1"/>
              </a:solidFill>
              <a:latin typeface="Calibri"/>
              <a:ea typeface="Calibri"/>
              <a:cs typeface="Calibri"/>
              <a:sym typeface="Calibri"/>
            </a:endParaRPr>
          </a:p>
        </p:txBody>
      </p:sp>
      <p:sp>
        <p:nvSpPr>
          <p:cNvPr id="1742" name="Google Shape;1742;g386fa9f7404_4_1245"/>
          <p:cNvSpPr/>
          <p:nvPr/>
        </p:nvSpPr>
        <p:spPr>
          <a:xfrm>
            <a:off x="609600" y="1487424"/>
            <a:ext cx="11094720" cy="585216"/>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g386fa9f7404_4_1245"/>
          <p:cNvSpPr/>
          <p:nvPr/>
        </p:nvSpPr>
        <p:spPr>
          <a:xfrm>
            <a:off x="609600" y="1487424"/>
            <a:ext cx="1341120" cy="585216"/>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g386fa9f7404_4_1245"/>
          <p:cNvSpPr/>
          <p:nvPr/>
        </p:nvSpPr>
        <p:spPr>
          <a:xfrm>
            <a:off x="609600" y="1487424"/>
            <a:ext cx="134112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Stage 1</a:t>
            </a:r>
            <a:endParaRPr b="0" i="0" sz="1300" u="none" cap="none" strike="noStrike">
              <a:solidFill>
                <a:schemeClr val="dk1"/>
              </a:solidFill>
              <a:latin typeface="Calibri"/>
              <a:ea typeface="Calibri"/>
              <a:cs typeface="Calibri"/>
              <a:sym typeface="Calibri"/>
            </a:endParaRPr>
          </a:p>
        </p:txBody>
      </p:sp>
      <p:sp>
        <p:nvSpPr>
          <p:cNvPr id="1745" name="Google Shape;1745;g386fa9f7404_4_1245"/>
          <p:cNvSpPr/>
          <p:nvPr/>
        </p:nvSpPr>
        <p:spPr>
          <a:xfrm>
            <a:off x="2097024" y="1487424"/>
            <a:ext cx="9448800"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File Router — magic bytes reveal true type. photo.jpg that is a script gets caught. Extension is never trusted.</a:t>
            </a:r>
            <a:endParaRPr b="0" i="0" sz="1400" u="none" cap="none" strike="noStrike">
              <a:solidFill>
                <a:schemeClr val="dk1"/>
              </a:solidFill>
              <a:latin typeface="Calibri"/>
              <a:ea typeface="Calibri"/>
              <a:cs typeface="Calibri"/>
              <a:sym typeface="Calibri"/>
            </a:endParaRPr>
          </a:p>
        </p:txBody>
      </p:sp>
      <p:sp>
        <p:nvSpPr>
          <p:cNvPr id="1746" name="Google Shape;1746;g386fa9f7404_4_1245"/>
          <p:cNvSpPr/>
          <p:nvPr/>
        </p:nvSpPr>
        <p:spPr>
          <a:xfrm>
            <a:off x="609600" y="2145792"/>
            <a:ext cx="11094720" cy="585216"/>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g386fa9f7404_4_1245"/>
          <p:cNvSpPr/>
          <p:nvPr/>
        </p:nvSpPr>
        <p:spPr>
          <a:xfrm>
            <a:off x="609600" y="2145792"/>
            <a:ext cx="1341120" cy="585216"/>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g386fa9f7404_4_1245"/>
          <p:cNvSpPr/>
          <p:nvPr/>
        </p:nvSpPr>
        <p:spPr>
          <a:xfrm>
            <a:off x="609600" y="2145792"/>
            <a:ext cx="134112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Stage 2</a:t>
            </a:r>
            <a:endParaRPr b="0" i="0" sz="1300" u="none" cap="none" strike="noStrike">
              <a:solidFill>
                <a:schemeClr val="dk1"/>
              </a:solidFill>
              <a:latin typeface="Calibri"/>
              <a:ea typeface="Calibri"/>
              <a:cs typeface="Calibri"/>
              <a:sym typeface="Calibri"/>
            </a:endParaRPr>
          </a:p>
        </p:txBody>
      </p:sp>
      <p:sp>
        <p:nvSpPr>
          <p:cNvPr id="1749" name="Google Shape;1749;g386fa9f7404_4_1245"/>
          <p:cNvSpPr/>
          <p:nvPr/>
        </p:nvSpPr>
        <p:spPr>
          <a:xfrm>
            <a:off x="2097024" y="2145792"/>
            <a:ext cx="9448800"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Archive Handler — encrypted with no key = +25. Double extension + ZIP bomb detected before extraction.</a:t>
            </a:r>
            <a:endParaRPr b="0" i="0" sz="1400" u="none" cap="none" strike="noStrike">
              <a:solidFill>
                <a:schemeClr val="dk1"/>
              </a:solidFill>
              <a:latin typeface="Calibri"/>
              <a:ea typeface="Calibri"/>
              <a:cs typeface="Calibri"/>
              <a:sym typeface="Calibri"/>
            </a:endParaRPr>
          </a:p>
        </p:txBody>
      </p:sp>
      <p:sp>
        <p:nvSpPr>
          <p:cNvPr id="1750" name="Google Shape;1750;g386fa9f7404_4_1245"/>
          <p:cNvSpPr/>
          <p:nvPr/>
        </p:nvSpPr>
        <p:spPr>
          <a:xfrm>
            <a:off x="609600" y="2804160"/>
            <a:ext cx="11094720" cy="585216"/>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g386fa9f7404_4_1245"/>
          <p:cNvSpPr/>
          <p:nvPr/>
        </p:nvSpPr>
        <p:spPr>
          <a:xfrm>
            <a:off x="609600" y="2804160"/>
            <a:ext cx="1341120" cy="585216"/>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g386fa9f7404_4_1245"/>
          <p:cNvSpPr/>
          <p:nvPr/>
        </p:nvSpPr>
        <p:spPr>
          <a:xfrm>
            <a:off x="609600" y="2804160"/>
            <a:ext cx="134112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Stage 3</a:t>
            </a:r>
            <a:endParaRPr b="0" i="0" sz="1300" u="none" cap="none" strike="noStrike">
              <a:solidFill>
                <a:schemeClr val="dk1"/>
              </a:solidFill>
              <a:latin typeface="Calibri"/>
              <a:ea typeface="Calibri"/>
              <a:cs typeface="Calibri"/>
              <a:sym typeface="Calibri"/>
            </a:endParaRPr>
          </a:p>
        </p:txBody>
      </p:sp>
      <p:sp>
        <p:nvSpPr>
          <p:cNvPr id="1753" name="Google Shape;1753;g386fa9f7404_4_1245"/>
          <p:cNvSpPr/>
          <p:nvPr/>
        </p:nvSpPr>
        <p:spPr>
          <a:xfrm>
            <a:off x="2097024" y="2804160"/>
            <a:ext cx="9448800"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Isolated Environment — kernel limits (128 MB, 20s CPU, 30s timeout), empty env vars. Cannot be bypassed.</a:t>
            </a:r>
            <a:endParaRPr b="0" i="0" sz="1400" u="none" cap="none" strike="noStrike">
              <a:solidFill>
                <a:schemeClr val="dk1"/>
              </a:solidFill>
              <a:latin typeface="Calibri"/>
              <a:ea typeface="Calibri"/>
              <a:cs typeface="Calibri"/>
              <a:sym typeface="Calibri"/>
            </a:endParaRPr>
          </a:p>
        </p:txBody>
      </p:sp>
      <p:sp>
        <p:nvSpPr>
          <p:cNvPr id="1754" name="Google Shape;1754;g386fa9f7404_4_1245"/>
          <p:cNvSpPr/>
          <p:nvPr/>
        </p:nvSpPr>
        <p:spPr>
          <a:xfrm>
            <a:off x="609600" y="3462528"/>
            <a:ext cx="11094720" cy="585216"/>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g386fa9f7404_4_1245"/>
          <p:cNvSpPr/>
          <p:nvPr/>
        </p:nvSpPr>
        <p:spPr>
          <a:xfrm>
            <a:off x="609600" y="3462528"/>
            <a:ext cx="1341120" cy="585216"/>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g386fa9f7404_4_1245"/>
          <p:cNvSpPr/>
          <p:nvPr/>
        </p:nvSpPr>
        <p:spPr>
          <a:xfrm>
            <a:off x="609600" y="3462528"/>
            <a:ext cx="134112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Stage 4</a:t>
            </a:r>
            <a:endParaRPr b="0" i="0" sz="1300" u="none" cap="none" strike="noStrike">
              <a:solidFill>
                <a:schemeClr val="dk1"/>
              </a:solidFill>
              <a:latin typeface="Calibri"/>
              <a:ea typeface="Calibri"/>
              <a:cs typeface="Calibri"/>
              <a:sym typeface="Calibri"/>
            </a:endParaRPr>
          </a:p>
        </p:txBody>
      </p:sp>
      <p:sp>
        <p:nvSpPr>
          <p:cNvPr id="1757" name="Google Shape;1757;g386fa9f7404_4_1245"/>
          <p:cNvSpPr/>
          <p:nvPr/>
        </p:nvSpPr>
        <p:spPr>
          <a:xfrm>
            <a:off x="2097024" y="3462528"/>
            <a:ext cx="9448800"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Four Monitors via /proc — file writes, network diffs, process tree, privilege/memory changes. All at 200ms.</a:t>
            </a:r>
            <a:endParaRPr b="0" i="0" sz="1400" u="none" cap="none" strike="noStrike">
              <a:solidFill>
                <a:schemeClr val="dk1"/>
              </a:solidFill>
              <a:latin typeface="Calibri"/>
              <a:ea typeface="Calibri"/>
              <a:cs typeface="Calibri"/>
              <a:sym typeface="Calibri"/>
            </a:endParaRPr>
          </a:p>
        </p:txBody>
      </p:sp>
      <p:sp>
        <p:nvSpPr>
          <p:cNvPr id="1758" name="Google Shape;1758;g386fa9f7404_4_1245"/>
          <p:cNvSpPr/>
          <p:nvPr/>
        </p:nvSpPr>
        <p:spPr>
          <a:xfrm>
            <a:off x="609600" y="4120896"/>
            <a:ext cx="11094720" cy="585216"/>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g386fa9f7404_4_1245"/>
          <p:cNvSpPr/>
          <p:nvPr/>
        </p:nvSpPr>
        <p:spPr>
          <a:xfrm>
            <a:off x="609600" y="4120896"/>
            <a:ext cx="1341120" cy="585216"/>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g386fa9f7404_4_1245"/>
          <p:cNvSpPr/>
          <p:nvPr/>
        </p:nvSpPr>
        <p:spPr>
          <a:xfrm>
            <a:off x="609600" y="4120896"/>
            <a:ext cx="134112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Stage 5–6</a:t>
            </a:r>
            <a:endParaRPr b="0" i="0" sz="1300" u="none" cap="none" strike="noStrike">
              <a:solidFill>
                <a:schemeClr val="dk1"/>
              </a:solidFill>
              <a:latin typeface="Calibri"/>
              <a:ea typeface="Calibri"/>
              <a:cs typeface="Calibri"/>
              <a:sym typeface="Calibri"/>
            </a:endParaRPr>
          </a:p>
        </p:txBody>
      </p:sp>
      <p:sp>
        <p:nvSpPr>
          <p:cNvPr id="1761" name="Google Shape;1761;g386fa9f7404_4_1245"/>
          <p:cNvSpPr/>
          <p:nvPr/>
        </p:nvSpPr>
        <p:spPr>
          <a:xfrm>
            <a:off x="2097024" y="4120896"/>
            <a:ext cx="9448800"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Risk Scoring + IOC — behavior score 55 alone = SUSPICIOUS. Add IOC match (+20) = 75 = MALICIOUS.</a:t>
            </a:r>
            <a:endParaRPr b="0" i="0" sz="1400" u="none" cap="none" strike="noStrike">
              <a:solidFill>
                <a:schemeClr val="dk1"/>
              </a:solidFill>
              <a:latin typeface="Calibri"/>
              <a:ea typeface="Calibri"/>
              <a:cs typeface="Calibri"/>
              <a:sym typeface="Calibri"/>
            </a:endParaRPr>
          </a:p>
        </p:txBody>
      </p:sp>
      <p:sp>
        <p:nvSpPr>
          <p:cNvPr id="1762" name="Google Shape;1762;g386fa9f7404_4_1245"/>
          <p:cNvSpPr/>
          <p:nvPr/>
        </p:nvSpPr>
        <p:spPr>
          <a:xfrm>
            <a:off x="609600" y="4779264"/>
            <a:ext cx="11094720" cy="585216"/>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g386fa9f7404_4_1245"/>
          <p:cNvSpPr/>
          <p:nvPr/>
        </p:nvSpPr>
        <p:spPr>
          <a:xfrm>
            <a:off x="609600" y="4779264"/>
            <a:ext cx="1341120" cy="585216"/>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g386fa9f7404_4_1245"/>
          <p:cNvSpPr/>
          <p:nvPr/>
        </p:nvSpPr>
        <p:spPr>
          <a:xfrm>
            <a:off x="609600" y="4779264"/>
            <a:ext cx="134112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Stage 7–8</a:t>
            </a:r>
            <a:endParaRPr b="0" i="0" sz="1300" u="none" cap="none" strike="noStrike">
              <a:solidFill>
                <a:schemeClr val="dk1"/>
              </a:solidFill>
              <a:latin typeface="Calibri"/>
              <a:ea typeface="Calibri"/>
              <a:cs typeface="Calibri"/>
              <a:sym typeface="Calibri"/>
            </a:endParaRPr>
          </a:p>
        </p:txBody>
      </p:sp>
      <p:sp>
        <p:nvSpPr>
          <p:cNvPr id="1765" name="Google Shape;1765;g386fa9f7404_4_1245"/>
          <p:cNvSpPr/>
          <p:nvPr/>
        </p:nvSpPr>
        <p:spPr>
          <a:xfrm>
            <a:off x="2097024" y="4779264"/>
            <a:ext cx="9448800"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Verdict + Feedback — three thresholds. SUSPICIOUS band = safety net. Three stubs to ML, IOC DB, dashboard.</a:t>
            </a:r>
            <a:endParaRPr b="0" i="0" sz="1400" u="none" cap="none" strike="noStrike">
              <a:solidFill>
                <a:schemeClr val="dk1"/>
              </a:solidFill>
              <a:latin typeface="Calibri"/>
              <a:ea typeface="Calibri"/>
              <a:cs typeface="Calibri"/>
              <a:sym typeface="Calibri"/>
            </a:endParaRPr>
          </a:p>
        </p:txBody>
      </p:sp>
      <p:sp>
        <p:nvSpPr>
          <p:cNvPr id="1766" name="Google Shape;1766;g386fa9f7404_4_1245"/>
          <p:cNvSpPr/>
          <p:nvPr/>
        </p:nvSpPr>
        <p:spPr>
          <a:xfrm>
            <a:off x="609600" y="5437632"/>
            <a:ext cx="11094720" cy="585216"/>
          </a:xfrm>
          <a:prstGeom prst="rect">
            <a:avLst/>
          </a:prstGeom>
          <a:solidFill>
            <a:srgbClr val="142840"/>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g386fa9f7404_4_1245"/>
          <p:cNvSpPr/>
          <p:nvPr/>
        </p:nvSpPr>
        <p:spPr>
          <a:xfrm>
            <a:off x="609600" y="5437632"/>
            <a:ext cx="1341120" cy="585216"/>
          </a:xfrm>
          <a:prstGeom prst="rect">
            <a:avLst/>
          </a:prstGeom>
          <a:solidFill>
            <a:srgbClr val="2471A3"/>
          </a:solidFill>
          <a:ln cap="flat" cmpd="sng" w="12700">
            <a:solidFill>
              <a:srgbClr val="2471A3"/>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g386fa9f7404_4_1245"/>
          <p:cNvSpPr/>
          <p:nvPr/>
        </p:nvSpPr>
        <p:spPr>
          <a:xfrm>
            <a:off x="609600" y="5437632"/>
            <a:ext cx="1341120" cy="58521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Custom</a:t>
            </a:r>
            <a:endParaRPr b="0" i="0" sz="1300" u="none" cap="none" strike="noStrike">
              <a:solidFill>
                <a:schemeClr val="dk1"/>
              </a:solidFill>
              <a:latin typeface="Calibri"/>
              <a:ea typeface="Calibri"/>
              <a:cs typeface="Calibri"/>
              <a:sym typeface="Calibri"/>
            </a:endParaRPr>
          </a:p>
        </p:txBody>
      </p:sp>
      <p:sp>
        <p:nvSpPr>
          <p:cNvPr id="1769" name="Google Shape;1769;g386fa9f7404_4_1245"/>
          <p:cNvSpPr/>
          <p:nvPr/>
        </p:nvSpPr>
        <p:spPr>
          <a:xfrm>
            <a:off x="2097024" y="5437632"/>
            <a:ext cx="9448800"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Purpose-built sandbox. Four tools evaluated (Cuckoo, DRAKVUF, ANY.RUN, Joe). All rejected for valid reasons.</a:t>
            </a:r>
            <a:endParaRPr b="0" i="0" sz="1400" u="none" cap="none" strike="noStrike">
              <a:solidFill>
                <a:schemeClr val="dk1"/>
              </a:solidFill>
              <a:latin typeface="Calibri"/>
              <a:ea typeface="Calibri"/>
              <a:cs typeface="Calibri"/>
              <a:sym typeface="Calibri"/>
            </a:endParaRPr>
          </a:p>
        </p:txBody>
      </p:sp>
      <p:sp>
        <p:nvSpPr>
          <p:cNvPr id="1770" name="Google Shape;1770;g386fa9f7404_4_1245"/>
          <p:cNvSpPr/>
          <p:nvPr/>
        </p:nvSpPr>
        <p:spPr>
          <a:xfrm>
            <a:off x="609600" y="6096000"/>
            <a:ext cx="11094720" cy="426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ED6F1"/>
              </a:buClr>
              <a:buSzPts val="1500"/>
              <a:buFont typeface="Calibri"/>
              <a:buNone/>
            </a:pPr>
            <a:r>
              <a:rPr b="0" i="1" lang="en-US" sz="1500" u="none" cap="none" strike="noStrike">
                <a:solidFill>
                  <a:srgbClr val="AED6F1"/>
                </a:solidFill>
                <a:latin typeface="Calibri"/>
                <a:ea typeface="Calibri"/>
                <a:cs typeface="Calibri"/>
                <a:sym typeface="Calibri"/>
              </a:rPr>
              <a:t>Meeting 3: Live code demo of the notebook — sandbox_explained_v2.ipynb</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