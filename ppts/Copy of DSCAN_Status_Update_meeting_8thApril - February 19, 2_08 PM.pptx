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6858000" cx="12192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x2CMnkCgm56TuI4wJho1sadrG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A78B26-CDB7-4251-9688-8FA0B17459E3}">
  <a:tblStyle styleId="{E1A78B26-CDB7-4251-9688-8FA0B17459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erriweather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e8fcbb63b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be8fcbb63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e8fcbb63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be8fcbb63b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e8fcbb63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be8fcbb63b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e8fcbb63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be8fcbb63b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e8fcbb63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be8fcbb63b_1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e8fcbb63b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be8fcbb63b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e8fcbb63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be8fcbb63b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e8fcbb63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be8fcbb63b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e8fcbb63b_1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be8fcbb63b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e8fcbb63b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be8fcbb63b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e8fcbb63b_1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e8fcbb63b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e8fcbb63b_1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be8fcbb63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8c16e556_0_3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bd8c16e556_0_3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bd8c16e556_0_3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8c16e556_0_32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bd8c16e556_0_3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bd8c16e556_0_3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bd8c16e556_0_3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bd8c16e556_0_3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8c16e556_0_3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bd8c16e556_0_3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bd8c16e556_0_3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bd8c16e556_0_3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bd8c16e556_0_3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8c16e556_0_34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bd8c16e556_0_34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bd8c16e556_0_3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bd8c16e556_0_3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bd8c16e556_0_3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8c16e556_0_3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bd8c16e556_0_34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bd8c16e556_0_34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bd8c16e556_0_3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bd8c16e556_0_3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bd8c16e556_0_3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8c16e556_0_3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bd8c16e556_0_354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bd8c16e556_0_354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bd8c16e556_0_354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bd8c16e556_0_354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bd8c16e556_0_3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bd8c16e556_0_3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bd8c16e556_0_3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8c16e556_0_3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bd8c16e556_0_3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bd8c16e556_0_3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bd8c16e556_0_3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8c16e556_0_368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bd8c16e556_0_368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bd8c16e556_0_368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bd8c16e556_0_36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bd8c16e556_0_36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bd8c16e556_0_3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8c16e556_0_375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bd8c16e556_0_37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bd8c16e556_0_375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bd8c16e556_0_37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bd8c16e556_0_37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bd8c16e556_0_37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8c16e556_0_3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bd8c16e556_0_382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bd8c16e556_0_3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bd8c16e556_0_3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bd8c16e556_0_3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d8c16e556_0_388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bd8c16e556_0_388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bd8c16e556_0_3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bd8c16e556_0_3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bd8c16e556_0_3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8c16e556_0_3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bd8c16e556_0_3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bd8c16e556_0_3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bd8c16e556_0_3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bd8c16e556_0_3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/>
        </p:nvSpPr>
        <p:spPr>
          <a:xfrm>
            <a:off x="679909" y="2491125"/>
            <a:ext cx="55653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b="1" i="0" lang="en-US" sz="1688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Implementation-level walkthrough of signature scanner module.</a:t>
            </a:r>
            <a:endParaRPr b="0" i="0" sz="131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50" y="1685495"/>
            <a:ext cx="125084" cy="196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50" y="2521313"/>
            <a:ext cx="132912" cy="19656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Agenda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66750" y="1114425"/>
            <a:ext cx="10858500" cy="192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1812" y="425100"/>
            <a:ext cx="5718139" cy="643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637936" y="3427700"/>
            <a:ext cx="5237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b="1" i="0" lang="en-US" sz="1688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Discussion on DSCAN placement &amp; hardware and setup requirements .</a:t>
            </a:r>
            <a:endParaRPr b="0" i="0" sz="131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225" y="3459440"/>
            <a:ext cx="125084" cy="1965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700924" y="1549700"/>
            <a:ext cx="57183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8"/>
              <a:buFont typeface="Arial"/>
              <a:buNone/>
            </a:pPr>
            <a:r>
              <a:rPr b="1" i="0" lang="en-US" sz="1688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Discussion on initial reputation calculation using Bayesian modelling &amp; intuition behind threat score threshold values. </a:t>
            </a:r>
            <a:endParaRPr b="1" i="0" sz="1688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8fcbb63b_1_4"/>
          <p:cNvSpPr txBox="1"/>
          <p:nvPr/>
        </p:nvSpPr>
        <p:spPr>
          <a:xfrm>
            <a:off x="865800" y="1118350"/>
            <a:ext cx="10358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Discussion on initial reputation calculation using Bayesian modelling &amp; intuition behind threat score threshold values</a:t>
            </a:r>
            <a:endParaRPr b="1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g3be8fcbb63b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g3be8fcbb63b_1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476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g3be8fcbb63b_1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12865"/>
            <a:ext cx="5286375" cy="193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be8fcbb63b_1_8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DRONE REPUTATION DYNAMICS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be8fcbb63b_1_8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be8fcbb63b_1_8"/>
          <p:cNvSpPr txBox="1"/>
          <p:nvPr/>
        </p:nvSpPr>
        <p:spPr>
          <a:xfrm>
            <a:off x="571500" y="1664940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Intuition of Reputation (R)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be8fcbb63b_1_8"/>
          <p:cNvSpPr txBox="1"/>
          <p:nvPr/>
        </p:nvSpPr>
        <p:spPr>
          <a:xfrm>
            <a:off x="571500" y="1941165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Reputation is a metric ranging from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 to 1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that quantifies source reliability.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g3be8fcbb63b_1_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2225" y="1990576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be8fcbb63b_1_8"/>
          <p:cNvSpPr txBox="1"/>
          <p:nvPr/>
        </p:nvSpPr>
        <p:spPr>
          <a:xfrm>
            <a:off x="838200" y="270316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be8fcbb63b_1_8"/>
          <p:cNvSpPr txBox="1"/>
          <p:nvPr/>
        </p:nvSpPr>
        <p:spPr>
          <a:xfrm>
            <a:off x="952500" y="270316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1: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Fully Trusted. A highly reputable source with a clean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be8fcbb63b_1_8"/>
          <p:cNvSpPr txBox="1"/>
          <p:nvPr/>
        </p:nvSpPr>
        <p:spPr>
          <a:xfrm>
            <a:off x="838200" y="331276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be8fcbb63b_1_8"/>
          <p:cNvSpPr txBox="1"/>
          <p:nvPr/>
        </p:nvSpPr>
        <p:spPr>
          <a:xfrm>
            <a:off x="952500" y="331276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= 0: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Fully Untrusted. A malicious source identified by the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be8fcbb63b_1_8"/>
          <p:cNvSpPr txBox="1"/>
          <p:nvPr/>
        </p:nvSpPr>
        <p:spPr>
          <a:xfrm>
            <a:off x="866775" y="4455765"/>
            <a:ext cx="49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Feedback Mechanism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be8fcbb63b_1_8"/>
          <p:cNvSpPr txBox="1"/>
          <p:nvPr/>
        </p:nvSpPr>
        <p:spPr>
          <a:xfrm>
            <a:off x="866775" y="4932015"/>
            <a:ext cx="469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Reward: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transmitted data is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non-malicious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R increases.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be8fcbb63b_1_8"/>
          <p:cNvSpPr txBox="1"/>
          <p:nvPr/>
        </p:nvSpPr>
        <p:spPr>
          <a:xfrm>
            <a:off x="866775" y="5206305"/>
            <a:ext cx="4695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Penalty: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data is found to be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infected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R decreases significantly.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5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g3be8fcbb63b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g3be8fcbb63b_1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g3be8fcbb63b_1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09750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g3be8fcbb63b_1_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09750"/>
            <a:ext cx="3492549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be8fcbb63b_1_2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"Cold Start"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be8fcbb63b_1_26"/>
          <p:cNvSpPr/>
          <p:nvPr/>
        </p:nvSpPr>
        <p:spPr>
          <a:xfrm>
            <a:off x="571500" y="571500"/>
            <a:ext cx="95400" cy="6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be8fcbb63b_1_26"/>
          <p:cNvSpPr txBox="1"/>
          <p:nvPr/>
        </p:nvSpPr>
        <p:spPr>
          <a:xfrm>
            <a:off x="962025" y="2933700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Unknown 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be8fcbb63b_1_26"/>
          <p:cNvSpPr txBox="1"/>
          <p:nvPr/>
        </p:nvSpPr>
        <p:spPr>
          <a:xfrm>
            <a:off x="962025" y="3524250"/>
            <a:ext cx="2711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a drone enters the network for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first time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there is no historical data in the database to compute its reputation.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be8fcbb63b_1_26"/>
          <p:cNvSpPr txBox="1"/>
          <p:nvPr/>
        </p:nvSpPr>
        <p:spPr>
          <a:xfrm>
            <a:off x="4740324" y="2933700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Security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be8fcbb63b_1_26"/>
          <p:cNvSpPr txBox="1"/>
          <p:nvPr/>
        </p:nvSpPr>
        <p:spPr>
          <a:xfrm>
            <a:off x="4740324" y="3524250"/>
            <a:ext cx="2711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Assigning a static default reputation is dangerous. A malicious drone could exploit a high default score to bypass deep inspection.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be8fcbb63b_1_26"/>
          <p:cNvSpPr txBox="1"/>
          <p:nvPr/>
        </p:nvSpPr>
        <p:spPr>
          <a:xfrm>
            <a:off x="8518624" y="2933700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Contextual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e8fcbb63b_1_26"/>
          <p:cNvSpPr txBox="1"/>
          <p:nvPr/>
        </p:nvSpPr>
        <p:spPr>
          <a:xfrm>
            <a:off x="8518624" y="3524250"/>
            <a:ext cx="2711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solve this by using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Observable Contextual Features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(Zone &amp; File Type) to derive a principled prior reputation.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g3be8fcbb63b_1_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2479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g3be8fcbb63b_1_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247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g3be8fcbb63b_1_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2479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g3be8fcbb63b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g3be8fcbb63b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6522"/>
            <a:ext cx="5381625" cy="2882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g3be8fcbb63b_1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16522"/>
            <a:ext cx="5381625" cy="28822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be8fcbb63b_1_44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BAYESIAN CONTEXTUAL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be8fcbb63b_1_44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e8fcbb63b_1_44"/>
          <p:cNvSpPr txBox="1"/>
          <p:nvPr/>
        </p:nvSpPr>
        <p:spPr>
          <a:xfrm>
            <a:off x="866775" y="2759422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Observable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be8fcbb63b_1_44"/>
          <p:cNvSpPr txBox="1"/>
          <p:nvPr/>
        </p:nvSpPr>
        <p:spPr>
          <a:xfrm>
            <a:off x="866775" y="3235672"/>
            <a:ext cx="47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Even for new drones, two critical attributes are always known at the ingestion point: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be8fcbb63b_1_44"/>
          <p:cNvSpPr txBox="1"/>
          <p:nvPr/>
        </p:nvSpPr>
        <p:spPr>
          <a:xfrm>
            <a:off x="6534150" y="2759422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Contextual Prior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e8fcbb63b_1_44"/>
          <p:cNvSpPr txBox="1"/>
          <p:nvPr/>
        </p:nvSpPr>
        <p:spPr>
          <a:xfrm>
            <a:off x="6534150" y="3235672"/>
            <a:ext cx="47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answers: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"Given a file is from Zone Z and has File Type F, what is the probability it is benign?"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be8fcbb63b_1_44"/>
          <p:cNvSpPr txBox="1"/>
          <p:nvPr/>
        </p:nvSpPr>
        <p:spPr>
          <a:xfrm>
            <a:off x="6534150" y="3784252"/>
            <a:ext cx="479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provides a data-driven reputation for new drones without relying on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be8fcbb63b_1_44"/>
          <p:cNvSpPr txBox="1"/>
          <p:nvPr/>
        </p:nvSpPr>
        <p:spPr>
          <a:xfrm>
            <a:off x="1133475" y="393665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be8fcbb63b_1_44"/>
          <p:cNvSpPr txBox="1"/>
          <p:nvPr/>
        </p:nvSpPr>
        <p:spPr>
          <a:xfrm>
            <a:off x="1247775" y="3936652"/>
            <a:ext cx="441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Zone (Z):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operational zone from which data originates.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be8fcbb63b_1_44"/>
          <p:cNvSpPr txBox="1"/>
          <p:nvPr/>
        </p:nvSpPr>
        <p:spPr>
          <a:xfrm>
            <a:off x="1133475" y="454625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be8fcbb63b_1_44"/>
          <p:cNvSpPr txBox="1"/>
          <p:nvPr/>
        </p:nvSpPr>
        <p:spPr>
          <a:xfrm>
            <a:off x="1247775" y="4546252"/>
            <a:ext cx="441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File Type (F):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type of data (Video, ZIP, Image,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g3be8fcbb63b_1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be8fcbb63b_1_61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BAYESIAN BELIEF NETWORK (BBN)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e8fcbb63b_1_61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be8fcbb63b_1_61"/>
          <p:cNvSpPr txBox="1"/>
          <p:nvPr/>
        </p:nvSpPr>
        <p:spPr>
          <a:xfrm>
            <a:off x="2185987" y="5395912"/>
            <a:ext cx="782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Topology: Observable evidence (Zone &amp; File Type) influences the probability of Attack Status.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7" name="Google Shape;237;g3be8fcbb63b_1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1871662"/>
            <a:ext cx="57150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g3be8fcbb63b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g3be8fcbb63b_1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94323"/>
            <a:ext cx="11049000" cy="100458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be8fcbb63b_1_69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BAYESIAN MATHEMATICAL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be8fcbb63b_1_69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be8fcbb63b_1_69"/>
          <p:cNvSpPr txBox="1"/>
          <p:nvPr/>
        </p:nvSpPr>
        <p:spPr>
          <a:xfrm>
            <a:off x="2543175" y="2708523"/>
            <a:ext cx="71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compute the posterior probability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P(N | Zone, File)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derive the reputation score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be8fcbb63b_1_69"/>
          <p:cNvSpPr txBox="1"/>
          <p:nvPr/>
        </p:nvSpPr>
        <p:spPr>
          <a:xfrm>
            <a:off x="4467225" y="4589398"/>
            <a:ext cx="479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N: No Attack (Benign) | A: Attack (Malicious)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g3be8fcbb63b_1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8041" y="3699123"/>
            <a:ext cx="5915769" cy="394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g3be8fcbb63b_1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be8fcbb63b_1_79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Conditional Probability Table (CPT)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be8fcbb63b_1_79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be8fcbb63b_1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" y="1512975"/>
            <a:ext cx="5801074" cy="20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be8fcbb63b_1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4275" y="1512975"/>
            <a:ext cx="5975449" cy="22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be8fcbb63b_1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2550" y="4090250"/>
            <a:ext cx="9091375" cy="19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AF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g3be8fcbb63b_1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g3be8fcbb63b_1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0" y="5579937"/>
            <a:ext cx="60198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e8fcbb63b_1_88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be8fcbb63b_1_88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be8fcbb63b_1_88"/>
          <p:cNvSpPr/>
          <p:nvPr/>
        </p:nvSpPr>
        <p:spPr>
          <a:xfrm>
            <a:off x="3233749" y="1143000"/>
            <a:ext cx="5724600" cy="1962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g3be8fcbb63b_1_88"/>
          <p:cNvGraphicFramePr/>
          <p:nvPr/>
        </p:nvGraphicFramePr>
        <p:xfrm>
          <a:off x="3238499" y="1143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{E1A78B26-CDB7-4251-9688-8FA0B17459E3}</a:tableStyleId>
              </a:tblPr>
              <a:tblGrid>
                <a:gridCol w="1543050"/>
                <a:gridCol w="2085975"/>
                <a:gridCol w="2085975"/>
              </a:tblGrid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Benign (N) Probability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Attack (A) Probability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Prior Probability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P(N) = 0.85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P(A) = 0.15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Zone 3 Likelihood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P(Zone=3 | N) = 0.12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P(Zone=3 | A) = 0.35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ZIP File Likelihood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P(File=ZIP | N) = 0.08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P(File=ZIP | A) = 0.45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g3be8fcbb63b_1_88"/>
          <p:cNvSpPr txBox="1"/>
          <p:nvPr/>
        </p:nvSpPr>
        <p:spPr>
          <a:xfrm>
            <a:off x="3086100" y="4636962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Numerator: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0.85 × 0.12 × 0.08 = 0.00816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be8fcbb63b_1_88"/>
          <p:cNvSpPr txBox="1"/>
          <p:nvPr/>
        </p:nvSpPr>
        <p:spPr>
          <a:xfrm>
            <a:off x="3086100" y="5084637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Denominator: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0.00816 + (0.15 × 0.35 × 0.45) = 0.03179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1" name="Google Shape;271;g3be8fcbb63b_1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275" y="3368836"/>
            <a:ext cx="11049000" cy="1004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g3be8fcbb63b_1_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3816" y="3673636"/>
            <a:ext cx="5915769" cy="394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be8fcbb63b_1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748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be8fcbb63b_1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3752" cy="678274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be8fcbb63b_1_105"/>
          <p:cNvSpPr txBox="1"/>
          <p:nvPr/>
        </p:nvSpPr>
        <p:spPr>
          <a:xfrm>
            <a:off x="9916150" y="3429000"/>
            <a:ext cx="23376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(These are just examples)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g3be8fcbb63b_1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748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be8fcbb63b_1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8837" y="0"/>
            <a:ext cx="1238968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