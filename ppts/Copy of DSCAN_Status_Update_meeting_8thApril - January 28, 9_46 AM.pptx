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Lato"/>
      <p:regular r:id="rId42"/>
      <p:bold r:id="rId43"/>
      <p:italic r:id="rId44"/>
      <p:boldItalic r:id="rId45"/>
    </p:embeddedFont>
    <p:embeddedFont>
      <p:font typeface="Merriweather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0" roundtripDataSignature="AMtx7mgbqmbuSGN1Sr0CIQks3sRv8geE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7EEFBF-651B-49B4-A833-6018C181F32F}">
  <a:tblStyle styleId="{057EEFBF-651B-49B4-A833-6018C181F3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Lato-regular.fntdata"/><Relationship Id="rId41" Type="http://schemas.openxmlformats.org/officeDocument/2006/relationships/slide" Target="slides/slide35.xml"/><Relationship Id="rId44" Type="http://schemas.openxmlformats.org/officeDocument/2006/relationships/font" Target="fonts/Lato-italic.fntdata"/><Relationship Id="rId43" Type="http://schemas.openxmlformats.org/officeDocument/2006/relationships/font" Target="fonts/Lato-bold.fntdata"/><Relationship Id="rId46" Type="http://schemas.openxmlformats.org/officeDocument/2006/relationships/font" Target="fonts/Merriweather-regular.fntdata"/><Relationship Id="rId45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erriweather-italic.fntdata"/><Relationship Id="rId47" Type="http://schemas.openxmlformats.org/officeDocument/2006/relationships/font" Target="fonts/Merriweather-bold.fntdata"/><Relationship Id="rId49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75ca3f6f0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b75ca3f6f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75ca3f6f0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b75ca3f6f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11" Type="http://schemas.openxmlformats.org/officeDocument/2006/relationships/image" Target="../media/image20.png"/><Relationship Id="rId10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85475" y="4704075"/>
            <a:ext cx="7345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Principal Investigator: Dr. Padmalochan Bera, </a:t>
            </a:r>
            <a:endParaRPr b="1" i="0" sz="14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Associate Professor (CSE), School of</a:t>
            </a:r>
            <a:endParaRPr b="1" i="0" sz="14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Electrical &amp; Computer Sciences, IIT Bhubaneswar</a:t>
            </a:r>
            <a:endParaRPr b="1" i="0" sz="14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Team: Kasturi Routray and Sangam Mishra</a:t>
            </a:r>
            <a:endParaRPr b="1" i="0" sz="1400" u="none" cap="none" strike="noStrike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85475" y="2172975"/>
            <a:ext cx="114015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565C0"/>
                </a:solidFill>
                <a:latin typeface="Merriweather"/>
                <a:ea typeface="Merriweather"/>
                <a:cs typeface="Merriweather"/>
                <a:sym typeface="Merriweather"/>
              </a:rPr>
              <a:t>Design and Development of DSCAN: Malware Detection and Prevention for Drone Data</a:t>
            </a:r>
            <a:endParaRPr b="1" i="0" sz="3150" u="none" cap="none" strike="noStrike">
              <a:solidFill>
                <a:srgbClr val="1565C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1" i="0" sz="3150" u="none" cap="none" strike="noStrike">
              <a:solidFill>
                <a:srgbClr val="1565C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994225" y="418375"/>
            <a:ext cx="458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sng" cap="none" strike="noStrike">
                <a:solidFill>
                  <a:srgbClr val="0288D1"/>
                </a:solidFill>
                <a:latin typeface="Merriweather"/>
                <a:ea typeface="Merriweather"/>
                <a:cs typeface="Merriweather"/>
                <a:sym typeface="Merriweather"/>
              </a:rPr>
              <a:t>Status Update Meeting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/>
        </p:nvSpPr>
        <p:spPr>
          <a:xfrm>
            <a:off x="1000125" y="2395537"/>
            <a:ext cx="105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77BD"/>
                </a:solidFill>
                <a:latin typeface="Lato"/>
                <a:ea typeface="Lato"/>
                <a:cs typeface="Lato"/>
                <a:sym typeface="Lato"/>
              </a:rPr>
              <a:t>Detect and Block Malicious Payloads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1000125" y="2928937"/>
            <a:ext cx="105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77BD"/>
                </a:solidFill>
                <a:latin typeface="Lato"/>
                <a:ea typeface="Lato"/>
                <a:cs typeface="Lato"/>
                <a:sym typeface="Lato"/>
              </a:rPr>
              <a:t>Device Authentication and Metadata 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1000125" y="3462337"/>
            <a:ext cx="105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77BD"/>
                </a:solidFill>
                <a:latin typeface="Lato"/>
                <a:ea typeface="Lato"/>
                <a:cs typeface="Lato"/>
                <a:sym typeface="Lato"/>
              </a:rPr>
              <a:t>Risk-Based Adaptive Inspection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1000125" y="3995737"/>
            <a:ext cx="105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77BD"/>
                </a:solidFill>
                <a:latin typeface="Lato"/>
                <a:ea typeface="Lato"/>
                <a:cs typeface="Lato"/>
                <a:sym typeface="Lato"/>
              </a:rPr>
              <a:t>Intelligent Defense via AI and Game Theory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1000125" y="4529137"/>
            <a:ext cx="105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77BD"/>
                </a:solidFill>
                <a:latin typeface="Lato"/>
                <a:ea typeface="Lato"/>
                <a:cs typeface="Lato"/>
                <a:sym typeface="Lato"/>
              </a:rPr>
              <a:t>Visibility and Auditability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1000125" y="5062537"/>
            <a:ext cx="105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77BD"/>
                </a:solidFill>
                <a:latin typeface="Lato"/>
                <a:ea typeface="Lato"/>
                <a:cs typeface="Lato"/>
                <a:sym typeface="Lato"/>
              </a:rPr>
              <a:t>Real-Time Operational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8" name="Google Shape;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443162"/>
            <a:ext cx="1333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976562"/>
            <a:ext cx="1333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509962"/>
            <a:ext cx="1333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043362"/>
            <a:ext cx="1333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576762"/>
            <a:ext cx="1333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5110162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 txBox="1"/>
          <p:nvPr/>
        </p:nvSpPr>
        <p:spPr>
          <a:xfrm>
            <a:off x="666750" y="4762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288D1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66750" y="1114425"/>
            <a:ext cx="10858500" cy="19200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395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export to power point mark"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b75ca3f6f0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2150" y="843275"/>
            <a:ext cx="8625850" cy="564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b75ca3f6f0_0_6"/>
          <p:cNvSpPr txBox="1"/>
          <p:nvPr/>
        </p:nvSpPr>
        <p:spPr>
          <a:xfrm>
            <a:off x="483900" y="111750"/>
            <a:ext cx="11401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288D1"/>
                </a:solidFill>
                <a:latin typeface="Merriweather"/>
                <a:ea typeface="Merriweather"/>
                <a:cs typeface="Merriweather"/>
                <a:sym typeface="Merriweather"/>
              </a:rPr>
              <a:t>Proposed Architecture</a:t>
            </a:r>
            <a:endParaRPr b="1" i="0" sz="3150" u="none" cap="none" strike="noStrike">
              <a:solidFill>
                <a:srgbClr val="0288D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1" i="0" sz="3150" u="none" cap="none" strike="noStrike">
              <a:solidFill>
                <a:srgbClr val="0288D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6" title="Mermaid Chart - Create complex, visual diagrams with text.-2025-12-02-10341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2700" y="119525"/>
            <a:ext cx="8647199" cy="6738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0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8" title="Mermaid Chart - Create complex, visual diagrams with text.-2025-12-02-10263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0625" y="175550"/>
            <a:ext cx="8984151" cy="668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75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343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0"/>
          <p:cNvSpPr txBox="1"/>
          <p:nvPr/>
        </p:nvSpPr>
        <p:spPr>
          <a:xfrm>
            <a:off x="7756200" y="2032725"/>
            <a:ext cx="2829600" cy="29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9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9" y="0"/>
            <a:ext cx="1217148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6105525"/>
            <a:ext cx="1085850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885950"/>
            <a:ext cx="3460700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5575" y="1885950"/>
            <a:ext cx="3460700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885950"/>
            <a:ext cx="3460700" cy="393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20275" y="346025"/>
            <a:ext cx="123825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/>
        </p:nvSpPr>
        <p:spPr>
          <a:xfrm>
            <a:off x="666750" y="1285875"/>
            <a:ext cx="10858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Lato"/>
                <a:ea typeface="Lato"/>
                <a:cs typeface="Lato"/>
                <a:sym typeface="Lato"/>
              </a:rPr>
              <a:t>Why can't we just use one method for everything?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819150" y="6257925"/>
            <a:ext cx="1055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277BD"/>
                </a:solidFill>
                <a:latin typeface="Lato"/>
                <a:ea typeface="Lato"/>
                <a:cs typeface="Lato"/>
                <a:sym typeface="Lato"/>
              </a:rPr>
              <a:t>Verdict: We need a mathematical way to choose the optimal depth → Game Theory.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7" name="Google Shape;16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16025" y="21621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3"/>
          <p:cNvSpPr txBox="1"/>
          <p:nvPr/>
        </p:nvSpPr>
        <p:spPr>
          <a:xfrm>
            <a:off x="1621928" y="3067050"/>
            <a:ext cx="155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32F2F"/>
                </a:solidFill>
                <a:latin typeface="Merriweather"/>
                <a:ea typeface="Merriweather"/>
                <a:cs typeface="Merriweather"/>
                <a:sym typeface="Merriweather"/>
              </a:rPr>
              <a:t>Run All Layers?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1382613" y="3619500"/>
            <a:ext cx="2028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(Signature + ML + Sandbox)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1573113" y="4200525"/>
            <a:ext cx="164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Result: </a:t>
            </a:r>
            <a:r>
              <a:rPr b="1" i="0" lang="en-US" sz="120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Extreme Latency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914400" y="4733925"/>
            <a:ext cx="296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Drones require real-time decisions. Waiting for deep analysis on every packet halts the mission.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2" name="Google Shape;17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1621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3"/>
          <p:cNvSpPr txBox="1"/>
          <p:nvPr/>
        </p:nvSpPr>
        <p:spPr>
          <a:xfrm>
            <a:off x="5065722" y="3067050"/>
            <a:ext cx="206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9A825"/>
                </a:solidFill>
                <a:latin typeface="Merriweather"/>
                <a:ea typeface="Merriweather"/>
                <a:cs typeface="Merriweather"/>
                <a:sym typeface="Merriweather"/>
              </a:rPr>
              <a:t>Run Signature Only?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5381476" y="3619500"/>
            <a:ext cx="1428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(Fastest Approach)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5310038" y="4200525"/>
            <a:ext cx="15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Result: </a:t>
            </a:r>
            <a:r>
              <a:rPr b="1" i="0" lang="en-US" sz="120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Security Failure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4613225" y="4733925"/>
            <a:ext cx="296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Fast, but misses Zero-Day attacks, polymorphic malware, and encrypted payloads.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7" name="Google Shape;17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13676" y="21621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3"/>
          <p:cNvSpPr txBox="1"/>
          <p:nvPr/>
        </p:nvSpPr>
        <p:spPr>
          <a:xfrm>
            <a:off x="8829555" y="3067050"/>
            <a:ext cx="193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D32F2F"/>
                </a:solidFill>
                <a:latin typeface="Merriweather"/>
                <a:ea typeface="Merriweather"/>
                <a:cs typeface="Merriweather"/>
                <a:sym typeface="Merriweather"/>
              </a:rPr>
              <a:t>Run Sandbox Only?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9004101" y="3619500"/>
            <a:ext cx="1581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(Deepest Inspection)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8837414" y="4200525"/>
            <a:ext cx="19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Result: </a:t>
            </a:r>
            <a:r>
              <a:rPr b="1" i="0" lang="en-US" sz="120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Resource Exhaustion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8312050" y="4733925"/>
            <a:ext cx="296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Lato"/>
                <a:ea typeface="Lato"/>
                <a:cs typeface="Lato"/>
                <a:sym typeface="Lato"/>
              </a:rPr>
              <a:t>Computationally impossible to simulate every single file in a high-volume drone stream.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2" name="Google Shape;18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01763" y="237172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0588" y="237172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80364" y="237172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 txBox="1"/>
          <p:nvPr/>
        </p:nvSpPr>
        <p:spPr>
          <a:xfrm>
            <a:off x="666750" y="1333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288D1"/>
                </a:solidFill>
                <a:latin typeface="Merriweather"/>
                <a:ea typeface="Merriweather"/>
                <a:cs typeface="Merriweather"/>
                <a:sym typeface="Merriweather"/>
              </a:rPr>
              <a:t>The Inspection Dilemma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666750" y="771525"/>
            <a:ext cx="10858500" cy="19200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download for googel slides mark from all pages, if found" id="191" name="Google Shape;1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export to slides mark" id="196" name="Google Shape;1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export to slides mark from all slides" id="201" name="Google Shape;2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export to slides mark from all slides" id="206" name="Google Shape;2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39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export to slides mark"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download for google slides mark from all slides"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download for google slides mark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download for google slides mark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download for google slides mark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82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8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475"/>
            <a:ext cx="12192000" cy="682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75ca3f6f0_0_14"/>
          <p:cNvSpPr txBox="1"/>
          <p:nvPr/>
        </p:nvSpPr>
        <p:spPr>
          <a:xfrm>
            <a:off x="254025" y="1066805"/>
            <a:ext cx="5588100" cy="56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Language &amp; Runtime</a:t>
            </a:r>
            <a:endParaRPr b="1" i="0" sz="13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Python 3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Core Libraries</a:t>
            </a:r>
            <a:endParaRPr b="1" i="0" sz="13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numpy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math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json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Handling</a:t>
            </a:r>
            <a:endParaRPr b="1" i="0" sz="13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pandas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Threat Estimation / Logic</a:t>
            </a:r>
            <a:endParaRPr b="1" i="0" sz="13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custom game-theoretic logic (Stackelberg + Bayesian attacker modeling)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sigmoid / exponential scoring functions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Ingestion &amp; Validation</a:t>
            </a:r>
            <a:endParaRPr b="1" i="0" sz="13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pydantic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jsonschema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File &amp; Payload Processing</a:t>
            </a:r>
            <a:endParaRPr b="1" i="0" sz="13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hashlib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zipfile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tarfile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7" name="Google Shape;277;g3b75ca3f6f0_0_14"/>
          <p:cNvSpPr txBox="1"/>
          <p:nvPr/>
        </p:nvSpPr>
        <p:spPr>
          <a:xfrm>
            <a:off x="6614175" y="1036325"/>
            <a:ext cx="5344200" cy="28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Security / Integrity</a:t>
            </a:r>
            <a:endParaRPr b="1" i="0" sz="13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cryptography (signature verification)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hashing (SHA-256)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Storage / State</a:t>
            </a:r>
            <a:endParaRPr b="1" i="0" sz="13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Redis (reputation / history)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object storage abstraction (artifact pointers)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Testing / Debugging</a:t>
            </a:r>
            <a:endParaRPr b="1" i="0" sz="13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Jupyter Notebook environment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erriweather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logging (standard library)</a:t>
            </a:r>
            <a:endParaRPr b="0" i="0" sz="11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8" name="Google Shape;278;g3b75ca3f6f0_0_14"/>
          <p:cNvSpPr txBox="1"/>
          <p:nvPr/>
        </p:nvSpPr>
        <p:spPr>
          <a:xfrm>
            <a:off x="199400" y="31755"/>
            <a:ext cx="114015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2750" u="none" cap="none" strike="noStrike">
                <a:solidFill>
                  <a:srgbClr val="0288D1"/>
                </a:solidFill>
                <a:latin typeface="Merriweather"/>
                <a:ea typeface="Merriweather"/>
                <a:cs typeface="Merriweather"/>
                <a:sym typeface="Merriweather"/>
              </a:rPr>
              <a:t>List of requirements for Ingestion Interceptor and Game Theoretic Threat Estimator</a:t>
            </a:r>
            <a:endParaRPr b="1" i="0" sz="2750" u="none" cap="none" strike="noStrike">
              <a:solidFill>
                <a:srgbClr val="0288D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t/>
            </a:r>
            <a:endParaRPr b="1" i="0" sz="3150" u="none" cap="none" strike="noStrike">
              <a:solidFill>
                <a:srgbClr val="0288D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4" name="Google Shape;284;p31"/>
          <p:cNvGraphicFramePr/>
          <p:nvPr/>
        </p:nvGraphicFramePr>
        <p:xfrm>
          <a:off x="666750" y="2538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{057EEFBF-651B-49B4-A833-6018C181F32F}</a:tableStyleId>
              </a:tblPr>
              <a:tblGrid>
                <a:gridCol w="2960350"/>
                <a:gridCol w="2830550"/>
                <a:gridCol w="2503575"/>
                <a:gridCol w="2554475"/>
              </a:tblGrid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Payload Type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Risk Factors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Threat Score ($T_S$)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Verdict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2FD"/>
                    </a:solidFill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Normal Video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0.27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E7D3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 (Allow)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Encrypted Nested Archive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Opacity, Encryption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0.83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6282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(Block/Sandbox)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Large Binary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Size &gt; 10MB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0.61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9A82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 (ML Scan)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Telemetry Data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7474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0.11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2E7D3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 (Allow)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31"/>
          <p:cNvSpPr/>
          <p:nvPr/>
        </p:nvSpPr>
        <p:spPr>
          <a:xfrm>
            <a:off x="671512" y="3095625"/>
            <a:ext cx="296034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3631852" y="3095625"/>
            <a:ext cx="283056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6462414" y="3095625"/>
            <a:ext cx="250358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8966001" y="3095625"/>
            <a:ext cx="2554485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671512" y="3657600"/>
            <a:ext cx="296034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3631852" y="3657600"/>
            <a:ext cx="283056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6462414" y="3657600"/>
            <a:ext cx="250358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8966001" y="3657600"/>
            <a:ext cx="2554485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671512" y="4219575"/>
            <a:ext cx="296034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3631852" y="4219575"/>
            <a:ext cx="283056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6462414" y="4219575"/>
            <a:ext cx="250358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8966001" y="4219575"/>
            <a:ext cx="2554485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671512" y="4781550"/>
            <a:ext cx="296034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3631852" y="4781550"/>
            <a:ext cx="283056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6462414" y="4781550"/>
            <a:ext cx="2503586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8966001" y="4781550"/>
            <a:ext cx="2554485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1"/>
          <p:cNvSpPr txBox="1"/>
          <p:nvPr/>
        </p:nvSpPr>
        <p:spPr>
          <a:xfrm>
            <a:off x="666750" y="476250"/>
            <a:ext cx="114014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565C0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666750" y="1114425"/>
            <a:ext cx="10858500" cy="190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790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60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download for google slides mark from the sldie" id="317" name="Google Shape;31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6"/>
          <p:cNvSpPr txBox="1"/>
          <p:nvPr/>
        </p:nvSpPr>
        <p:spPr>
          <a:xfrm>
            <a:off x="4043362" y="2524125"/>
            <a:ext cx="431053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D47A1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4043362" y="3857625"/>
            <a:ext cx="41052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Lato"/>
                <a:ea typeface="Lato"/>
                <a:cs typeface="Lato"/>
                <a:sym typeface="Lato"/>
              </a:rPr>
              <a:t>Thank you for your attention.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