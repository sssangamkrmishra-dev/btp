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9sxbfXfFHSU4o/2nXbiiEcRnj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customschemas.google.com/relationships/presentationmetadata" Target="metadata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d1c309b5_8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c5d1c309b5_8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Welcome. This is the first of three meetings on the Sandbox Analyzer module.</a:t>
            </a:r>
            <a:br>
              <a:rPr lang="en-US"/>
            </a:br>
            <a:br>
              <a:rPr lang="en-US"/>
            </a:br>
            <a:r>
              <a:rPr lang="en-US"/>
              <a:t>Today: a complete overview — what it is, why it is needed, how it fits in the system, and early results.</a:t>
            </a:r>
            <a:br>
              <a:rPr lang="en-US"/>
            </a:br>
            <a:r>
              <a:rPr lang="en-US"/>
              <a:t>Meeting 2: deep dive into how it works internally — the 8 stages.</a:t>
            </a:r>
            <a:br>
              <a:rPr lang="en-US"/>
            </a:br>
            <a:r>
              <a:rPr lang="en-US"/>
              <a:t>Meeting 3: full validation, research backing, and next steps.</a:t>
            </a:r>
            <a:br>
              <a:rPr lang="en-US"/>
            </a:br>
            <a:br>
              <a:rPr lang="en-US"/>
            </a:br>
            <a:r>
              <a:rPr lang="en-US"/>
              <a:t>I will speak for about 10–15 minutes.</a:t>
            </a:r>
            <a:endParaRPr/>
          </a:p>
        </p:txBody>
      </p:sp>
      <p:sp>
        <p:nvSpPr>
          <p:cNvPr id="89" name="Google Shape;89;g3c5d1c309b5_8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d1c309b5_8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c5d1c309b5_8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Quick orientation. Two modules are done — the audience already knows those.</a:t>
            </a:r>
            <a:br>
              <a:rPr lang="en-US"/>
            </a:br>
            <a:br>
              <a:rPr lang="en-US"/>
            </a:br>
            <a:r>
              <a:rPr lang="en-US"/>
              <a:t>Today we focus entirely on the Sandbox Analyzer — Module 3.</a:t>
            </a:r>
            <a:br>
              <a:rPr lang="en-US"/>
            </a:br>
            <a:br>
              <a:rPr lang="en-US"/>
            </a:br>
            <a:r>
              <a:rPr lang="en-US"/>
              <a:t>The remaining modules (Metadata Sanitizer, Response Manager) come after.</a:t>
            </a:r>
            <a:endParaRPr/>
          </a:p>
        </p:txBody>
      </p:sp>
      <p:sp>
        <p:nvSpPr>
          <p:cNvPr id="99" name="Google Shape;99;g3c5d1c309b5_8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ee277e4b5_1_21:notes"/>
          <p:cNvSpPr/>
          <p:nvPr>
            <p:ph idx="2" type="sldImg"/>
          </p:nvPr>
        </p:nvSpPr>
        <p:spPr>
          <a:xfrm>
            <a:off x="914400" y="1143000"/>
            <a:ext cx="731472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cee277e4b5_1_21:notes"/>
          <p:cNvSpPr txBox="1"/>
          <p:nvPr>
            <p:ph idx="1" type="body"/>
          </p:nvPr>
        </p:nvSpPr>
        <p:spPr>
          <a:xfrm>
            <a:off x="914400" y="4400640"/>
            <a:ext cx="73147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cee277e4b5_1_21:notes"/>
          <p:cNvSpPr txBox="1"/>
          <p:nvPr>
            <p:ph idx="12" type="sldNum"/>
          </p:nvPr>
        </p:nvSpPr>
        <p:spPr>
          <a:xfrm>
            <a:off x="5179680" y="8685360"/>
            <a:ext cx="396192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d1c309b5_8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c5d1c309b5_8_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slide answers 'why do we even need this?'</a:t>
            </a:r>
            <a:br>
              <a:rPr lang="en-US"/>
            </a:br>
            <a:br>
              <a:rPr lang="en-US"/>
            </a:br>
            <a:r>
              <a:rPr lang="en-US"/>
              <a:t>Both Layer 1 and Layer 2 analyse the file statically — without running it. That makes them fast, but it also means a clever attacker can evade them.</a:t>
            </a:r>
            <a:br>
              <a:rPr lang="en-US"/>
            </a:br>
            <a:br>
              <a:rPr lang="en-US"/>
            </a:br>
            <a:r>
              <a:rPr lang="en-US"/>
              <a:t>Zero-day = a threat so new that no one has written a signature for it yet.</a:t>
            </a:r>
            <a:br>
              <a:rPr lang="en-US"/>
            </a:br>
            <a:r>
              <a:rPr lang="en-US"/>
              <a:t>Obfuscation = rewriting malware code so it looks different but does the same thing.</a:t>
            </a:r>
            <a:br>
              <a:rPr lang="en-US"/>
            </a:br>
            <a:br>
              <a:rPr lang="en-US"/>
            </a:br>
            <a:r>
              <a:rPr lang="en-US"/>
              <a:t>The sandbox sidesteps both problems entirely — because it does not care how the file looks. It watches what it does.</a:t>
            </a:r>
            <a:endParaRPr/>
          </a:p>
        </p:txBody>
      </p:sp>
      <p:sp>
        <p:nvSpPr>
          <p:cNvPr id="153" name="Google Shape;153;g3c5d1c309b5_8_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d1c309b5_8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c5d1c309b5_8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is the most important conceptual slide in Meeting 1.</a:t>
            </a:r>
            <a:br>
              <a:rPr lang="en-US"/>
            </a:br>
            <a:br>
              <a:rPr lang="en-US"/>
            </a:br>
            <a:r>
              <a:rPr lang="en-US"/>
              <a:t>Static analysis is fast and cheap — it works on every file. But it is fundamentally limited because it never sees the file run.</a:t>
            </a:r>
            <a:br>
              <a:rPr lang="en-US"/>
            </a:br>
            <a:br>
              <a:rPr lang="en-US"/>
            </a:br>
            <a:r>
              <a:rPr lang="en-US"/>
              <a:t>Behavioral analysis is slower — 5 to 30 seconds per file — but it cannot be fooled by obfuscation, encryption, or packing. Once a malicious file runs, it has to do something malicious. That action gets recorded.</a:t>
            </a:r>
            <a:br>
              <a:rPr lang="en-US"/>
            </a:br>
            <a:br>
              <a:rPr lang="en-US"/>
            </a:br>
            <a:r>
              <a:rPr lang="en-US"/>
              <a:t>This distinction is backed by research: Guven (2024) and Cozzi et al. (2018) both confirm dynamic analysis catches threats that static methods miss.</a:t>
            </a:r>
            <a:endParaRPr/>
          </a:p>
        </p:txBody>
      </p:sp>
      <p:sp>
        <p:nvSpPr>
          <p:cNvPr id="175" name="Google Shape;175;g3c5d1c309b5_8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5d1c309b5_8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5d1c309b5_8_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connects to the previous modules the audience already knows.</a:t>
            </a:r>
            <a:br>
              <a:rPr lang="en-US"/>
            </a:br>
            <a:br>
              <a:rPr lang="en-US"/>
            </a:br>
            <a:r>
              <a:rPr lang="en-US"/>
              <a:t>Layers 1 and 2 run on every file. They are fast. The sandbox is slow — 5 to 30 seconds — so we cannot run it on everything.</a:t>
            </a:r>
            <a:br>
              <a:rPr lang="en-US"/>
            </a:br>
            <a:br>
              <a:rPr lang="en-US"/>
            </a:br>
            <a:r>
              <a:rPr lang="en-US"/>
              <a:t>The Game-Theoretic Estimator (already built) decides which files are high-risk enough to deserve sandbox analysis.</a:t>
            </a:r>
            <a:br>
              <a:rPr lang="en-US"/>
            </a:br>
            <a:br>
              <a:rPr lang="en-US"/>
            </a:br>
            <a:r>
              <a:rPr lang="en-US"/>
              <a:t>The sandbox result goes to the Response Manager — allow, quarantine, or block.</a:t>
            </a:r>
            <a:endParaRPr/>
          </a:p>
        </p:txBody>
      </p:sp>
      <p:sp>
        <p:nvSpPr>
          <p:cNvPr id="207" name="Google Shape;207;g3c5d1c309b5_8_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5d1c309b5_8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c5d1c309b5_8_1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is the 30-second overview of all 8 stages. You do not need to explain each one in depth today — Meeting 2 covers that.</a:t>
            </a:r>
            <a:br>
              <a:rPr lang="en-US"/>
            </a:br>
            <a:br>
              <a:rPr lang="en-US"/>
            </a:br>
            <a:r>
              <a:rPr lang="en-US"/>
              <a:t>The key message here is: this is a complete, structured pipeline. Every step has a specific purpose. Nothing is ad hoc.</a:t>
            </a:r>
            <a:br>
              <a:rPr lang="en-US"/>
            </a:br>
            <a:br>
              <a:rPr lang="en-US"/>
            </a:br>
            <a:r>
              <a:rPr lang="en-US"/>
              <a:t>Stages 1–2: preparation and file identification.</a:t>
            </a:r>
            <a:br>
              <a:rPr lang="en-US"/>
            </a:br>
            <a:r>
              <a:rPr lang="en-US"/>
              <a:t>Stage 3: safety — the host system is protected.</a:t>
            </a:r>
            <a:br>
              <a:rPr lang="en-US"/>
            </a:br>
            <a:r>
              <a:rPr lang="en-US"/>
              <a:t>Stage 4: the core — actual execution with real-time monitoring.</a:t>
            </a:r>
            <a:br>
              <a:rPr lang="en-US"/>
            </a:br>
            <a:r>
              <a:rPr lang="en-US"/>
              <a:t>Stages 5–6: converting observations into a score.</a:t>
            </a:r>
            <a:br>
              <a:rPr lang="en-US"/>
            </a:br>
            <a:r>
              <a:rPr lang="en-US"/>
              <a:t>Stages 7–8: the decision and the learning loop.</a:t>
            </a:r>
            <a:endParaRPr/>
          </a:p>
        </p:txBody>
      </p:sp>
      <p:sp>
        <p:nvSpPr>
          <p:cNvPr id="244" name="Google Shape;244;g3c5d1c309b5_8_1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5d1c309b5_8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c5d1c309b5_8_1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three decisions come up repeatedly in the notebook and in Meeting 2 and 3.</a:t>
            </a:r>
            <a:br>
              <a:rPr lang="en-US"/>
            </a:br>
            <a:br>
              <a:rPr lang="en-US"/>
            </a:br>
            <a:r>
              <a:rPr lang="en-US"/>
              <a:t>Decision 1 — magic bytes: mention the example 'photo.jpg that is actually a shell script'. That lands well with both technical and management audiences.</a:t>
            </a:r>
            <a:br>
              <a:rPr lang="en-US"/>
            </a:br>
            <a:br>
              <a:rPr lang="en-US"/>
            </a:br>
            <a:r>
              <a:rPr lang="en-US"/>
              <a:t>Decision 2 — no password guessing: this was a deliberate change from an earlier design. The reasoning is more defensible and stronger than the alternative.</a:t>
            </a:r>
            <a:br>
              <a:rPr lang="en-US"/>
            </a:br>
            <a:br>
              <a:rPr lang="en-US"/>
            </a:br>
            <a:r>
              <a:rPr lang="en-US"/>
              <a:t>Decision 3 — /proc: this is a technical point that shows the implementation is solid. Management does not need to understand it deeply — the key word is 'cannot be manipulated by the file being monitored'.</a:t>
            </a:r>
            <a:endParaRPr/>
          </a:p>
        </p:txBody>
      </p:sp>
      <p:sp>
        <p:nvSpPr>
          <p:cNvPr id="292" name="Google Shape;292;g3c5d1c309b5_8_1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5d1c309b5_8_2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c5d1c309b5_8_2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slide shows WHAT the sandbox observes — not how it observes it technically.</a:t>
            </a:r>
            <a:br>
              <a:rPr lang="en-US"/>
            </a:br>
            <a:br>
              <a:rPr lang="en-US"/>
            </a:br>
            <a:r>
              <a:rPr lang="en-US"/>
              <a:t>All four monitors run simultaneously while the file executes. Any suspicious action in any of these four categories is recorded and contributes to the risk score.</a:t>
            </a:r>
            <a:br>
              <a:rPr lang="en-US"/>
            </a:br>
            <a:br>
              <a:rPr lang="en-US"/>
            </a:br>
            <a:r>
              <a:rPr lang="en-US"/>
              <a:t>Files: writing executables to hidden locations or touching credential files.</a:t>
            </a:r>
            <a:br>
              <a:rPr lang="en-US"/>
            </a:br>
            <a:r>
              <a:rPr lang="en-US"/>
              <a:t>Network: trying to call home to an attacker's server (C2 callback).</a:t>
            </a:r>
            <a:br>
              <a:rPr lang="en-US"/>
            </a:br>
            <a:r>
              <a:rPr lang="en-US"/>
              <a:t>Processes: launching a shell or download tool — typical second-stage attack behaviour.</a:t>
            </a:r>
            <a:br>
              <a:rPr lang="en-US"/>
            </a:br>
            <a:r>
              <a:rPr lang="en-US"/>
              <a:t>Permissions: trying to gain admin-level access to the system.</a:t>
            </a:r>
            <a:endParaRPr/>
          </a:p>
        </p:txBody>
      </p:sp>
      <p:sp>
        <p:nvSpPr>
          <p:cNvPr id="321" name="Google Shape;321;g3c5d1c309b5_8_2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5d1c309b5_8_2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5d1c309b5_8_2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weights are calibrated by threat severity — an action like self-replication scores 40 because it is almost never legitimate, whereas spawning a child process scores only 10 because it could have innocent explanations.</a:t>
            </a:r>
            <a:br>
              <a:rPr lang="en-US"/>
            </a:br>
            <a:br>
              <a:rPr lang="en-US"/>
            </a:br>
            <a:r>
              <a:rPr lang="en-US"/>
              <a:t>The three verdicts:</a:t>
            </a:r>
            <a:br>
              <a:rPr lang="en-US"/>
            </a:br>
            <a:r>
              <a:rPr lang="en-US"/>
              <a:t>CLEAN: score under 25 — file is forwarded immediately.</a:t>
            </a:r>
            <a:br>
              <a:rPr lang="en-US"/>
            </a:br>
            <a:r>
              <a:rPr lang="en-US"/>
              <a:t>SUSPICIOUS: 25 to 59 — file is held and a human analyst reviews it. This handles uncertainty without blocking everything.</a:t>
            </a:r>
            <a:br>
              <a:rPr lang="en-US"/>
            </a:br>
            <a:r>
              <a:rPr lang="en-US"/>
              <a:t>MALICIOUS: 60 or above — file is blocked, SOC is alerted, the drone feed is flagged.</a:t>
            </a:r>
            <a:endParaRPr/>
          </a:p>
        </p:txBody>
      </p:sp>
      <p:sp>
        <p:nvSpPr>
          <p:cNvPr id="373" name="Google Shape;373;g3c5d1c309b5_8_2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5d1c309b5_8_3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c5d1c309b5_8_3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are real results from running the pipeline on test files.</a:t>
            </a:r>
            <a:br>
              <a:rPr lang="en-US"/>
            </a:br>
            <a:br>
              <a:rPr lang="en-US"/>
            </a:br>
            <a:r>
              <a:rPr lang="en-US"/>
              <a:t>Row 1: A plain CSV — the router identifies it as safe immediately and skips deep analysis. Score 0.</a:t>
            </a:r>
            <a:br>
              <a:rPr lang="en-US"/>
            </a:br>
            <a:br>
              <a:rPr lang="en-US"/>
            </a:br>
            <a:r>
              <a:rPr lang="en-US"/>
              <a:t>Row 2: A script that spawns a child process and connects out. Score 35 — SUSPICIOUS. Goes to analyst review.</a:t>
            </a:r>
            <a:br>
              <a:rPr lang="en-US"/>
            </a:br>
            <a:br>
              <a:rPr lang="en-US"/>
            </a:br>
            <a:r>
              <a:rPr lang="en-US"/>
              <a:t>Row 3: A script that copies itself, connects to a known C2 IP, and spawns a shell. Score 85 — MALICIOUS. Blocked.</a:t>
            </a:r>
            <a:br>
              <a:rPr lang="en-US"/>
            </a:br>
            <a:br>
              <a:rPr lang="en-US"/>
            </a:br>
            <a:r>
              <a:rPr lang="en-US"/>
              <a:t>Row 4: A ZIP that contains a disguised .sh file (recon.jpg.sh). The double extension is caught at Stage 2 before even executing. Score 30 — SUSPICIOUS.</a:t>
            </a:r>
            <a:endParaRPr/>
          </a:p>
        </p:txBody>
      </p:sp>
      <p:sp>
        <p:nvSpPr>
          <p:cNvPr id="424" name="Google Shape;424;g3c5d1c309b5_8_3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5d1c309b5_6_2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c5d1c309b5_6_2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 summarize the five defining properties of this module:</a:t>
            </a:r>
            <a:br>
              <a:rPr lang="en-US"/>
            </a:br>
            <a:br>
              <a:rPr lang="en-US"/>
            </a:br>
            <a:r>
              <a:rPr lang="en-US"/>
              <a:t>Real execution — we do not simulate. The file runs.</a:t>
            </a:r>
            <a:br>
              <a:rPr lang="en-US"/>
            </a:br>
            <a:br>
              <a:rPr lang="en-US"/>
            </a:br>
            <a:r>
              <a:rPr lang="en-US"/>
              <a:t>Kernel-level monitoring — we read from the Linux /proc filesystem, which is always accurate and cannot be manipulated by the process being monitored.</a:t>
            </a:r>
            <a:br>
              <a:rPr lang="en-US"/>
            </a:br>
            <a:br>
              <a:rPr lang="en-US"/>
            </a:br>
            <a:r>
              <a:rPr lang="en-US"/>
              <a:t>Hard resource isolation — the OS kernel enforces limits before the process even starts. There is no way for a malicious file to escape the sandbox.</a:t>
            </a:r>
            <a:br>
              <a:rPr lang="en-US"/>
            </a:br>
            <a:br>
              <a:rPr lang="en-US"/>
            </a:br>
            <a:r>
              <a:rPr lang="en-US"/>
              <a:t>Full archive support — encrypted ZIPs are handled completely. No threat can hide inside a compressed archive.</a:t>
            </a:r>
            <a:br>
              <a:rPr lang="en-US"/>
            </a:br>
            <a:br>
              <a:rPr lang="en-US"/>
            </a:br>
            <a:r>
              <a:rPr lang="en-US"/>
              <a:t>Adaptive feedback — every decision improves the next one. The system gets smarter over each mission cycle.</a:t>
            </a:r>
            <a:endParaRPr/>
          </a:p>
        </p:txBody>
      </p:sp>
      <p:sp>
        <p:nvSpPr>
          <p:cNvPr id="484" name="Google Shape;484;g3c5d1c309b5_6_2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5d1c309b5_8_3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c5d1c309b5_8_3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Keep this slide brief — one sentence per reference is enough.</a:t>
            </a:r>
            <a:br>
              <a:rPr lang="en-US"/>
            </a:br>
            <a:br>
              <a:rPr lang="en-US"/>
            </a:br>
            <a:r>
              <a:rPr lang="en-US"/>
              <a:t>The message is: nothing here was invented. Every major decision has a published source behind it.</a:t>
            </a:r>
            <a:br>
              <a:rPr lang="en-US"/>
            </a:br>
            <a:br>
              <a:rPr lang="en-US"/>
            </a:br>
            <a:r>
              <a:rPr lang="en-US"/>
              <a:t>The full citations and links are in the project notebook.</a:t>
            </a:r>
            <a:endParaRPr/>
          </a:p>
        </p:txBody>
      </p:sp>
      <p:sp>
        <p:nvSpPr>
          <p:cNvPr id="511" name="Google Shape;511;g3c5d1c309b5_8_3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c5d1c309b5_8_4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c5d1c309b5_8_4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Close the session here.</a:t>
            </a:r>
            <a:br>
              <a:rPr lang="en-US"/>
            </a:br>
            <a:br>
              <a:rPr lang="en-US"/>
            </a:br>
            <a:r>
              <a:rPr lang="en-US"/>
              <a:t>Recap what was covered: the problem, the principle, where it fits, the 8 stages, the four monitors, scoring, design decisions, and early results.</a:t>
            </a:r>
            <a:endParaRPr/>
          </a:p>
        </p:txBody>
      </p:sp>
      <p:sp>
        <p:nvSpPr>
          <p:cNvPr id="547" name="Google Shape;547;g3c5d1c309b5_8_4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e277e4b5_1_0"/>
          <p:cNvSpPr txBox="1"/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g3cee277e4b5_1_0"/>
          <p:cNvSpPr txBox="1"/>
          <p:nvPr>
            <p:ph idx="1"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d1c309b5_8_0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c5d1c309b5_8_0"/>
          <p:cNvSpPr/>
          <p:nvPr/>
        </p:nvSpPr>
        <p:spPr>
          <a:xfrm>
            <a:off x="731520" y="2011680"/>
            <a:ext cx="10972800" cy="158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 Analyzer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c5d1c309b5_8_0"/>
          <p:cNvSpPr/>
          <p:nvPr/>
        </p:nvSpPr>
        <p:spPr>
          <a:xfrm>
            <a:off x="731520" y="3596640"/>
            <a:ext cx="10972800" cy="70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Complete Overview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c5d1c309b5_8_0"/>
          <p:cNvSpPr/>
          <p:nvPr/>
        </p:nvSpPr>
        <p:spPr>
          <a:xfrm>
            <a:off x="731520" y="4413504"/>
            <a:ext cx="1036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Detection &amp; Prevention of Malware in RPA / Drone Feeds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5d1c309b5_8_0"/>
          <p:cNvSpPr/>
          <p:nvPr/>
        </p:nvSpPr>
        <p:spPr>
          <a:xfrm>
            <a:off x="0" y="5974080"/>
            <a:ext cx="12192000" cy="877824"/>
          </a:xfrm>
          <a:prstGeom prst="rect">
            <a:avLst/>
          </a:prstGeom>
          <a:solidFill>
            <a:srgbClr val="142840"/>
          </a:solidFill>
          <a:ln cap="flat" cmpd="sng" w="12700">
            <a:solidFill>
              <a:srgbClr val="14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d1c309b5_8_14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c5d1c309b5_8_14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Progress — Where We Stand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c5d1c309b5_8_14"/>
          <p:cNvSpPr/>
          <p:nvPr/>
        </p:nvSpPr>
        <p:spPr>
          <a:xfrm>
            <a:off x="548640" y="1036320"/>
            <a:ext cx="11094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The Sandbox Analyzer is the third module in the detection pipeline — currently in active development.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5d1c309b5_8_14"/>
          <p:cNvSpPr/>
          <p:nvPr/>
        </p:nvSpPr>
        <p:spPr>
          <a:xfrm>
            <a:off x="487680" y="1889760"/>
            <a:ext cx="2048256" cy="213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c5d1c309b5_8_14"/>
          <p:cNvSpPr/>
          <p:nvPr/>
        </p:nvSpPr>
        <p:spPr>
          <a:xfrm>
            <a:off x="487680" y="1889760"/>
            <a:ext cx="2048256" cy="97536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c5d1c309b5_8_14"/>
          <p:cNvSpPr/>
          <p:nvPr/>
        </p:nvSpPr>
        <p:spPr>
          <a:xfrm>
            <a:off x="487680" y="2109216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c5d1c309b5_8_14"/>
          <p:cNvSpPr/>
          <p:nvPr/>
        </p:nvSpPr>
        <p:spPr>
          <a:xfrm>
            <a:off x="609600" y="2804160"/>
            <a:ext cx="1804416" cy="103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Interceptor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c5d1c309b5_8_14"/>
          <p:cNvSpPr/>
          <p:nvPr/>
        </p:nvSpPr>
        <p:spPr>
          <a:xfrm>
            <a:off x="2560320" y="2621280"/>
            <a:ext cx="304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c5d1c309b5_8_14"/>
          <p:cNvSpPr/>
          <p:nvPr/>
        </p:nvSpPr>
        <p:spPr>
          <a:xfrm>
            <a:off x="2779776" y="1889760"/>
            <a:ext cx="2048256" cy="213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c5d1c309b5_8_14"/>
          <p:cNvSpPr/>
          <p:nvPr/>
        </p:nvSpPr>
        <p:spPr>
          <a:xfrm>
            <a:off x="2779776" y="1889760"/>
            <a:ext cx="2048256" cy="97536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c5d1c309b5_8_14"/>
          <p:cNvSpPr/>
          <p:nvPr/>
        </p:nvSpPr>
        <p:spPr>
          <a:xfrm>
            <a:off x="2779776" y="2109216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c5d1c309b5_8_14"/>
          <p:cNvSpPr/>
          <p:nvPr/>
        </p:nvSpPr>
        <p:spPr>
          <a:xfrm>
            <a:off x="2901696" y="2804160"/>
            <a:ext cx="1804416" cy="103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Game-Theoretic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Threat Estimator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5d1c309b5_8_14"/>
          <p:cNvSpPr/>
          <p:nvPr/>
        </p:nvSpPr>
        <p:spPr>
          <a:xfrm>
            <a:off x="4852416" y="2621280"/>
            <a:ext cx="304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c5d1c309b5_8_14"/>
          <p:cNvSpPr/>
          <p:nvPr/>
        </p:nvSpPr>
        <p:spPr>
          <a:xfrm>
            <a:off x="5071872" y="1889760"/>
            <a:ext cx="2048256" cy="2133600"/>
          </a:xfrm>
          <a:prstGeom prst="rect">
            <a:avLst/>
          </a:prstGeom>
          <a:solidFill>
            <a:srgbClr val="FDEBD0"/>
          </a:solidFill>
          <a:ln cap="flat" cmpd="sng" w="25400">
            <a:solidFill>
              <a:srgbClr val="CA6F1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c5d1c309b5_8_14"/>
          <p:cNvSpPr/>
          <p:nvPr/>
        </p:nvSpPr>
        <p:spPr>
          <a:xfrm>
            <a:off x="5071872" y="1889760"/>
            <a:ext cx="2048256" cy="97536"/>
          </a:xfrm>
          <a:prstGeom prst="rect">
            <a:avLst/>
          </a:prstGeom>
          <a:solidFill>
            <a:srgbClr val="CA6F1E"/>
          </a:solidFill>
          <a:ln cap="flat" cmpd="sng" w="12700">
            <a:solidFill>
              <a:srgbClr val="CA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c5d1c309b5_8_14"/>
          <p:cNvSpPr/>
          <p:nvPr/>
        </p:nvSpPr>
        <p:spPr>
          <a:xfrm>
            <a:off x="5071872" y="2109216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CA6F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c5d1c309b5_8_14"/>
          <p:cNvSpPr/>
          <p:nvPr/>
        </p:nvSpPr>
        <p:spPr>
          <a:xfrm>
            <a:off x="5193792" y="2804160"/>
            <a:ext cx="1804416" cy="103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Sandbox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Analyzer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c5d1c309b5_8_14"/>
          <p:cNvSpPr/>
          <p:nvPr/>
        </p:nvSpPr>
        <p:spPr>
          <a:xfrm>
            <a:off x="7144512" y="2621280"/>
            <a:ext cx="304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c5d1c309b5_8_14"/>
          <p:cNvSpPr/>
          <p:nvPr/>
        </p:nvSpPr>
        <p:spPr>
          <a:xfrm>
            <a:off x="7363968" y="1889760"/>
            <a:ext cx="2048256" cy="213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c5d1c309b5_8_14"/>
          <p:cNvSpPr/>
          <p:nvPr/>
        </p:nvSpPr>
        <p:spPr>
          <a:xfrm>
            <a:off x="7363968" y="1889760"/>
            <a:ext cx="2048256" cy="97536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c5d1c309b5_8_14"/>
          <p:cNvSpPr/>
          <p:nvPr/>
        </p:nvSpPr>
        <p:spPr>
          <a:xfrm>
            <a:off x="7363968" y="2109216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5d1c309b5_8_14"/>
          <p:cNvSpPr/>
          <p:nvPr/>
        </p:nvSpPr>
        <p:spPr>
          <a:xfrm>
            <a:off x="7485888" y="2804160"/>
            <a:ext cx="1804416" cy="103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Sanitizer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c5d1c309b5_8_14"/>
          <p:cNvSpPr/>
          <p:nvPr/>
        </p:nvSpPr>
        <p:spPr>
          <a:xfrm>
            <a:off x="9436608" y="2621280"/>
            <a:ext cx="304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c5d1c309b5_8_14"/>
          <p:cNvSpPr/>
          <p:nvPr/>
        </p:nvSpPr>
        <p:spPr>
          <a:xfrm>
            <a:off x="9656064" y="1889760"/>
            <a:ext cx="2048256" cy="213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c5d1c309b5_8_14"/>
          <p:cNvSpPr/>
          <p:nvPr/>
        </p:nvSpPr>
        <p:spPr>
          <a:xfrm>
            <a:off x="9656064" y="1889760"/>
            <a:ext cx="2048256" cy="97536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c5d1c309b5_8_14"/>
          <p:cNvSpPr/>
          <p:nvPr/>
        </p:nvSpPr>
        <p:spPr>
          <a:xfrm>
            <a:off x="9656064" y="2109216"/>
            <a:ext cx="20482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c5d1c309b5_8_14"/>
          <p:cNvSpPr/>
          <p:nvPr/>
        </p:nvSpPr>
        <p:spPr>
          <a:xfrm>
            <a:off x="9777984" y="2804160"/>
            <a:ext cx="1804416" cy="103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5d1c309b5_8_14"/>
          <p:cNvSpPr/>
          <p:nvPr/>
        </p:nvSpPr>
        <p:spPr>
          <a:xfrm>
            <a:off x="487680" y="4535424"/>
            <a:ext cx="11216640" cy="707136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c5d1c309b5_8_14"/>
          <p:cNvSpPr/>
          <p:nvPr/>
        </p:nvSpPr>
        <p:spPr>
          <a:xfrm>
            <a:off x="731520" y="4535424"/>
            <a:ext cx="107289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Today's focus: Sandbox Analyzer — what it is, why it matters, and what has been built.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e277e4b5_1_21"/>
          <p:cNvSpPr/>
          <p:nvPr/>
        </p:nvSpPr>
        <p:spPr>
          <a:xfrm>
            <a:off x="0" y="0"/>
            <a:ext cx="12191520" cy="913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cee277e4b5_1_21"/>
          <p:cNvSpPr/>
          <p:nvPr/>
        </p:nvSpPr>
        <p:spPr>
          <a:xfrm>
            <a:off x="487680" y="0"/>
            <a:ext cx="10972320" cy="913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THE CORE IDEA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cee277e4b5_1_21"/>
          <p:cNvSpPr/>
          <p:nvPr/>
        </p:nvSpPr>
        <p:spPr>
          <a:xfrm>
            <a:off x="609600" y="1219200"/>
            <a:ext cx="10972320" cy="1828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25098"/>
              </a:srgbClr>
            </a:outerShdw>
          </a:effectLst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cee277e4b5_1_21"/>
          <p:cNvSpPr/>
          <p:nvPr/>
        </p:nvSpPr>
        <p:spPr>
          <a:xfrm>
            <a:off x="609600" y="1219200"/>
            <a:ext cx="145920" cy="1828320"/>
          </a:xfrm>
          <a:prstGeom prst="rect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cee277e4b5_1_21"/>
          <p:cNvSpPr/>
          <p:nvPr/>
        </p:nvSpPr>
        <p:spPr>
          <a:xfrm>
            <a:off x="1036320" y="1219200"/>
            <a:ext cx="10240800" cy="1828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Don't ask "does this file look malicious?"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"what does this file actually DO when it runs?"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ee277e4b5_1_21"/>
          <p:cNvSpPr/>
          <p:nvPr/>
        </p:nvSpPr>
        <p:spPr>
          <a:xfrm>
            <a:off x="609600" y="3413760"/>
            <a:ext cx="5485920" cy="2072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AE6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25098"/>
              </a:srgbClr>
            </a:outerShdw>
          </a:effectLst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cee277e4b5_1_21"/>
          <p:cNvSpPr/>
          <p:nvPr/>
        </p:nvSpPr>
        <p:spPr>
          <a:xfrm>
            <a:off x="609600" y="3413760"/>
            <a:ext cx="5485920" cy="46272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cee277e4b5_1_21"/>
          <p:cNvSpPr/>
          <p:nvPr/>
        </p:nvSpPr>
        <p:spPr>
          <a:xfrm>
            <a:off x="792480" y="3413760"/>
            <a:ext cx="5120160" cy="46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Signature Scanner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cee277e4b5_1_21"/>
          <p:cNvSpPr/>
          <p:nvPr/>
        </p:nvSpPr>
        <p:spPr>
          <a:xfrm>
            <a:off x="792480" y="3901440"/>
            <a:ext cx="5120160" cy="14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Looks at the file's appearance.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Asks: does this match a known bad file?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cee277e4b5_1_21"/>
          <p:cNvSpPr/>
          <p:nvPr/>
        </p:nvSpPr>
        <p:spPr>
          <a:xfrm>
            <a:off x="6400800" y="3413760"/>
            <a:ext cx="5485920" cy="2072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AE6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25098"/>
              </a:srgbClr>
            </a:outerShdw>
          </a:effectLst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cee277e4b5_1_21"/>
          <p:cNvSpPr/>
          <p:nvPr/>
        </p:nvSpPr>
        <p:spPr>
          <a:xfrm>
            <a:off x="6400800" y="3413760"/>
            <a:ext cx="5485920" cy="46272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cee277e4b5_1_21"/>
          <p:cNvSpPr/>
          <p:nvPr/>
        </p:nvSpPr>
        <p:spPr>
          <a:xfrm>
            <a:off x="6583680" y="3413760"/>
            <a:ext cx="5120160" cy="46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AI/ML Classifier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cee277e4b5_1_21"/>
          <p:cNvSpPr/>
          <p:nvPr/>
        </p:nvSpPr>
        <p:spPr>
          <a:xfrm>
            <a:off x="6583680" y="3901440"/>
            <a:ext cx="5120160" cy="14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Looks at the file's structure &amp; features.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Asks: does this pattern seem malicious?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cee277e4b5_1_21"/>
          <p:cNvSpPr/>
          <p:nvPr/>
        </p:nvSpPr>
        <p:spPr>
          <a:xfrm>
            <a:off x="609600" y="5730240"/>
            <a:ext cx="10972320" cy="852960"/>
          </a:xfrm>
          <a:prstGeom prst="rect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25098"/>
              </a:srgbClr>
            </a:outerShdw>
          </a:effectLst>
        </p:spPr>
        <p:txBody>
          <a:bodyPr anchorCtr="0" anchor="t" bIns="60000" lIns="120000" spcFirstLastPara="1" rIns="120000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cee277e4b5_1_21"/>
          <p:cNvSpPr/>
          <p:nvPr/>
        </p:nvSpPr>
        <p:spPr>
          <a:xfrm>
            <a:off x="792480" y="5730240"/>
            <a:ext cx="10606560" cy="85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Sandbox:  Give it a fake world → run it → watch every single thing it does → judge by actions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5d1c309b5_8_4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5d1c309b5_8_47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This Module Solves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c5d1c309b5_8_47"/>
          <p:cNvSpPr/>
          <p:nvPr/>
        </p:nvSpPr>
        <p:spPr>
          <a:xfrm>
            <a:off x="548640" y="1072896"/>
            <a:ext cx="11094720" cy="99974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c5d1c309b5_8_47"/>
          <p:cNvSpPr/>
          <p:nvPr/>
        </p:nvSpPr>
        <p:spPr>
          <a:xfrm>
            <a:off x="548640" y="1072896"/>
            <a:ext cx="121920" cy="999744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c5d1c309b5_8_47"/>
          <p:cNvSpPr/>
          <p:nvPr/>
        </p:nvSpPr>
        <p:spPr>
          <a:xfrm>
            <a:off x="792480" y="1072896"/>
            <a:ext cx="10668000" cy="999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drone sends a suspicious file. Layers 1 and 2 clear it. But it is still malicious. How?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c5d1c309b5_8_47"/>
          <p:cNvSpPr/>
          <p:nvPr/>
        </p:nvSpPr>
        <p:spPr>
          <a:xfrm>
            <a:off x="548640" y="2316480"/>
            <a:ext cx="5608320" cy="30480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c5d1c309b5_8_47"/>
          <p:cNvSpPr/>
          <p:nvPr/>
        </p:nvSpPr>
        <p:spPr>
          <a:xfrm>
            <a:off x="792480" y="2438400"/>
            <a:ext cx="67056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c5d1c309b5_8_47"/>
          <p:cNvSpPr/>
          <p:nvPr/>
        </p:nvSpPr>
        <p:spPr>
          <a:xfrm>
            <a:off x="1548384" y="2438400"/>
            <a:ext cx="438912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Layer 1 — Signature Scanner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c5d1c309b5_8_47"/>
          <p:cNvSpPr/>
          <p:nvPr/>
        </p:nvSpPr>
        <p:spPr>
          <a:xfrm>
            <a:off x="792480" y="3169920"/>
            <a:ext cx="5120640" cy="18288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c5d1c309b5_8_47"/>
          <p:cNvSpPr/>
          <p:nvPr/>
        </p:nvSpPr>
        <p:spPr>
          <a:xfrm>
            <a:off x="792480" y="3267456"/>
            <a:ext cx="5145024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Compares the file against a database of known malware.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Limitation: a brand new threat (zero-day) has no signature yet. Change one byte in the malware code — the signature no longer matches.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c5d1c309b5_8_47"/>
          <p:cNvSpPr/>
          <p:nvPr/>
        </p:nvSpPr>
        <p:spPr>
          <a:xfrm>
            <a:off x="6339840" y="2316480"/>
            <a:ext cx="5608320" cy="30480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c5d1c309b5_8_47"/>
          <p:cNvSpPr/>
          <p:nvPr/>
        </p:nvSpPr>
        <p:spPr>
          <a:xfrm>
            <a:off x="6583680" y="2438400"/>
            <a:ext cx="67056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5d1c309b5_8_47"/>
          <p:cNvSpPr/>
          <p:nvPr/>
        </p:nvSpPr>
        <p:spPr>
          <a:xfrm>
            <a:off x="7339584" y="2438400"/>
            <a:ext cx="438912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Layer 2 — AI / ML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c5d1c309b5_8_47"/>
          <p:cNvSpPr/>
          <p:nvPr/>
        </p:nvSpPr>
        <p:spPr>
          <a:xfrm>
            <a:off x="6583680" y="3169920"/>
            <a:ext cx="5120640" cy="18288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c5d1c309b5_8_47"/>
          <p:cNvSpPr/>
          <p:nvPr/>
        </p:nvSpPr>
        <p:spPr>
          <a:xfrm>
            <a:off x="6583680" y="3267456"/>
            <a:ext cx="5145024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Detects suspicious patterns in file features.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Limitation: a skilled attacker can obfuscate code, use encryption, or pack the payload so it looks completely different to the model.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c5d1c309b5_8_47"/>
          <p:cNvSpPr/>
          <p:nvPr/>
        </p:nvSpPr>
        <p:spPr>
          <a:xfrm>
            <a:off x="548640" y="5608320"/>
            <a:ext cx="11094720" cy="829056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c5d1c309b5_8_47"/>
          <p:cNvSpPr/>
          <p:nvPr/>
        </p:nvSpPr>
        <p:spPr>
          <a:xfrm>
            <a:off x="792480" y="5608320"/>
            <a:ext cx="10850880" cy="82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The Sandbox Analyzer solves this by executing the file and watching what it actually does — not what it looks like.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5d1c309b5_8_68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c5d1c309b5_8_68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Analysis vs Behavioral 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c5d1c309b5_8_68"/>
          <p:cNvSpPr/>
          <p:nvPr/>
        </p:nvSpPr>
        <p:spPr>
          <a:xfrm>
            <a:off x="548640" y="1072896"/>
            <a:ext cx="11094720" cy="1280160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c5d1c309b5_8_68"/>
          <p:cNvSpPr/>
          <p:nvPr/>
        </p:nvSpPr>
        <p:spPr>
          <a:xfrm>
            <a:off x="548640" y="1072896"/>
            <a:ext cx="121920" cy="128016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5d1c309b5_8_68"/>
          <p:cNvSpPr/>
          <p:nvPr/>
        </p:nvSpPr>
        <p:spPr>
          <a:xfrm>
            <a:off x="792480" y="1072896"/>
            <a:ext cx="1066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Signature scanning and AI classification examine what a file looks like.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sandbox examines what a file actually does when it runs.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c5d1c309b5_8_68"/>
          <p:cNvSpPr/>
          <p:nvPr/>
        </p:nvSpPr>
        <p:spPr>
          <a:xfrm>
            <a:off x="548640" y="2560320"/>
            <a:ext cx="5608320" cy="335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c5d1c309b5_8_68"/>
          <p:cNvSpPr/>
          <p:nvPr/>
        </p:nvSpPr>
        <p:spPr>
          <a:xfrm>
            <a:off x="548640" y="2560320"/>
            <a:ext cx="5608320" cy="585216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c5d1c309b5_8_68"/>
          <p:cNvSpPr/>
          <p:nvPr/>
        </p:nvSpPr>
        <p:spPr>
          <a:xfrm>
            <a:off x="768096" y="2560320"/>
            <a:ext cx="51937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Static Analysis  (Layers 1 &amp; 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c5d1c309b5_8_68"/>
          <p:cNvSpPr/>
          <p:nvPr/>
        </p:nvSpPr>
        <p:spPr>
          <a:xfrm>
            <a:off x="792480" y="3267456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c5d1c309b5_8_68"/>
          <p:cNvSpPr/>
          <p:nvPr/>
        </p:nvSpPr>
        <p:spPr>
          <a:xfrm>
            <a:off x="2194560" y="3267456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Examines the file without running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c5d1c309b5_8_68"/>
          <p:cNvSpPr/>
          <p:nvPr/>
        </p:nvSpPr>
        <p:spPr>
          <a:xfrm>
            <a:off x="792480" y="3925824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Speed: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c5d1c309b5_8_68"/>
          <p:cNvSpPr/>
          <p:nvPr/>
        </p:nvSpPr>
        <p:spPr>
          <a:xfrm>
            <a:off x="2194560" y="3925824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Milliseconds per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c5d1c309b5_8_68"/>
          <p:cNvSpPr/>
          <p:nvPr/>
        </p:nvSpPr>
        <p:spPr>
          <a:xfrm>
            <a:off x="792480" y="4584192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Weakness: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c5d1c309b5_8_68"/>
          <p:cNvSpPr/>
          <p:nvPr/>
        </p:nvSpPr>
        <p:spPr>
          <a:xfrm>
            <a:off x="2194560" y="4584192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Cannot detect new or obfuscated malware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c5d1c309b5_8_68"/>
          <p:cNvSpPr/>
          <p:nvPr/>
        </p:nvSpPr>
        <p:spPr>
          <a:xfrm>
            <a:off x="792480" y="5242560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Evasion: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5d1c309b5_8_68"/>
          <p:cNvSpPr/>
          <p:nvPr/>
        </p:nvSpPr>
        <p:spPr>
          <a:xfrm>
            <a:off x="2194560" y="5242560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Change a few bytes → bypass signature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c5d1c309b5_8_68"/>
          <p:cNvSpPr/>
          <p:nvPr/>
        </p:nvSpPr>
        <p:spPr>
          <a:xfrm>
            <a:off x="6339840" y="2560320"/>
            <a:ext cx="5608320" cy="33528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c5d1c309b5_8_68"/>
          <p:cNvSpPr/>
          <p:nvPr/>
        </p:nvSpPr>
        <p:spPr>
          <a:xfrm>
            <a:off x="6339840" y="2560320"/>
            <a:ext cx="5608320" cy="585216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c5d1c309b5_8_68"/>
          <p:cNvSpPr/>
          <p:nvPr/>
        </p:nvSpPr>
        <p:spPr>
          <a:xfrm>
            <a:off x="6559296" y="2560320"/>
            <a:ext cx="51937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Behavioral Analysis  (Sandbox)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c5d1c309b5_8_68"/>
          <p:cNvSpPr/>
          <p:nvPr/>
        </p:nvSpPr>
        <p:spPr>
          <a:xfrm>
            <a:off x="6583680" y="3267456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c5d1c309b5_8_68"/>
          <p:cNvSpPr/>
          <p:nvPr/>
        </p:nvSpPr>
        <p:spPr>
          <a:xfrm>
            <a:off x="7985760" y="3267456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Executes the file in an isolated environment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c5d1c309b5_8_68"/>
          <p:cNvSpPr/>
          <p:nvPr/>
        </p:nvSpPr>
        <p:spPr>
          <a:xfrm>
            <a:off x="6583680" y="3925824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Coverage: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c5d1c309b5_8_68"/>
          <p:cNvSpPr/>
          <p:nvPr/>
        </p:nvSpPr>
        <p:spPr>
          <a:xfrm>
            <a:off x="7985760" y="3925824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Records every system action in real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c5d1c309b5_8_68"/>
          <p:cNvSpPr/>
          <p:nvPr/>
        </p:nvSpPr>
        <p:spPr>
          <a:xfrm>
            <a:off x="6583680" y="4584192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Strength: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c5d1c309b5_8_68"/>
          <p:cNvSpPr/>
          <p:nvPr/>
        </p:nvSpPr>
        <p:spPr>
          <a:xfrm>
            <a:off x="7985760" y="4584192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Catches zero-day threats — appearance irrelevant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c5d1c309b5_8_68"/>
          <p:cNvSpPr/>
          <p:nvPr/>
        </p:nvSpPr>
        <p:spPr>
          <a:xfrm>
            <a:off x="6583680" y="5242560"/>
            <a:ext cx="13411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c5d1c309b5_8_68"/>
          <p:cNvSpPr/>
          <p:nvPr/>
        </p:nvSpPr>
        <p:spPr>
          <a:xfrm>
            <a:off x="7985760" y="5242560"/>
            <a:ext cx="3779520" cy="56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Actions cannot be faked — intent is revealed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5d1c309b5_8_99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c5d1c309b5_8_99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the Sandbox Fits in the Pipeline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c5d1c309b5_8_99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Every drone file passes through a three-layer detection engine. The sandbox is Layer 3.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c5d1c309b5_8_99"/>
          <p:cNvSpPr/>
          <p:nvPr/>
        </p:nvSpPr>
        <p:spPr>
          <a:xfrm>
            <a:off x="426720" y="1731264"/>
            <a:ext cx="2560320" cy="30480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c5d1c309b5_8_99"/>
          <p:cNvSpPr/>
          <p:nvPr/>
        </p:nvSpPr>
        <p:spPr>
          <a:xfrm>
            <a:off x="1341120" y="1950720"/>
            <a:ext cx="731520" cy="73152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5d1c309b5_8_99"/>
          <p:cNvSpPr/>
          <p:nvPr/>
        </p:nvSpPr>
        <p:spPr>
          <a:xfrm>
            <a:off x="1341120" y="1950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c5d1c309b5_8_99"/>
          <p:cNvSpPr/>
          <p:nvPr/>
        </p:nvSpPr>
        <p:spPr>
          <a:xfrm>
            <a:off x="548640" y="2828544"/>
            <a:ext cx="231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Scanner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c5d1c309b5_8_99"/>
          <p:cNvSpPr/>
          <p:nvPr/>
        </p:nvSpPr>
        <p:spPr>
          <a:xfrm>
            <a:off x="731520" y="3779520"/>
            <a:ext cx="1950720" cy="18288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c5d1c309b5_8_99"/>
          <p:cNvSpPr/>
          <p:nvPr/>
        </p:nvSpPr>
        <p:spPr>
          <a:xfrm>
            <a:off x="548640" y="3828288"/>
            <a:ext cx="23164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Matches known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malware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Runs on every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5d1c309b5_8_99"/>
          <p:cNvSpPr/>
          <p:nvPr/>
        </p:nvSpPr>
        <p:spPr>
          <a:xfrm>
            <a:off x="3011424" y="2889504"/>
            <a:ext cx="36576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c5d1c309b5_8_99"/>
          <p:cNvSpPr/>
          <p:nvPr/>
        </p:nvSpPr>
        <p:spPr>
          <a:xfrm>
            <a:off x="3352800" y="1731264"/>
            <a:ext cx="2560320" cy="30480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c5d1c309b5_8_99"/>
          <p:cNvSpPr/>
          <p:nvPr/>
        </p:nvSpPr>
        <p:spPr>
          <a:xfrm>
            <a:off x="4267200" y="1950720"/>
            <a:ext cx="731520" cy="73152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c5d1c309b5_8_99"/>
          <p:cNvSpPr/>
          <p:nvPr/>
        </p:nvSpPr>
        <p:spPr>
          <a:xfrm>
            <a:off x="4267200" y="1950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c5d1c309b5_8_99"/>
          <p:cNvSpPr/>
          <p:nvPr/>
        </p:nvSpPr>
        <p:spPr>
          <a:xfrm>
            <a:off x="3474720" y="2828544"/>
            <a:ext cx="231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AI / 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c5d1c309b5_8_99"/>
          <p:cNvSpPr/>
          <p:nvPr/>
        </p:nvSpPr>
        <p:spPr>
          <a:xfrm>
            <a:off x="3657600" y="3779520"/>
            <a:ext cx="1950720" cy="18288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c5d1c309b5_8_99"/>
          <p:cNvSpPr/>
          <p:nvPr/>
        </p:nvSpPr>
        <p:spPr>
          <a:xfrm>
            <a:off x="3474720" y="3828288"/>
            <a:ext cx="23164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Detects unknown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patterns via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feature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c5d1c309b5_8_99"/>
          <p:cNvSpPr/>
          <p:nvPr/>
        </p:nvSpPr>
        <p:spPr>
          <a:xfrm>
            <a:off x="5937504" y="2889504"/>
            <a:ext cx="36576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c5d1c309b5_8_99"/>
          <p:cNvSpPr/>
          <p:nvPr/>
        </p:nvSpPr>
        <p:spPr>
          <a:xfrm>
            <a:off x="6278880" y="1731264"/>
            <a:ext cx="2560320" cy="3048000"/>
          </a:xfrm>
          <a:prstGeom prst="rect">
            <a:avLst/>
          </a:prstGeom>
          <a:solidFill>
            <a:srgbClr val="1B3A5C"/>
          </a:solidFill>
          <a:ln cap="flat" cmpd="sng" w="254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c5d1c309b5_8_99"/>
          <p:cNvSpPr/>
          <p:nvPr/>
        </p:nvSpPr>
        <p:spPr>
          <a:xfrm>
            <a:off x="7193280" y="1950720"/>
            <a:ext cx="731520" cy="73152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c5d1c309b5_8_99"/>
          <p:cNvSpPr/>
          <p:nvPr/>
        </p:nvSpPr>
        <p:spPr>
          <a:xfrm>
            <a:off x="7193280" y="1950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c5d1c309b5_8_99"/>
          <p:cNvSpPr/>
          <p:nvPr/>
        </p:nvSpPr>
        <p:spPr>
          <a:xfrm>
            <a:off x="6400800" y="2828544"/>
            <a:ext cx="231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c5d1c309b5_8_99"/>
          <p:cNvSpPr/>
          <p:nvPr/>
        </p:nvSpPr>
        <p:spPr>
          <a:xfrm>
            <a:off x="6583680" y="3779520"/>
            <a:ext cx="1950720" cy="18288"/>
          </a:xfrm>
          <a:prstGeom prst="rect">
            <a:avLst/>
          </a:prstGeom>
          <a:solidFill>
            <a:srgbClr val="5D8AA8"/>
          </a:solidFill>
          <a:ln cap="flat" cmpd="sng" w="12700">
            <a:solidFill>
              <a:srgbClr val="5D8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c5d1c309b5_8_99"/>
          <p:cNvSpPr/>
          <p:nvPr/>
        </p:nvSpPr>
        <p:spPr>
          <a:xfrm>
            <a:off x="6400800" y="3828288"/>
            <a:ext cx="23164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Executes the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Monitors behavior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in real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c5d1c309b5_8_99"/>
          <p:cNvSpPr/>
          <p:nvPr/>
        </p:nvSpPr>
        <p:spPr>
          <a:xfrm>
            <a:off x="8863584" y="2889504"/>
            <a:ext cx="36576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c5d1c309b5_8_99"/>
          <p:cNvSpPr/>
          <p:nvPr/>
        </p:nvSpPr>
        <p:spPr>
          <a:xfrm>
            <a:off x="9204960" y="1731264"/>
            <a:ext cx="2560320" cy="30480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c5d1c309b5_8_99"/>
          <p:cNvSpPr/>
          <p:nvPr/>
        </p:nvSpPr>
        <p:spPr>
          <a:xfrm>
            <a:off x="10119360" y="1950720"/>
            <a:ext cx="731520" cy="73152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c5d1c309b5_8_99"/>
          <p:cNvSpPr/>
          <p:nvPr/>
        </p:nvSpPr>
        <p:spPr>
          <a:xfrm>
            <a:off x="10119360" y="1950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5d1c309b5_8_99"/>
          <p:cNvSpPr/>
          <p:nvPr/>
        </p:nvSpPr>
        <p:spPr>
          <a:xfrm>
            <a:off x="9326880" y="2828544"/>
            <a:ext cx="231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c5d1c309b5_8_99"/>
          <p:cNvSpPr/>
          <p:nvPr/>
        </p:nvSpPr>
        <p:spPr>
          <a:xfrm>
            <a:off x="9509760" y="3779520"/>
            <a:ext cx="1950720" cy="18288"/>
          </a:xfrm>
          <a:prstGeom prst="rect">
            <a:avLst/>
          </a:prstGeom>
          <a:solidFill>
            <a:srgbClr val="BDC3C7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c5d1c309b5_8_99"/>
          <p:cNvSpPr/>
          <p:nvPr/>
        </p:nvSpPr>
        <p:spPr>
          <a:xfrm>
            <a:off x="9326880" y="3828288"/>
            <a:ext cx="23164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Quarantine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Block + Alert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c5d1c309b5_8_99"/>
          <p:cNvSpPr/>
          <p:nvPr/>
        </p:nvSpPr>
        <p:spPr>
          <a:xfrm>
            <a:off x="426720" y="4998720"/>
            <a:ext cx="11338560" cy="755904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c5d1c309b5_8_99"/>
          <p:cNvSpPr/>
          <p:nvPr/>
        </p:nvSpPr>
        <p:spPr>
          <a:xfrm>
            <a:off x="670560" y="4998720"/>
            <a:ext cx="10972800" cy="755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sandbox activates only for HIGH threat score files — preserving real-time performance across 300–400 concurrent drone feeds.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5d1c309b5_8_135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c5d1c309b5_8_135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Inside the Sandbox — 8 Stages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c5d1c309b5_8_135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A complete picture of what happens when the sandbox processes a suspicious file.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c5d1c309b5_8_135"/>
          <p:cNvSpPr/>
          <p:nvPr/>
        </p:nvSpPr>
        <p:spPr>
          <a:xfrm>
            <a:off x="426720" y="16824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c5d1c309b5_8_135"/>
          <p:cNvSpPr/>
          <p:nvPr/>
        </p:nvSpPr>
        <p:spPr>
          <a:xfrm>
            <a:off x="426720" y="16824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c5d1c309b5_8_135"/>
          <p:cNvSpPr/>
          <p:nvPr/>
        </p:nvSpPr>
        <p:spPr>
          <a:xfrm>
            <a:off x="426720" y="16824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c5d1c309b5_8_135"/>
          <p:cNvSpPr/>
          <p:nvPr/>
        </p:nvSpPr>
        <p:spPr>
          <a:xfrm>
            <a:off x="1060704" y="17556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File Router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5d1c309b5_8_135"/>
          <p:cNvSpPr/>
          <p:nvPr/>
        </p:nvSpPr>
        <p:spPr>
          <a:xfrm>
            <a:off x="1060704" y="21457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Reads the first bytes of the file (magic bytes) to identify the real type — regardless of extension.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c5d1c309b5_8_135"/>
          <p:cNvSpPr/>
          <p:nvPr/>
        </p:nvSpPr>
        <p:spPr>
          <a:xfrm>
            <a:off x="6096000" y="16824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5d1c309b5_8_135"/>
          <p:cNvSpPr/>
          <p:nvPr/>
        </p:nvSpPr>
        <p:spPr>
          <a:xfrm>
            <a:off x="6096000" y="16824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c5d1c309b5_8_135"/>
          <p:cNvSpPr/>
          <p:nvPr/>
        </p:nvSpPr>
        <p:spPr>
          <a:xfrm>
            <a:off x="6096000" y="16824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c5d1c309b5_8_135"/>
          <p:cNvSpPr/>
          <p:nvPr/>
        </p:nvSpPr>
        <p:spPr>
          <a:xfrm>
            <a:off x="6729984" y="17556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Archive Handler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5d1c309b5_8_135"/>
          <p:cNvSpPr/>
          <p:nvPr/>
        </p:nvSpPr>
        <p:spPr>
          <a:xfrm>
            <a:off x="6729984" y="21457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If the file is a ZIP — inspect it, handle encryption, detect disguised files inside, extract recursively.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5d1c309b5_8_135"/>
          <p:cNvSpPr/>
          <p:nvPr/>
        </p:nvSpPr>
        <p:spPr>
          <a:xfrm>
            <a:off x="426720" y="29016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c5d1c309b5_8_135"/>
          <p:cNvSpPr/>
          <p:nvPr/>
        </p:nvSpPr>
        <p:spPr>
          <a:xfrm>
            <a:off x="426720" y="29016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c5d1c309b5_8_135"/>
          <p:cNvSpPr/>
          <p:nvPr/>
        </p:nvSpPr>
        <p:spPr>
          <a:xfrm>
            <a:off x="426720" y="29016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c5d1c309b5_8_135"/>
          <p:cNvSpPr/>
          <p:nvPr/>
        </p:nvSpPr>
        <p:spPr>
          <a:xfrm>
            <a:off x="1060704" y="29748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Isolated Environment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c5d1c309b5_8_135"/>
          <p:cNvSpPr/>
          <p:nvPr/>
        </p:nvSpPr>
        <p:spPr>
          <a:xfrm>
            <a:off x="1060704" y="33649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Set hard kernel-level limits (128 MB RAM, 20s CPU). Run in an isolated directory with no environment variables.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c5d1c309b5_8_135"/>
          <p:cNvSpPr/>
          <p:nvPr/>
        </p:nvSpPr>
        <p:spPr>
          <a:xfrm>
            <a:off x="6096000" y="29016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c5d1c309b5_8_135"/>
          <p:cNvSpPr/>
          <p:nvPr/>
        </p:nvSpPr>
        <p:spPr>
          <a:xfrm>
            <a:off x="6096000" y="29016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c5d1c309b5_8_135"/>
          <p:cNvSpPr/>
          <p:nvPr/>
        </p:nvSpPr>
        <p:spPr>
          <a:xfrm>
            <a:off x="6096000" y="29016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5d1c309b5_8_135"/>
          <p:cNvSpPr/>
          <p:nvPr/>
        </p:nvSpPr>
        <p:spPr>
          <a:xfrm>
            <a:off x="6729984" y="29748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Execute + 4 Monitors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5d1c309b5_8_135"/>
          <p:cNvSpPr/>
          <p:nvPr/>
        </p:nvSpPr>
        <p:spPr>
          <a:xfrm>
            <a:off x="6729984" y="33649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Actually run the file. Four monitors record file writes, network calls, child processes, and privilege changes in real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c5d1c309b5_8_135"/>
          <p:cNvSpPr/>
          <p:nvPr/>
        </p:nvSpPr>
        <p:spPr>
          <a:xfrm>
            <a:off x="426720" y="41208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c5d1c309b5_8_135"/>
          <p:cNvSpPr/>
          <p:nvPr/>
        </p:nvSpPr>
        <p:spPr>
          <a:xfrm>
            <a:off x="426720" y="41208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c5d1c309b5_8_135"/>
          <p:cNvSpPr/>
          <p:nvPr/>
        </p:nvSpPr>
        <p:spPr>
          <a:xfrm>
            <a:off x="426720" y="41208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c5d1c309b5_8_135"/>
          <p:cNvSpPr/>
          <p:nvPr/>
        </p:nvSpPr>
        <p:spPr>
          <a:xfrm>
            <a:off x="1060704" y="41940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Risk Scoring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5d1c309b5_8_135"/>
          <p:cNvSpPr/>
          <p:nvPr/>
        </p:nvSpPr>
        <p:spPr>
          <a:xfrm>
            <a:off x="1060704" y="45841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Every suspicious action adds points. Self-replication = +40. Network callback = +25. Total score computed.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5d1c309b5_8_135"/>
          <p:cNvSpPr/>
          <p:nvPr/>
        </p:nvSpPr>
        <p:spPr>
          <a:xfrm>
            <a:off x="6096000" y="41208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c5d1c309b5_8_135"/>
          <p:cNvSpPr/>
          <p:nvPr/>
        </p:nvSpPr>
        <p:spPr>
          <a:xfrm>
            <a:off x="6096000" y="41208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c5d1c309b5_8_135"/>
          <p:cNvSpPr/>
          <p:nvPr/>
        </p:nvSpPr>
        <p:spPr>
          <a:xfrm>
            <a:off x="6096000" y="41208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c5d1c309b5_8_135"/>
          <p:cNvSpPr/>
          <p:nvPr/>
        </p:nvSpPr>
        <p:spPr>
          <a:xfrm>
            <a:off x="6729984" y="41940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IOC Correlation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c5d1c309b5_8_135"/>
          <p:cNvSpPr/>
          <p:nvPr/>
        </p:nvSpPr>
        <p:spPr>
          <a:xfrm>
            <a:off x="6729984" y="45841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File hash, IPs, and domains are checked against known malware indicators. A match adds +20 points.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c5d1c309b5_8_135"/>
          <p:cNvSpPr/>
          <p:nvPr/>
        </p:nvSpPr>
        <p:spPr>
          <a:xfrm>
            <a:off x="426720" y="53400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c5d1c309b5_8_135"/>
          <p:cNvSpPr/>
          <p:nvPr/>
        </p:nvSpPr>
        <p:spPr>
          <a:xfrm>
            <a:off x="426720" y="53400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c5d1c309b5_8_135"/>
          <p:cNvSpPr/>
          <p:nvPr/>
        </p:nvSpPr>
        <p:spPr>
          <a:xfrm>
            <a:off x="426720" y="53400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c5d1c309b5_8_135"/>
          <p:cNvSpPr/>
          <p:nvPr/>
        </p:nvSpPr>
        <p:spPr>
          <a:xfrm>
            <a:off x="1060704" y="54132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5d1c309b5_8_135"/>
          <p:cNvSpPr/>
          <p:nvPr/>
        </p:nvSpPr>
        <p:spPr>
          <a:xfrm>
            <a:off x="1060704" y="58033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Score &lt; 25 → Clean.  Score 25–59 → Suspicious.  Score ≥ 60 → Malicious.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c5d1c309b5_8_135"/>
          <p:cNvSpPr/>
          <p:nvPr/>
        </p:nvSpPr>
        <p:spPr>
          <a:xfrm>
            <a:off x="6096000" y="5340096"/>
            <a:ext cx="5547360" cy="1072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c5d1c309b5_8_135"/>
          <p:cNvSpPr/>
          <p:nvPr/>
        </p:nvSpPr>
        <p:spPr>
          <a:xfrm>
            <a:off x="6096000" y="5340096"/>
            <a:ext cx="512064" cy="107289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c5d1c309b5_8_135"/>
          <p:cNvSpPr/>
          <p:nvPr/>
        </p:nvSpPr>
        <p:spPr>
          <a:xfrm>
            <a:off x="6096000" y="5340096"/>
            <a:ext cx="512064" cy="107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5d1c309b5_8_135"/>
          <p:cNvSpPr/>
          <p:nvPr/>
        </p:nvSpPr>
        <p:spPr>
          <a:xfrm>
            <a:off x="6729984" y="5413248"/>
            <a:ext cx="4767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Feedback Loop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c5d1c309b5_8_135"/>
          <p:cNvSpPr/>
          <p:nvPr/>
        </p:nvSpPr>
        <p:spPr>
          <a:xfrm>
            <a:off x="6729984" y="5803392"/>
            <a:ext cx="4767072" cy="56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Verdict and behavioral trace feed back into the ML classifier and Game-Theoretic Estimator to improve future detection.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5d1c309b5_8_18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c5d1c309b5_8_182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c5d1c309b5_8_182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Three decisions that distinguish this implementation from a naive approach.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c5d1c309b5_8_182"/>
          <p:cNvSpPr/>
          <p:nvPr/>
        </p:nvSpPr>
        <p:spPr>
          <a:xfrm>
            <a:off x="487680" y="1682496"/>
            <a:ext cx="11216640" cy="12192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c5d1c309b5_8_182"/>
          <p:cNvSpPr/>
          <p:nvPr/>
        </p:nvSpPr>
        <p:spPr>
          <a:xfrm>
            <a:off x="487680" y="1682496"/>
            <a:ext cx="633984" cy="12192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c5d1c309b5_8_182"/>
          <p:cNvSpPr/>
          <p:nvPr/>
        </p:nvSpPr>
        <p:spPr>
          <a:xfrm>
            <a:off x="487680" y="1682496"/>
            <a:ext cx="63398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c5d1c309b5_8_182"/>
          <p:cNvSpPr/>
          <p:nvPr/>
        </p:nvSpPr>
        <p:spPr>
          <a:xfrm>
            <a:off x="1267968" y="1780032"/>
            <a:ext cx="10241280" cy="390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Magic bytes over file extension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c5d1c309b5_8_182"/>
          <p:cNvSpPr/>
          <p:nvPr/>
        </p:nvSpPr>
        <p:spPr>
          <a:xfrm>
            <a:off x="1267968" y="2194560"/>
            <a:ext cx="59740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Why: A file named photo.jpg can contain a shell script. We read the first bytes of every file to verify its true type — extension cannot be trusted.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c5d1c309b5_8_182"/>
          <p:cNvSpPr/>
          <p:nvPr/>
        </p:nvSpPr>
        <p:spPr>
          <a:xfrm>
            <a:off x="7437120" y="1780032"/>
            <a:ext cx="18288" cy="999744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c5d1c309b5_8_182"/>
          <p:cNvSpPr/>
          <p:nvPr/>
        </p:nvSpPr>
        <p:spPr>
          <a:xfrm>
            <a:off x="7559040" y="1780032"/>
            <a:ext cx="3962400" cy="999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Impact: Catches disguised files that would fool an extension-based router.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c5d1c309b5_8_182"/>
          <p:cNvSpPr/>
          <p:nvPr/>
        </p:nvSpPr>
        <p:spPr>
          <a:xfrm>
            <a:off x="487680" y="3048000"/>
            <a:ext cx="11216640" cy="12192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c5d1c309b5_8_182"/>
          <p:cNvSpPr/>
          <p:nvPr/>
        </p:nvSpPr>
        <p:spPr>
          <a:xfrm>
            <a:off x="487680" y="3048000"/>
            <a:ext cx="633984" cy="12192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c5d1c309b5_8_182"/>
          <p:cNvSpPr/>
          <p:nvPr/>
        </p:nvSpPr>
        <p:spPr>
          <a:xfrm>
            <a:off x="487680" y="3048000"/>
            <a:ext cx="63398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c5d1c309b5_8_182"/>
          <p:cNvSpPr/>
          <p:nvPr/>
        </p:nvSpPr>
        <p:spPr>
          <a:xfrm>
            <a:off x="1267968" y="3145536"/>
            <a:ext cx="10241280" cy="390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Encrypted archives — no password guessing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c5d1c309b5_8_182"/>
          <p:cNvSpPr/>
          <p:nvPr/>
        </p:nvSpPr>
        <p:spPr>
          <a:xfrm>
            <a:off x="1267968" y="3560064"/>
            <a:ext cx="59740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Why: Malware researchers use standard passwords like 'infected'. But our threat model is a sophisticated attacker targeting military drones — they would never use such passwords.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c5d1c309b5_8_182"/>
          <p:cNvSpPr/>
          <p:nvPr/>
        </p:nvSpPr>
        <p:spPr>
          <a:xfrm>
            <a:off x="7437120" y="3145536"/>
            <a:ext cx="18288" cy="999744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c5d1c309b5_8_182"/>
          <p:cNvSpPr/>
          <p:nvPr/>
        </p:nvSpPr>
        <p:spPr>
          <a:xfrm>
            <a:off x="7559040" y="3145536"/>
            <a:ext cx="3962400" cy="999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Impact: An encrypted archive with no declared key is treated as suspicious (+25 points) rather than wasting time on password attempts.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c5d1c309b5_8_182"/>
          <p:cNvSpPr/>
          <p:nvPr/>
        </p:nvSpPr>
        <p:spPr>
          <a:xfrm>
            <a:off x="487680" y="4413504"/>
            <a:ext cx="11216640" cy="12192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c5d1c309b5_8_182"/>
          <p:cNvSpPr/>
          <p:nvPr/>
        </p:nvSpPr>
        <p:spPr>
          <a:xfrm>
            <a:off x="487680" y="4413504"/>
            <a:ext cx="633984" cy="12192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c5d1c309b5_8_182"/>
          <p:cNvSpPr/>
          <p:nvPr/>
        </p:nvSpPr>
        <p:spPr>
          <a:xfrm>
            <a:off x="487680" y="4413504"/>
            <a:ext cx="63398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c5d1c309b5_8_182"/>
          <p:cNvSpPr/>
          <p:nvPr/>
        </p:nvSpPr>
        <p:spPr>
          <a:xfrm>
            <a:off x="1267968" y="4511040"/>
            <a:ext cx="10241280" cy="390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Kernel-level monitoring via /proc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c5d1c309b5_8_182"/>
          <p:cNvSpPr/>
          <p:nvPr/>
        </p:nvSpPr>
        <p:spPr>
          <a:xfrm>
            <a:off x="1267968" y="4925568"/>
            <a:ext cx="59740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Why: The Linux /proc filesystem exposes the kernel's internal state as readable files. It cannot be manipulated by the process being monitored.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c5d1c309b5_8_182"/>
          <p:cNvSpPr/>
          <p:nvPr/>
        </p:nvSpPr>
        <p:spPr>
          <a:xfrm>
            <a:off x="7437120" y="4511040"/>
            <a:ext cx="18288" cy="999744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c5d1c309b5_8_182"/>
          <p:cNvSpPr/>
          <p:nvPr/>
        </p:nvSpPr>
        <p:spPr>
          <a:xfrm>
            <a:off x="7559040" y="4511040"/>
            <a:ext cx="3962400" cy="999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Impact: Monitoring is reliable, lightweight, and cannot be spoofed — unlike user-space hooks that malware can bypass.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5d1c309b5_8_21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c5d1c309b5_8_210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Behaviour Monitoring — What We Watch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c5d1c309b5_8_210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While the suspicious file runs, four things are monitored simultaneously in real time.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c5d1c309b5_8_210"/>
          <p:cNvSpPr/>
          <p:nvPr/>
        </p:nvSpPr>
        <p:spPr>
          <a:xfrm>
            <a:off x="341376" y="1645920"/>
            <a:ext cx="2682240" cy="445008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c5d1c309b5_8_210"/>
          <p:cNvSpPr/>
          <p:nvPr/>
        </p:nvSpPr>
        <p:spPr>
          <a:xfrm>
            <a:off x="341376" y="1645920"/>
            <a:ext cx="2682240" cy="7924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c5d1c309b5_8_210"/>
          <p:cNvSpPr/>
          <p:nvPr/>
        </p:nvSpPr>
        <p:spPr>
          <a:xfrm>
            <a:off x="463296" y="1645920"/>
            <a:ext cx="243840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📁  Files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c5d1c309b5_8_210"/>
          <p:cNvSpPr/>
          <p:nvPr/>
        </p:nvSpPr>
        <p:spPr>
          <a:xfrm>
            <a:off x="487680" y="2560320"/>
            <a:ext cx="2389632" cy="877824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c5d1c309b5_8_210"/>
          <p:cNvSpPr/>
          <p:nvPr/>
        </p:nvSpPr>
        <p:spPr>
          <a:xfrm>
            <a:off x="560832" y="2560320"/>
            <a:ext cx="224332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Is it writing or deleting files?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5d1c309b5_8_210"/>
          <p:cNvSpPr/>
          <p:nvPr/>
        </p:nvSpPr>
        <p:spPr>
          <a:xfrm>
            <a:off x="585216" y="3816099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c5d1c309b5_8_210"/>
          <p:cNvSpPr/>
          <p:nvPr/>
        </p:nvSpPr>
        <p:spPr>
          <a:xfrm>
            <a:off x="780288" y="3560064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Dropped a hidden executable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c5d1c309b5_8_210"/>
          <p:cNvSpPr/>
          <p:nvPr/>
        </p:nvSpPr>
        <p:spPr>
          <a:xfrm>
            <a:off x="585216" y="4480564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c5d1c309b5_8_210"/>
          <p:cNvSpPr/>
          <p:nvPr/>
        </p:nvSpPr>
        <p:spPr>
          <a:xfrm>
            <a:off x="780288" y="4242816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Accessed credential 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c5d1c309b5_8_210"/>
          <p:cNvSpPr/>
          <p:nvPr/>
        </p:nvSpPr>
        <p:spPr>
          <a:xfrm>
            <a:off x="585254" y="5145053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c5d1c309b5_8_210"/>
          <p:cNvSpPr/>
          <p:nvPr/>
        </p:nvSpPr>
        <p:spPr>
          <a:xfrm>
            <a:off x="780288" y="4925568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Modified startup scripts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c5d1c309b5_8_210"/>
          <p:cNvSpPr/>
          <p:nvPr/>
        </p:nvSpPr>
        <p:spPr>
          <a:xfrm>
            <a:off x="3157728" y="1645920"/>
            <a:ext cx="2682240" cy="445008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c5d1c309b5_8_210"/>
          <p:cNvSpPr/>
          <p:nvPr/>
        </p:nvSpPr>
        <p:spPr>
          <a:xfrm>
            <a:off x="3157728" y="1645920"/>
            <a:ext cx="2682240" cy="7924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c5d1c309b5_8_210"/>
          <p:cNvSpPr/>
          <p:nvPr/>
        </p:nvSpPr>
        <p:spPr>
          <a:xfrm>
            <a:off x="3279648" y="1645920"/>
            <a:ext cx="243840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Network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c5d1c309b5_8_210"/>
          <p:cNvSpPr/>
          <p:nvPr/>
        </p:nvSpPr>
        <p:spPr>
          <a:xfrm>
            <a:off x="3304032" y="2560320"/>
            <a:ext cx="2389632" cy="877824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c5d1c309b5_8_210"/>
          <p:cNvSpPr/>
          <p:nvPr/>
        </p:nvSpPr>
        <p:spPr>
          <a:xfrm>
            <a:off x="3377184" y="2560320"/>
            <a:ext cx="224332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Is it trying to connect to the internet?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c5d1c309b5_8_210"/>
          <p:cNvSpPr/>
          <p:nvPr/>
        </p:nvSpPr>
        <p:spPr>
          <a:xfrm>
            <a:off x="3401568" y="3730749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c5d1c309b5_8_210"/>
          <p:cNvSpPr/>
          <p:nvPr/>
        </p:nvSpPr>
        <p:spPr>
          <a:xfrm>
            <a:off x="3596640" y="3560064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Attempted outbound connection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5d1c309b5_8_210"/>
          <p:cNvSpPr/>
          <p:nvPr/>
        </p:nvSpPr>
        <p:spPr>
          <a:xfrm>
            <a:off x="3401568" y="4358676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c5d1c309b5_8_210"/>
          <p:cNvSpPr/>
          <p:nvPr/>
        </p:nvSpPr>
        <p:spPr>
          <a:xfrm>
            <a:off x="3596640" y="4242816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Called back to an external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c5d1c309b5_8_210"/>
          <p:cNvSpPr/>
          <p:nvPr/>
        </p:nvSpPr>
        <p:spPr>
          <a:xfrm>
            <a:off x="3401618" y="5084078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c5d1c309b5_8_210"/>
          <p:cNvSpPr/>
          <p:nvPr/>
        </p:nvSpPr>
        <p:spPr>
          <a:xfrm>
            <a:off x="3596640" y="4925568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Even failed attempts are recorded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c5d1c309b5_8_210"/>
          <p:cNvSpPr/>
          <p:nvPr/>
        </p:nvSpPr>
        <p:spPr>
          <a:xfrm>
            <a:off x="5974080" y="1645920"/>
            <a:ext cx="2682240" cy="445008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c5d1c309b5_8_210"/>
          <p:cNvSpPr/>
          <p:nvPr/>
        </p:nvSpPr>
        <p:spPr>
          <a:xfrm>
            <a:off x="5974080" y="1645920"/>
            <a:ext cx="2682240" cy="7924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c5d1c309b5_8_210"/>
          <p:cNvSpPr/>
          <p:nvPr/>
        </p:nvSpPr>
        <p:spPr>
          <a:xfrm>
            <a:off x="6096000" y="1645920"/>
            <a:ext cx="243840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Processes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c5d1c309b5_8_210"/>
          <p:cNvSpPr/>
          <p:nvPr/>
        </p:nvSpPr>
        <p:spPr>
          <a:xfrm>
            <a:off x="6120384" y="2560320"/>
            <a:ext cx="2389632" cy="877824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c5d1c309b5_8_210"/>
          <p:cNvSpPr/>
          <p:nvPr/>
        </p:nvSpPr>
        <p:spPr>
          <a:xfrm>
            <a:off x="6193536" y="2560320"/>
            <a:ext cx="224332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Is it launching other programs?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c5d1c309b5_8_210"/>
          <p:cNvSpPr/>
          <p:nvPr/>
        </p:nvSpPr>
        <p:spPr>
          <a:xfrm>
            <a:off x="6217920" y="3816099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c5d1c309b5_8_210"/>
          <p:cNvSpPr/>
          <p:nvPr/>
        </p:nvSpPr>
        <p:spPr>
          <a:xfrm>
            <a:off x="6412992" y="3560064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Opened a terminal or shell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c5d1c309b5_8_210"/>
          <p:cNvSpPr/>
          <p:nvPr/>
        </p:nvSpPr>
        <p:spPr>
          <a:xfrm>
            <a:off x="6217920" y="4474476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c5d1c309b5_8_210"/>
          <p:cNvSpPr/>
          <p:nvPr/>
        </p:nvSpPr>
        <p:spPr>
          <a:xfrm>
            <a:off x="6412992" y="4242816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Started a download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c5d1c309b5_8_210"/>
          <p:cNvSpPr/>
          <p:nvPr/>
        </p:nvSpPr>
        <p:spPr>
          <a:xfrm>
            <a:off x="6217995" y="5132853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c5d1c309b5_8_210"/>
          <p:cNvSpPr/>
          <p:nvPr/>
        </p:nvSpPr>
        <p:spPr>
          <a:xfrm>
            <a:off x="6412992" y="4925568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Created a copy of itself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5d1c309b5_8_210"/>
          <p:cNvSpPr/>
          <p:nvPr/>
        </p:nvSpPr>
        <p:spPr>
          <a:xfrm>
            <a:off x="8790432" y="1645920"/>
            <a:ext cx="2682300" cy="445020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c5d1c309b5_8_210"/>
          <p:cNvSpPr/>
          <p:nvPr/>
        </p:nvSpPr>
        <p:spPr>
          <a:xfrm>
            <a:off x="8790432" y="1645920"/>
            <a:ext cx="2682240" cy="7924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c5d1c309b5_8_210"/>
          <p:cNvSpPr/>
          <p:nvPr/>
        </p:nvSpPr>
        <p:spPr>
          <a:xfrm>
            <a:off x="8912352" y="1645920"/>
            <a:ext cx="243840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 Permissions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5d1c309b5_8_210"/>
          <p:cNvSpPr/>
          <p:nvPr/>
        </p:nvSpPr>
        <p:spPr>
          <a:xfrm>
            <a:off x="8936736" y="2560320"/>
            <a:ext cx="2389632" cy="877824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c5d1c309b5_8_210"/>
          <p:cNvSpPr/>
          <p:nvPr/>
        </p:nvSpPr>
        <p:spPr>
          <a:xfrm>
            <a:off x="9009888" y="2560320"/>
            <a:ext cx="224332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Is it trying to gain more access?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c5d1c309b5_8_210"/>
          <p:cNvSpPr/>
          <p:nvPr/>
        </p:nvSpPr>
        <p:spPr>
          <a:xfrm>
            <a:off x="9034272" y="3730787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c5d1c309b5_8_210"/>
          <p:cNvSpPr/>
          <p:nvPr/>
        </p:nvSpPr>
        <p:spPr>
          <a:xfrm>
            <a:off x="9229344" y="3560064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Attempted to become admin/root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c5d1c309b5_8_210"/>
          <p:cNvSpPr/>
          <p:nvPr/>
        </p:nvSpPr>
        <p:spPr>
          <a:xfrm>
            <a:off x="9034272" y="4474476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c5d1c309b5_8_210"/>
          <p:cNvSpPr/>
          <p:nvPr/>
        </p:nvSpPr>
        <p:spPr>
          <a:xfrm>
            <a:off x="9229344" y="4242816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Changed its own access level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c5d1c309b5_8_210"/>
          <p:cNvSpPr/>
          <p:nvPr/>
        </p:nvSpPr>
        <p:spPr>
          <a:xfrm>
            <a:off x="9034372" y="5132953"/>
            <a:ext cx="109800" cy="1098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c5d1c309b5_8_210"/>
          <p:cNvSpPr/>
          <p:nvPr/>
        </p:nvSpPr>
        <p:spPr>
          <a:xfrm>
            <a:off x="9229344" y="4925568"/>
            <a:ext cx="20970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Injected into another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5d1c309b5_8_26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c5d1c309b5_8_261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Scoring &amp; Verdict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c5d1c309b5_8_261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Every suspicious action adds points to a risk score. The total determines what happens next.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c5d1c309b5_8_261"/>
          <p:cNvSpPr/>
          <p:nvPr/>
        </p:nvSpPr>
        <p:spPr>
          <a:xfrm>
            <a:off x="548640" y="1645920"/>
            <a:ext cx="536448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Behavioral Event Weights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c5d1c309b5_8_261"/>
          <p:cNvSpPr/>
          <p:nvPr/>
        </p:nvSpPr>
        <p:spPr>
          <a:xfrm>
            <a:off x="548640" y="2218944"/>
            <a:ext cx="5364480" cy="43891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c5d1c309b5_8_261"/>
          <p:cNvSpPr/>
          <p:nvPr/>
        </p:nvSpPr>
        <p:spPr>
          <a:xfrm>
            <a:off x="731520" y="2218944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Self-replication (persistence)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c5d1c309b5_8_261"/>
          <p:cNvSpPr/>
          <p:nvPr/>
        </p:nvSpPr>
        <p:spPr>
          <a:xfrm>
            <a:off x="4876800" y="2218944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c5d1c309b5_8_261"/>
          <p:cNvSpPr/>
          <p:nvPr/>
        </p:nvSpPr>
        <p:spPr>
          <a:xfrm>
            <a:off x="548640" y="2682240"/>
            <a:ext cx="5364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c5d1c309b5_8_261"/>
          <p:cNvSpPr/>
          <p:nvPr/>
        </p:nvSpPr>
        <p:spPr>
          <a:xfrm>
            <a:off x="731520" y="268224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Privilege escalation (root)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c5d1c309b5_8_261"/>
          <p:cNvSpPr/>
          <p:nvPr/>
        </p:nvSpPr>
        <p:spPr>
          <a:xfrm>
            <a:off x="4876800" y="2682240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+35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c5d1c309b5_8_261"/>
          <p:cNvSpPr/>
          <p:nvPr/>
        </p:nvSpPr>
        <p:spPr>
          <a:xfrm>
            <a:off x="548640" y="3145536"/>
            <a:ext cx="5364480" cy="43891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c5d1c309b5_8_261"/>
          <p:cNvSpPr/>
          <p:nvPr/>
        </p:nvSpPr>
        <p:spPr>
          <a:xfrm>
            <a:off x="731520" y="3145536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Cross-process memory injection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c5d1c309b5_8_261"/>
          <p:cNvSpPr/>
          <p:nvPr/>
        </p:nvSpPr>
        <p:spPr>
          <a:xfrm>
            <a:off x="4876800" y="3145536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+35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5d1c309b5_8_261"/>
          <p:cNvSpPr/>
          <p:nvPr/>
        </p:nvSpPr>
        <p:spPr>
          <a:xfrm>
            <a:off x="548640" y="3608832"/>
            <a:ext cx="5364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c5d1c309b5_8_261"/>
          <p:cNvSpPr/>
          <p:nvPr/>
        </p:nvSpPr>
        <p:spPr>
          <a:xfrm>
            <a:off x="731520" y="3608832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Drops executable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c5d1c309b5_8_261"/>
          <p:cNvSpPr/>
          <p:nvPr/>
        </p:nvSpPr>
        <p:spPr>
          <a:xfrm>
            <a:off x="4876800" y="3608832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c5d1c309b5_8_261"/>
          <p:cNvSpPr/>
          <p:nvPr/>
        </p:nvSpPr>
        <p:spPr>
          <a:xfrm>
            <a:off x="548640" y="4072128"/>
            <a:ext cx="5364480" cy="43891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c5d1c309b5_8_261"/>
          <p:cNvSpPr/>
          <p:nvPr/>
        </p:nvSpPr>
        <p:spPr>
          <a:xfrm>
            <a:off x="731520" y="4072128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Network / C2 connection attempt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5d1c309b5_8_261"/>
          <p:cNvSpPr/>
          <p:nvPr/>
        </p:nvSpPr>
        <p:spPr>
          <a:xfrm>
            <a:off x="4876800" y="4072128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c5d1c309b5_8_261"/>
          <p:cNvSpPr/>
          <p:nvPr/>
        </p:nvSpPr>
        <p:spPr>
          <a:xfrm>
            <a:off x="548640" y="4535424"/>
            <a:ext cx="5364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c5d1c309b5_8_261"/>
          <p:cNvSpPr/>
          <p:nvPr/>
        </p:nvSpPr>
        <p:spPr>
          <a:xfrm>
            <a:off x="731520" y="4535424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Shell or command-line invocation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c5d1c309b5_8_261"/>
          <p:cNvSpPr/>
          <p:nvPr/>
        </p:nvSpPr>
        <p:spPr>
          <a:xfrm>
            <a:off x="4876800" y="4535424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c5d1c309b5_8_261"/>
          <p:cNvSpPr/>
          <p:nvPr/>
        </p:nvSpPr>
        <p:spPr>
          <a:xfrm>
            <a:off x="548640" y="4998720"/>
            <a:ext cx="5364480" cy="43891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c5d1c309b5_8_261"/>
          <p:cNvSpPr/>
          <p:nvPr/>
        </p:nvSpPr>
        <p:spPr>
          <a:xfrm>
            <a:off x="731520" y="499872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IOC match (hash / IP / domain)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c5d1c309b5_8_261"/>
          <p:cNvSpPr/>
          <p:nvPr/>
        </p:nvSpPr>
        <p:spPr>
          <a:xfrm>
            <a:off x="4876800" y="4998720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c5d1c309b5_8_261"/>
          <p:cNvSpPr/>
          <p:nvPr/>
        </p:nvSpPr>
        <p:spPr>
          <a:xfrm>
            <a:off x="548640" y="5462016"/>
            <a:ext cx="53644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c5d1c309b5_8_261"/>
          <p:cNvSpPr/>
          <p:nvPr/>
        </p:nvSpPr>
        <p:spPr>
          <a:xfrm>
            <a:off x="731520" y="5462016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High-entropy file write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c5d1c309b5_8_261"/>
          <p:cNvSpPr/>
          <p:nvPr/>
        </p:nvSpPr>
        <p:spPr>
          <a:xfrm>
            <a:off x="4876800" y="5462016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c5d1c309b5_8_261"/>
          <p:cNvSpPr/>
          <p:nvPr/>
        </p:nvSpPr>
        <p:spPr>
          <a:xfrm>
            <a:off x="548640" y="5925312"/>
            <a:ext cx="5364480" cy="43891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c5d1c309b5_8_261"/>
          <p:cNvSpPr/>
          <p:nvPr/>
        </p:nvSpPr>
        <p:spPr>
          <a:xfrm>
            <a:off x="731520" y="5925312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Child process spawn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c5d1c309b5_8_261"/>
          <p:cNvSpPr/>
          <p:nvPr/>
        </p:nvSpPr>
        <p:spPr>
          <a:xfrm>
            <a:off x="4876800" y="5925312"/>
            <a:ext cx="97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+10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c5d1c309b5_8_261"/>
          <p:cNvSpPr/>
          <p:nvPr/>
        </p:nvSpPr>
        <p:spPr>
          <a:xfrm>
            <a:off x="6461760" y="1645920"/>
            <a:ext cx="5181600" cy="1402080"/>
          </a:xfrm>
          <a:prstGeom prst="rect">
            <a:avLst/>
          </a:prstGeom>
          <a:solidFill>
            <a:srgbClr val="D5F5E3"/>
          </a:solidFill>
          <a:ln cap="flat" cmpd="sng" w="1905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c5d1c309b5_8_261"/>
          <p:cNvSpPr/>
          <p:nvPr/>
        </p:nvSpPr>
        <p:spPr>
          <a:xfrm>
            <a:off x="6461760" y="1645920"/>
            <a:ext cx="1889760" cy="14020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c5d1c309b5_8_261"/>
          <p:cNvSpPr/>
          <p:nvPr/>
        </p:nvSpPr>
        <p:spPr>
          <a:xfrm>
            <a:off x="6461760" y="1645920"/>
            <a:ext cx="1889760" cy="1402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c5d1c309b5_8_261"/>
          <p:cNvSpPr/>
          <p:nvPr/>
        </p:nvSpPr>
        <p:spPr>
          <a:xfrm>
            <a:off x="8534400" y="1816608"/>
            <a:ext cx="2950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Score  &lt;  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c5d1c309b5_8_261"/>
          <p:cNvSpPr/>
          <p:nvPr/>
        </p:nvSpPr>
        <p:spPr>
          <a:xfrm>
            <a:off x="8534400" y="2316480"/>
            <a:ext cx="2950464" cy="63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Forwarded to the operational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c5d1c309b5_8_261"/>
          <p:cNvSpPr/>
          <p:nvPr/>
        </p:nvSpPr>
        <p:spPr>
          <a:xfrm>
            <a:off x="6461760" y="3206496"/>
            <a:ext cx="5181600" cy="1402080"/>
          </a:xfrm>
          <a:prstGeom prst="rect">
            <a:avLst/>
          </a:prstGeom>
          <a:solidFill>
            <a:srgbClr val="FDEBD0"/>
          </a:solidFill>
          <a:ln cap="flat" cmpd="sng" w="19050">
            <a:solidFill>
              <a:srgbClr val="CA6F1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c5d1c309b5_8_261"/>
          <p:cNvSpPr/>
          <p:nvPr/>
        </p:nvSpPr>
        <p:spPr>
          <a:xfrm>
            <a:off x="6461760" y="3206496"/>
            <a:ext cx="1889760" cy="1402080"/>
          </a:xfrm>
          <a:prstGeom prst="rect">
            <a:avLst/>
          </a:prstGeom>
          <a:solidFill>
            <a:srgbClr val="CA6F1E"/>
          </a:solidFill>
          <a:ln cap="flat" cmpd="sng" w="12700">
            <a:solidFill>
              <a:srgbClr val="CA6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c5d1c309b5_8_261"/>
          <p:cNvSpPr/>
          <p:nvPr/>
        </p:nvSpPr>
        <p:spPr>
          <a:xfrm>
            <a:off x="6461760" y="3206496"/>
            <a:ext cx="1889760" cy="1402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SUSPICIOUS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c5d1c309b5_8_261"/>
          <p:cNvSpPr/>
          <p:nvPr/>
        </p:nvSpPr>
        <p:spPr>
          <a:xfrm>
            <a:off x="8534400" y="3377184"/>
            <a:ext cx="2950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Score  25 – 59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c5d1c309b5_8_261"/>
          <p:cNvSpPr/>
          <p:nvPr/>
        </p:nvSpPr>
        <p:spPr>
          <a:xfrm>
            <a:off x="8534400" y="3877056"/>
            <a:ext cx="2950464" cy="63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Quarantined — flagged for analyst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c5d1c309b5_8_261"/>
          <p:cNvSpPr/>
          <p:nvPr/>
        </p:nvSpPr>
        <p:spPr>
          <a:xfrm>
            <a:off x="6461760" y="4767072"/>
            <a:ext cx="5181600" cy="1402080"/>
          </a:xfrm>
          <a:prstGeom prst="rect">
            <a:avLst/>
          </a:prstGeom>
          <a:solidFill>
            <a:srgbClr val="FADBD8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c5d1c309b5_8_261"/>
          <p:cNvSpPr/>
          <p:nvPr/>
        </p:nvSpPr>
        <p:spPr>
          <a:xfrm>
            <a:off x="6461760" y="4767072"/>
            <a:ext cx="1889760" cy="14020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c5d1c309b5_8_261"/>
          <p:cNvSpPr/>
          <p:nvPr/>
        </p:nvSpPr>
        <p:spPr>
          <a:xfrm>
            <a:off x="6461760" y="4767072"/>
            <a:ext cx="1889760" cy="1402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MALICIOUS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c5d1c309b5_8_261"/>
          <p:cNvSpPr/>
          <p:nvPr/>
        </p:nvSpPr>
        <p:spPr>
          <a:xfrm>
            <a:off x="8534400" y="4937760"/>
            <a:ext cx="2950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Score  ≥  60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c5d1c309b5_8_261"/>
          <p:cNvSpPr/>
          <p:nvPr/>
        </p:nvSpPr>
        <p:spPr>
          <a:xfrm>
            <a:off x="8534400" y="5437632"/>
            <a:ext cx="2950464" cy="63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Blocked immediately. SOC / SIEM alerted.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5d1c309b5_8_31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c5d1c309b5_8_311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Results — 4 Test Scenarios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c5d1c309b5_8_311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Initial testing across four representative file types confirms the pipeline works end to end.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c5d1c309b5_8_311"/>
          <p:cNvSpPr/>
          <p:nvPr/>
        </p:nvSpPr>
        <p:spPr>
          <a:xfrm>
            <a:off x="487680" y="1731264"/>
            <a:ext cx="3048000" cy="5364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c5d1c309b5_8_311"/>
          <p:cNvSpPr/>
          <p:nvPr/>
        </p:nvSpPr>
        <p:spPr>
          <a:xfrm>
            <a:off x="609600" y="1731264"/>
            <a:ext cx="28041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c5d1c309b5_8_311"/>
          <p:cNvSpPr/>
          <p:nvPr/>
        </p:nvSpPr>
        <p:spPr>
          <a:xfrm>
            <a:off x="3596640" y="1731264"/>
            <a:ext cx="2438400" cy="5364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c5d1c309b5_8_311"/>
          <p:cNvSpPr/>
          <p:nvPr/>
        </p:nvSpPr>
        <p:spPr>
          <a:xfrm>
            <a:off x="3718560" y="1731264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c5d1c309b5_8_311"/>
          <p:cNvSpPr/>
          <p:nvPr/>
        </p:nvSpPr>
        <p:spPr>
          <a:xfrm>
            <a:off x="6071616" y="1731264"/>
            <a:ext cx="1889760" cy="5364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c5d1c309b5_8_311"/>
          <p:cNvSpPr/>
          <p:nvPr/>
        </p:nvSpPr>
        <p:spPr>
          <a:xfrm>
            <a:off x="6193536" y="1731264"/>
            <a:ext cx="164592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c5d1c309b5_8_311"/>
          <p:cNvSpPr/>
          <p:nvPr/>
        </p:nvSpPr>
        <p:spPr>
          <a:xfrm>
            <a:off x="7985760" y="1731264"/>
            <a:ext cx="1889760" cy="5364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c5d1c309b5_8_311"/>
          <p:cNvSpPr/>
          <p:nvPr/>
        </p:nvSpPr>
        <p:spPr>
          <a:xfrm>
            <a:off x="8107680" y="1731264"/>
            <a:ext cx="164592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c5d1c309b5_8_311"/>
          <p:cNvSpPr/>
          <p:nvPr/>
        </p:nvSpPr>
        <p:spPr>
          <a:xfrm>
            <a:off x="9899904" y="1731264"/>
            <a:ext cx="2438400" cy="5364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c5d1c309b5_8_311"/>
          <p:cNvSpPr/>
          <p:nvPr/>
        </p:nvSpPr>
        <p:spPr>
          <a:xfrm>
            <a:off x="10021824" y="1731264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c5d1c309b5_8_311"/>
          <p:cNvSpPr/>
          <p:nvPr/>
        </p:nvSpPr>
        <p:spPr>
          <a:xfrm>
            <a:off x="487680" y="2267712"/>
            <a:ext cx="30480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c5d1c309b5_8_311"/>
          <p:cNvSpPr/>
          <p:nvPr/>
        </p:nvSpPr>
        <p:spPr>
          <a:xfrm>
            <a:off x="3596640" y="2267712"/>
            <a:ext cx="24384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c5d1c309b5_8_311"/>
          <p:cNvSpPr/>
          <p:nvPr/>
        </p:nvSpPr>
        <p:spPr>
          <a:xfrm>
            <a:off x="6071616" y="2267712"/>
            <a:ext cx="18897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c5d1c309b5_8_311"/>
          <p:cNvSpPr/>
          <p:nvPr/>
        </p:nvSpPr>
        <p:spPr>
          <a:xfrm>
            <a:off x="7985760" y="2267712"/>
            <a:ext cx="1889760" cy="804672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c5d1c309b5_8_311"/>
          <p:cNvSpPr/>
          <p:nvPr/>
        </p:nvSpPr>
        <p:spPr>
          <a:xfrm>
            <a:off x="9899904" y="2267712"/>
            <a:ext cx="24384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c5d1c309b5_8_311"/>
          <p:cNvSpPr/>
          <p:nvPr/>
        </p:nvSpPr>
        <p:spPr>
          <a:xfrm>
            <a:off x="609600" y="2267712"/>
            <a:ext cx="28041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telemetry.csv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c5d1c309b5_8_311"/>
          <p:cNvSpPr/>
          <p:nvPr/>
        </p:nvSpPr>
        <p:spPr>
          <a:xfrm>
            <a:off x="3718560" y="226771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Safe CSV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c5d1c309b5_8_311"/>
          <p:cNvSpPr/>
          <p:nvPr/>
        </p:nvSpPr>
        <p:spPr>
          <a:xfrm>
            <a:off x="6193536" y="226771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c5d1c309b5_8_311"/>
          <p:cNvSpPr/>
          <p:nvPr/>
        </p:nvSpPr>
        <p:spPr>
          <a:xfrm>
            <a:off x="8107680" y="226771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c5d1c309b5_8_311"/>
          <p:cNvSpPr/>
          <p:nvPr/>
        </p:nvSpPr>
        <p:spPr>
          <a:xfrm>
            <a:off x="10021824" y="226771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Forwarded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c5d1c309b5_8_311"/>
          <p:cNvSpPr/>
          <p:nvPr/>
        </p:nvSpPr>
        <p:spPr>
          <a:xfrm>
            <a:off x="487680" y="3121152"/>
            <a:ext cx="30480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c5d1c309b5_8_311"/>
          <p:cNvSpPr/>
          <p:nvPr/>
        </p:nvSpPr>
        <p:spPr>
          <a:xfrm>
            <a:off x="3596640" y="3121152"/>
            <a:ext cx="24384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c5d1c309b5_8_311"/>
          <p:cNvSpPr/>
          <p:nvPr/>
        </p:nvSpPr>
        <p:spPr>
          <a:xfrm>
            <a:off x="6071616" y="3121152"/>
            <a:ext cx="188976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c5d1c309b5_8_311"/>
          <p:cNvSpPr/>
          <p:nvPr/>
        </p:nvSpPr>
        <p:spPr>
          <a:xfrm>
            <a:off x="7985760" y="3121152"/>
            <a:ext cx="1889760" cy="804672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c5d1c309b5_8_311"/>
          <p:cNvSpPr/>
          <p:nvPr/>
        </p:nvSpPr>
        <p:spPr>
          <a:xfrm>
            <a:off x="9899904" y="3121152"/>
            <a:ext cx="24384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c5d1c309b5_8_311"/>
          <p:cNvSpPr/>
          <p:nvPr/>
        </p:nvSpPr>
        <p:spPr>
          <a:xfrm>
            <a:off x="609600" y="3121152"/>
            <a:ext cx="28041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suspicious.py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c5d1c309b5_8_311"/>
          <p:cNvSpPr/>
          <p:nvPr/>
        </p:nvSpPr>
        <p:spPr>
          <a:xfrm>
            <a:off x="3718560" y="312115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Python script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c5d1c309b5_8_311"/>
          <p:cNvSpPr/>
          <p:nvPr/>
        </p:nvSpPr>
        <p:spPr>
          <a:xfrm>
            <a:off x="6193536" y="312115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c5d1c309b5_8_311"/>
          <p:cNvSpPr/>
          <p:nvPr/>
        </p:nvSpPr>
        <p:spPr>
          <a:xfrm>
            <a:off x="8107680" y="312115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6F1E"/>
                </a:solidFill>
                <a:latin typeface="Calibri"/>
                <a:ea typeface="Calibri"/>
                <a:cs typeface="Calibri"/>
                <a:sym typeface="Calibri"/>
              </a:rPr>
              <a:t>SUSPICIOUS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c5d1c309b5_8_311"/>
          <p:cNvSpPr/>
          <p:nvPr/>
        </p:nvSpPr>
        <p:spPr>
          <a:xfrm>
            <a:off x="10021824" y="312115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Quarantined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c5d1c309b5_8_311"/>
          <p:cNvSpPr/>
          <p:nvPr/>
        </p:nvSpPr>
        <p:spPr>
          <a:xfrm>
            <a:off x="487680" y="3974592"/>
            <a:ext cx="30480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c5d1c309b5_8_311"/>
          <p:cNvSpPr/>
          <p:nvPr/>
        </p:nvSpPr>
        <p:spPr>
          <a:xfrm>
            <a:off x="3596640" y="3974592"/>
            <a:ext cx="24384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c5d1c309b5_8_311"/>
          <p:cNvSpPr/>
          <p:nvPr/>
        </p:nvSpPr>
        <p:spPr>
          <a:xfrm>
            <a:off x="6071616" y="3974592"/>
            <a:ext cx="18897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c5d1c309b5_8_311"/>
          <p:cNvSpPr/>
          <p:nvPr/>
        </p:nvSpPr>
        <p:spPr>
          <a:xfrm>
            <a:off x="7985760" y="3974592"/>
            <a:ext cx="1889760" cy="804672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c5d1c309b5_8_311"/>
          <p:cNvSpPr/>
          <p:nvPr/>
        </p:nvSpPr>
        <p:spPr>
          <a:xfrm>
            <a:off x="9899904" y="3974592"/>
            <a:ext cx="24384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c5d1c309b5_8_311"/>
          <p:cNvSpPr/>
          <p:nvPr/>
        </p:nvSpPr>
        <p:spPr>
          <a:xfrm>
            <a:off x="609600" y="3974592"/>
            <a:ext cx="28041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malware.py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c5d1c309b5_8_311"/>
          <p:cNvSpPr/>
          <p:nvPr/>
        </p:nvSpPr>
        <p:spPr>
          <a:xfrm>
            <a:off x="3718560" y="397459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Python script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c5d1c309b5_8_311"/>
          <p:cNvSpPr/>
          <p:nvPr/>
        </p:nvSpPr>
        <p:spPr>
          <a:xfrm>
            <a:off x="6193536" y="397459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c5d1c309b5_8_311"/>
          <p:cNvSpPr/>
          <p:nvPr/>
        </p:nvSpPr>
        <p:spPr>
          <a:xfrm>
            <a:off x="8107680" y="397459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MALICIOUS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c5d1c309b5_8_311"/>
          <p:cNvSpPr/>
          <p:nvPr/>
        </p:nvSpPr>
        <p:spPr>
          <a:xfrm>
            <a:off x="10021824" y="397459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Blocked + SOC alerted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c5d1c309b5_8_311"/>
          <p:cNvSpPr/>
          <p:nvPr/>
        </p:nvSpPr>
        <p:spPr>
          <a:xfrm>
            <a:off x="487680" y="4828032"/>
            <a:ext cx="30480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c5d1c309b5_8_311"/>
          <p:cNvSpPr/>
          <p:nvPr/>
        </p:nvSpPr>
        <p:spPr>
          <a:xfrm>
            <a:off x="3596640" y="4828032"/>
            <a:ext cx="24384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c5d1c309b5_8_311"/>
          <p:cNvSpPr/>
          <p:nvPr/>
        </p:nvSpPr>
        <p:spPr>
          <a:xfrm>
            <a:off x="6071616" y="4828032"/>
            <a:ext cx="188976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c5d1c309b5_8_311"/>
          <p:cNvSpPr/>
          <p:nvPr/>
        </p:nvSpPr>
        <p:spPr>
          <a:xfrm>
            <a:off x="7985760" y="4828032"/>
            <a:ext cx="1889760" cy="804672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c5d1c309b5_8_311"/>
          <p:cNvSpPr/>
          <p:nvPr/>
        </p:nvSpPr>
        <p:spPr>
          <a:xfrm>
            <a:off x="9899904" y="4828032"/>
            <a:ext cx="2438400" cy="804672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c5d1c309b5_8_311"/>
          <p:cNvSpPr/>
          <p:nvPr/>
        </p:nvSpPr>
        <p:spPr>
          <a:xfrm>
            <a:off x="609600" y="4828032"/>
            <a:ext cx="28041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mission_data.zip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c5d1c309b5_8_311"/>
          <p:cNvSpPr/>
          <p:nvPr/>
        </p:nvSpPr>
        <p:spPr>
          <a:xfrm>
            <a:off x="3718560" y="48280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ZIP w/ hidden .sh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c5d1c309b5_8_311"/>
          <p:cNvSpPr/>
          <p:nvPr/>
        </p:nvSpPr>
        <p:spPr>
          <a:xfrm>
            <a:off x="6193536" y="482803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c5d1c309b5_8_311"/>
          <p:cNvSpPr/>
          <p:nvPr/>
        </p:nvSpPr>
        <p:spPr>
          <a:xfrm>
            <a:off x="8107680" y="4828032"/>
            <a:ext cx="1645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6F1E"/>
                </a:solidFill>
                <a:latin typeface="Calibri"/>
                <a:ea typeface="Calibri"/>
                <a:cs typeface="Calibri"/>
                <a:sym typeface="Calibri"/>
              </a:rPr>
              <a:t>SUSPICIOUS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c5d1c309b5_8_311"/>
          <p:cNvSpPr/>
          <p:nvPr/>
        </p:nvSpPr>
        <p:spPr>
          <a:xfrm>
            <a:off x="10021824" y="48280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Quarantined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c5d1c309b5_8_311"/>
          <p:cNvSpPr/>
          <p:nvPr/>
        </p:nvSpPr>
        <p:spPr>
          <a:xfrm>
            <a:off x="487680" y="5632704"/>
            <a:ext cx="11216640" cy="707136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c5d1c309b5_8_311"/>
          <p:cNvSpPr/>
          <p:nvPr/>
        </p:nvSpPr>
        <p:spPr>
          <a:xfrm>
            <a:off x="731520" y="5632704"/>
            <a:ext cx="108510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Full test code and behavioral traces are documented in the project notebook.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5d1c309b5_6_24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c5d1c309b5_6_243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Properties of This Module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c5d1c309b5_6_243"/>
          <p:cNvSpPr/>
          <p:nvPr/>
        </p:nvSpPr>
        <p:spPr>
          <a:xfrm>
            <a:off x="487680" y="1158240"/>
            <a:ext cx="112166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c5d1c309b5_6_243"/>
          <p:cNvSpPr/>
          <p:nvPr/>
        </p:nvSpPr>
        <p:spPr>
          <a:xfrm>
            <a:off x="487680" y="1158240"/>
            <a:ext cx="121920" cy="9144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c5d1c309b5_6_243"/>
          <p:cNvSpPr/>
          <p:nvPr/>
        </p:nvSpPr>
        <p:spPr>
          <a:xfrm>
            <a:off x="792480" y="115824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 Execution: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c5d1c309b5_6_243"/>
          <p:cNvSpPr/>
          <p:nvPr/>
        </p:nvSpPr>
        <p:spPr>
          <a:xfrm>
            <a:off x="3474720" y="11582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file is genuinely run — not emulated or simulated. Behavior is authentic.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c5d1c309b5_6_243"/>
          <p:cNvSpPr/>
          <p:nvPr/>
        </p:nvSpPr>
        <p:spPr>
          <a:xfrm>
            <a:off x="487680" y="2231136"/>
            <a:ext cx="112166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c5d1c309b5_6_243"/>
          <p:cNvSpPr/>
          <p:nvPr/>
        </p:nvSpPr>
        <p:spPr>
          <a:xfrm>
            <a:off x="487680" y="2231136"/>
            <a:ext cx="121920" cy="9144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c5d1c309b5_6_243"/>
          <p:cNvSpPr/>
          <p:nvPr/>
        </p:nvSpPr>
        <p:spPr>
          <a:xfrm>
            <a:off x="792480" y="2231136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Kernel-Level Monitoring: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c5d1c309b5_6_243"/>
          <p:cNvSpPr/>
          <p:nvPr/>
        </p:nvSpPr>
        <p:spPr>
          <a:xfrm>
            <a:off x="3474720" y="2231136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four monitors read directly from the Linux /proc filesystem. No agent injection into the monitored process.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c5d1c309b5_6_243"/>
          <p:cNvSpPr/>
          <p:nvPr/>
        </p:nvSpPr>
        <p:spPr>
          <a:xfrm>
            <a:off x="487680" y="3304032"/>
            <a:ext cx="112166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c5d1c309b5_6_243"/>
          <p:cNvSpPr/>
          <p:nvPr/>
        </p:nvSpPr>
        <p:spPr>
          <a:xfrm>
            <a:off x="487680" y="3304032"/>
            <a:ext cx="121920" cy="9144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c5d1c309b5_6_243"/>
          <p:cNvSpPr/>
          <p:nvPr/>
        </p:nvSpPr>
        <p:spPr>
          <a:xfrm>
            <a:off x="792480" y="3304032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Hard Resource Isolation: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c5d1c309b5_6_243"/>
          <p:cNvSpPr/>
          <p:nvPr/>
        </p:nvSpPr>
        <p:spPr>
          <a:xfrm>
            <a:off x="3474720" y="3304032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Memory, CPU, file size, and process count limits are enforced by the OS kernel — the sandboxed process cannot bypass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c5d1c309b5_6_243"/>
          <p:cNvSpPr/>
          <p:nvPr/>
        </p:nvSpPr>
        <p:spPr>
          <a:xfrm>
            <a:off x="487680" y="4376928"/>
            <a:ext cx="112166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c5d1c309b5_6_243"/>
          <p:cNvSpPr/>
          <p:nvPr/>
        </p:nvSpPr>
        <p:spPr>
          <a:xfrm>
            <a:off x="487680" y="4376928"/>
            <a:ext cx="121920" cy="9144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c5d1c309b5_6_243"/>
          <p:cNvSpPr/>
          <p:nvPr/>
        </p:nvSpPr>
        <p:spPr>
          <a:xfrm>
            <a:off x="792480" y="4376928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Full Archive Support: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c5d1c309b5_6_243"/>
          <p:cNvSpPr/>
          <p:nvPr/>
        </p:nvSpPr>
        <p:spPr>
          <a:xfrm>
            <a:off x="3474720" y="4376928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Encrypted and nested ZIP archives are decrypted, recursively extracted, and every file inside is sandboxed independently.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c5d1c309b5_6_243"/>
          <p:cNvSpPr/>
          <p:nvPr/>
        </p:nvSpPr>
        <p:spPr>
          <a:xfrm>
            <a:off x="487680" y="5449824"/>
            <a:ext cx="112166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c5d1c309b5_6_243"/>
          <p:cNvSpPr/>
          <p:nvPr/>
        </p:nvSpPr>
        <p:spPr>
          <a:xfrm>
            <a:off x="487680" y="5449824"/>
            <a:ext cx="121920" cy="9144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c5d1c309b5_6_243"/>
          <p:cNvSpPr/>
          <p:nvPr/>
        </p:nvSpPr>
        <p:spPr>
          <a:xfrm>
            <a:off x="792480" y="5449824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Adaptive Feedback: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c5d1c309b5_6_243"/>
          <p:cNvSpPr/>
          <p:nvPr/>
        </p:nvSpPr>
        <p:spPr>
          <a:xfrm>
            <a:off x="3474720" y="5449824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Verdicts and behavioral traces are fed back into the ML classifier and Game-Theoretic Estimator, improving accuracy over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5d1c309b5_8_37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c5d1c309b5_8_370"/>
          <p:cNvSpPr/>
          <p:nvPr/>
        </p:nvSpPr>
        <p:spPr>
          <a:xfrm>
            <a:off x="54864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Backing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c5d1c309b5_8_370"/>
          <p:cNvSpPr/>
          <p:nvPr/>
        </p:nvSpPr>
        <p:spPr>
          <a:xfrm>
            <a:off x="548640" y="1036320"/>
            <a:ext cx="1109472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D7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717D7E"/>
                </a:solidFill>
                <a:latin typeface="Calibri"/>
                <a:ea typeface="Calibri"/>
                <a:cs typeface="Calibri"/>
                <a:sym typeface="Calibri"/>
              </a:rPr>
              <a:t>Every core design decision in this module is grounded in published research and industry practice.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c5d1c309b5_8_370"/>
          <p:cNvSpPr/>
          <p:nvPr/>
        </p:nvSpPr>
        <p:spPr>
          <a:xfrm>
            <a:off x="487680" y="1682496"/>
            <a:ext cx="11216640" cy="97536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c5d1c309b5_8_370"/>
          <p:cNvSpPr/>
          <p:nvPr/>
        </p:nvSpPr>
        <p:spPr>
          <a:xfrm>
            <a:off x="670560" y="1877568"/>
            <a:ext cx="182880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c5d1c309b5_8_370"/>
          <p:cNvSpPr/>
          <p:nvPr/>
        </p:nvSpPr>
        <p:spPr>
          <a:xfrm>
            <a:off x="670560" y="18775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Dynamic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c5d1c309b5_8_370"/>
          <p:cNvSpPr/>
          <p:nvPr/>
        </p:nvSpPr>
        <p:spPr>
          <a:xfrm>
            <a:off x="2682240" y="1755648"/>
            <a:ext cx="408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Guven, M. (2024) — Dynamic Malware Analysis Using Sandbox &amp;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c5d1c309b5_8_370"/>
          <p:cNvSpPr/>
          <p:nvPr/>
        </p:nvSpPr>
        <p:spPr>
          <a:xfrm>
            <a:off x="2682240" y="2145792"/>
            <a:ext cx="40843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IJCESEN  |  doi.org/10.22399/ijcesen.460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c5d1c309b5_8_370"/>
          <p:cNvSpPr/>
          <p:nvPr/>
        </p:nvSpPr>
        <p:spPr>
          <a:xfrm>
            <a:off x="6925056" y="1804416"/>
            <a:ext cx="18288" cy="73152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c5d1c309b5_8_370"/>
          <p:cNvSpPr/>
          <p:nvPr/>
        </p:nvSpPr>
        <p:spPr>
          <a:xfrm>
            <a:off x="7095744" y="1804416"/>
            <a:ext cx="4535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Confirms behavioral analysis outperforms static methods — especially for encrypted malware.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c5d1c309b5_8_370"/>
          <p:cNvSpPr/>
          <p:nvPr/>
        </p:nvSpPr>
        <p:spPr>
          <a:xfrm>
            <a:off x="487680" y="2779776"/>
            <a:ext cx="11216640" cy="97536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c5d1c309b5_8_370"/>
          <p:cNvSpPr/>
          <p:nvPr/>
        </p:nvSpPr>
        <p:spPr>
          <a:xfrm>
            <a:off x="670560" y="2974848"/>
            <a:ext cx="182880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c5d1c309b5_8_370"/>
          <p:cNvSpPr/>
          <p:nvPr/>
        </p:nvSpPr>
        <p:spPr>
          <a:xfrm>
            <a:off x="670560" y="29748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/proc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c5d1c309b5_8_370"/>
          <p:cNvSpPr/>
          <p:nvPr/>
        </p:nvSpPr>
        <p:spPr>
          <a:xfrm>
            <a:off x="2682240" y="2852928"/>
            <a:ext cx="408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Cozzi et al. (2018) — Understanding Linux Malware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c5d1c309b5_8_370"/>
          <p:cNvSpPr/>
          <p:nvPr/>
        </p:nvSpPr>
        <p:spPr>
          <a:xfrm>
            <a:off x="2682240" y="3243072"/>
            <a:ext cx="40843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IEEE Oakland S&amp;P  |  ieeexplore.ieee.org/document/8418602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c5d1c309b5_8_370"/>
          <p:cNvSpPr/>
          <p:nvPr/>
        </p:nvSpPr>
        <p:spPr>
          <a:xfrm>
            <a:off x="6925056" y="2901696"/>
            <a:ext cx="18288" cy="73152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c5d1c309b5_8_370"/>
          <p:cNvSpPr/>
          <p:nvPr/>
        </p:nvSpPr>
        <p:spPr>
          <a:xfrm>
            <a:off x="7095744" y="2901696"/>
            <a:ext cx="4535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Establishes kernel-level /proc monitoring as the method for Linux malware behavioral analysis.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c5d1c309b5_8_370"/>
          <p:cNvSpPr/>
          <p:nvPr/>
        </p:nvSpPr>
        <p:spPr>
          <a:xfrm>
            <a:off x="487680" y="3877056"/>
            <a:ext cx="11216640" cy="97536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c5d1c309b5_8_370"/>
          <p:cNvSpPr/>
          <p:nvPr/>
        </p:nvSpPr>
        <p:spPr>
          <a:xfrm>
            <a:off x="670560" y="4072128"/>
            <a:ext cx="182880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c5d1c309b5_8_370"/>
          <p:cNvSpPr/>
          <p:nvPr/>
        </p:nvSpPr>
        <p:spPr>
          <a:xfrm>
            <a:off x="670560" y="40721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Archive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c5d1c309b5_8_370"/>
          <p:cNvSpPr/>
          <p:nvPr/>
        </p:nvSpPr>
        <p:spPr>
          <a:xfrm>
            <a:off x="2682240" y="3950208"/>
            <a:ext cx="408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HP Wolf Security — Threat Insights Reports (Q3–Q4 2022)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c5d1c309b5_8_370"/>
          <p:cNvSpPr/>
          <p:nvPr/>
        </p:nvSpPr>
        <p:spPr>
          <a:xfrm>
            <a:off x="2682240" y="4340352"/>
            <a:ext cx="40843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threatresearch.ext.hp.com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c5d1c309b5_8_370"/>
          <p:cNvSpPr/>
          <p:nvPr/>
        </p:nvSpPr>
        <p:spPr>
          <a:xfrm>
            <a:off x="6925056" y="3998976"/>
            <a:ext cx="18288" cy="73152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c5d1c309b5_8_370"/>
          <p:cNvSpPr/>
          <p:nvPr/>
        </p:nvSpPr>
        <p:spPr>
          <a:xfrm>
            <a:off x="7095744" y="3998976"/>
            <a:ext cx="4535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Archives are the #1 malware delivery mechanism (42–44% of threats) — justifying our archive handler.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c5d1c309b5_8_370"/>
          <p:cNvSpPr/>
          <p:nvPr/>
        </p:nvSpPr>
        <p:spPr>
          <a:xfrm>
            <a:off x="487680" y="4974336"/>
            <a:ext cx="11216640" cy="975360"/>
          </a:xfrm>
          <a:prstGeom prst="rect">
            <a:avLst/>
          </a:prstGeom>
          <a:solidFill>
            <a:srgbClr val="EAF4FB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c5d1c309b5_8_370"/>
          <p:cNvSpPr/>
          <p:nvPr/>
        </p:nvSpPr>
        <p:spPr>
          <a:xfrm>
            <a:off x="670560" y="5169408"/>
            <a:ext cx="182880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c5d1c309b5_8_370"/>
          <p:cNvSpPr/>
          <p:nvPr/>
        </p:nvSpPr>
        <p:spPr>
          <a:xfrm>
            <a:off x="670560" y="5169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Behavioral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c5d1c309b5_8_370"/>
          <p:cNvSpPr/>
          <p:nvPr/>
        </p:nvSpPr>
        <p:spPr>
          <a:xfrm>
            <a:off x="2682240" y="5047488"/>
            <a:ext cx="408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Cuckoo Sandbox — Industry Standard Open-Source Sandbox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c5d1c309b5_8_370"/>
          <p:cNvSpPr/>
          <p:nvPr/>
        </p:nvSpPr>
        <p:spPr>
          <a:xfrm>
            <a:off x="2682240" y="5437632"/>
            <a:ext cx="40843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cuckoo.readthedocs.io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c5d1c309b5_8_370"/>
          <p:cNvSpPr/>
          <p:nvPr/>
        </p:nvSpPr>
        <p:spPr>
          <a:xfrm>
            <a:off x="6925056" y="5096256"/>
            <a:ext cx="18288" cy="73152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c5d1c309b5_8_370"/>
          <p:cNvSpPr/>
          <p:nvPr/>
        </p:nvSpPr>
        <p:spPr>
          <a:xfrm>
            <a:off x="7095744" y="5096256"/>
            <a:ext cx="45354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Validates the weighted behavioral scoring approach used in our risk engine.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5d1c309b5_8_405"/>
          <p:cNvSpPr/>
          <p:nvPr/>
        </p:nvSpPr>
        <p:spPr>
          <a:xfrm>
            <a:off x="0" y="0"/>
            <a:ext cx="12192000" cy="121800"/>
          </a:xfrm>
          <a:prstGeom prst="rect">
            <a:avLst/>
          </a:prstGeom>
          <a:solidFill>
            <a:srgbClr val="AED6F1"/>
          </a:solidFill>
          <a:ln cap="flat" cmpd="sng" w="12700">
            <a:solidFill>
              <a:srgbClr val="AED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c5d1c309b5_8_405"/>
          <p:cNvSpPr/>
          <p:nvPr/>
        </p:nvSpPr>
        <p:spPr>
          <a:xfrm>
            <a:off x="731520" y="67056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c5d1c309b5_8_405"/>
          <p:cNvSpPr/>
          <p:nvPr/>
        </p:nvSpPr>
        <p:spPr>
          <a:xfrm>
            <a:off x="731370" y="1687141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c5d1c309b5_8_405"/>
          <p:cNvSpPr/>
          <p:nvPr/>
        </p:nvSpPr>
        <p:spPr>
          <a:xfrm>
            <a:off x="1036320" y="1463040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Sandbox Analyzer is the final and deepest layer of the detection pipeline.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c5d1c309b5_8_405"/>
          <p:cNvSpPr/>
          <p:nvPr/>
        </p:nvSpPr>
        <p:spPr>
          <a:xfrm>
            <a:off x="731520" y="2377350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c5d1c309b5_8_405"/>
          <p:cNvSpPr/>
          <p:nvPr/>
        </p:nvSpPr>
        <p:spPr>
          <a:xfrm>
            <a:off x="1036320" y="2170176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detects threats that signature scanning and AI miss — by executing files and observing behavior.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c5d1c309b5_8_405"/>
          <p:cNvSpPr/>
          <p:nvPr/>
        </p:nvSpPr>
        <p:spPr>
          <a:xfrm>
            <a:off x="731520" y="3102848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c5d1c309b5_8_405"/>
          <p:cNvSpPr/>
          <p:nvPr/>
        </p:nvSpPr>
        <p:spPr>
          <a:xfrm>
            <a:off x="1036320" y="2877312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pipeline has 8 stages: from file routing through execution, monitoring, scoring, and verdict.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c5d1c309b5_8_405"/>
          <p:cNvSpPr/>
          <p:nvPr/>
        </p:nvSpPr>
        <p:spPr>
          <a:xfrm>
            <a:off x="731470" y="3828297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c5d1c309b5_8_405"/>
          <p:cNvSpPr/>
          <p:nvPr/>
        </p:nvSpPr>
        <p:spPr>
          <a:xfrm>
            <a:off x="1036320" y="3584448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monitors watch file activity, network calls, process spawning, and privilege changes simultaneously.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c5d1c309b5_8_405"/>
          <p:cNvSpPr/>
          <p:nvPr/>
        </p:nvSpPr>
        <p:spPr>
          <a:xfrm>
            <a:off x="731420" y="4553745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c5d1c309b5_8_405"/>
          <p:cNvSpPr/>
          <p:nvPr/>
        </p:nvSpPr>
        <p:spPr>
          <a:xfrm>
            <a:off x="1036320" y="4291584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key design decisions: magic bytes, no password guessing, kernel /proc monitoring.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c5d1c309b5_8_405"/>
          <p:cNvSpPr/>
          <p:nvPr/>
        </p:nvSpPr>
        <p:spPr>
          <a:xfrm>
            <a:off x="731370" y="5224281"/>
            <a:ext cx="158400" cy="158400"/>
          </a:xfrm>
          <a:prstGeom prst="ellipse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c5d1c309b5_8_405"/>
          <p:cNvSpPr/>
          <p:nvPr/>
        </p:nvSpPr>
        <p:spPr>
          <a:xfrm>
            <a:off x="1036320" y="4998720"/>
            <a:ext cx="10607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test results confirm the pipeline works correctly across all four representative file types.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c5d1c309b5_8_405"/>
          <p:cNvSpPr/>
          <p:nvPr/>
        </p:nvSpPr>
        <p:spPr>
          <a:xfrm>
            <a:off x="0" y="6096000"/>
            <a:ext cx="12192000" cy="756000"/>
          </a:xfrm>
          <a:prstGeom prst="rect">
            <a:avLst/>
          </a:prstGeom>
          <a:solidFill>
            <a:srgbClr val="142840"/>
          </a:solidFill>
          <a:ln cap="flat" cmpd="sng" w="12700">
            <a:solidFill>
              <a:srgbClr val="14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