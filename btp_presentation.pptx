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3800" b="1">
                <a:solidFill>
                  <a:srgbClr val="FFFFFF"/>
                </a:solidFill>
                <a:latin typeface="Calibri"/>
              </a:rPr>
              <a:t>Multi-Layered Malware Detection</a:t>
            </a:r>
          </a:p>
          <a:p>
            <a:pPr algn="ctr">
              <a:spcAft>
                <a:spcPts val="200"/>
              </a:spcAft>
            </a:pPr>
            <a:r>
              <a:rPr sz="3800" b="1">
                <a:solidFill>
                  <a:srgbClr val="FFFFFF"/>
                </a:solidFill>
                <a:latin typeface="Calibri"/>
              </a:rPr>
              <a:t>and Threat Prevention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>
                <a:solidFill>
                  <a:srgbClr val="BBDEFB"/>
                </a:solidFill>
                <a:latin typeface="Calibri"/>
              </a:rPr>
              <a:t>B.Tech Project Presentation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383280"/>
            <a:ext cx="393192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Sangam Kumar Mishra   (22CS01071)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38912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BBDEFB"/>
                </a:solidFill>
                <a:latin typeface="Calibri"/>
              </a:rPr>
              <a:t>Guide:  Prof. Padmalochan Bera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1206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99AACC"/>
                </a:solidFill>
                <a:latin typeface="Calibri"/>
              </a:rPr>
              <a:t>Indian Institute of Technology Bhubaneswar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99AACC"/>
                </a:solidFill>
                <a:latin typeface="Calibri"/>
              </a:rPr>
              <a:t>School of Electrical and Computer Sciences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6035040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99AACC"/>
                </a:solidFill>
                <a:latin typeface="Calibri"/>
              </a:rP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0">
                <a:solidFill>
                  <a:srgbClr val="2D2D2D"/>
                </a:solidFill>
                <a:latin typeface="Calibri"/>
              </a:rPr>
              <a:t>Drones send images, videos, telemetry, and archives to edge networks.</a:t>
            </a:r>
          </a:p>
          <a:p>
            <a:pPr algn="l">
              <a:spcAft>
                <a:spcPts val="200"/>
              </a:spcAft>
            </a:pPr>
            <a:r>
              <a:rPr sz="2100" b="0">
                <a:solidFill>
                  <a:srgbClr val="2D2D2D"/>
                </a:solidFill>
                <a:latin typeface="Calibri"/>
              </a:rPr>
              <a:t>Attackers can hide malware inside this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058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900">
                <a:solidFill>
                  <a:srgbClr val="2D2D2D"/>
                </a:solidFill>
                <a:latin typeface="Calibri"/>
              </a:rPr>
              <a:t>• Malware hides inside encrypted archives, nested containers, or metadata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2D2D2D"/>
                </a:solidFill>
                <a:latin typeface="Calibri"/>
              </a:rPr>
              <a:t>• Running a full sandbox on every file is too slow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2D2D2D"/>
                </a:solidFill>
                <a:latin typeface="Calibri"/>
              </a:rPr>
              <a:t>• A new drone has no history — cannot be scored on past behavior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2D2D2D"/>
                </a:solidFill>
                <a:latin typeface="Calibri"/>
              </a:rPr>
              <a:t>• Attackers keep changing tactics — fixed rules become outdated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120640"/>
            <a:ext cx="11247120" cy="10972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257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B5E8A"/>
                </a:solidFill>
                <a:latin typeface="Calibri"/>
              </a:rPr>
              <a:t>Goal:  Build a multi-layer defense that catches malware at the entry point,</a:t>
            </a:r>
          </a:p>
          <a:p>
            <a:pPr algn="l">
              <a:spcAft>
                <a:spcPts val="200"/>
              </a:spcAft>
            </a:pPr>
            <a:r>
              <a:rPr sz="1900" b="1">
                <a:solidFill>
                  <a:srgbClr val="1B5E8A"/>
                </a:solidFill>
                <a:latin typeface="Calibri"/>
              </a:rPr>
              <a:t>scores risk smartly, and adapts over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BBDEFB"/>
                </a:solidFill>
                <a:latin typeface="Calibri"/>
              </a:rPr>
              <a:t>9 modules in the pipeline — 4 built in this project</a:t>
            </a:r>
          </a:p>
        </p:txBody>
      </p:sp>
      <p:pic>
        <p:nvPicPr>
          <p:cNvPr id="5" name="Picture 4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13232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A237E"/>
                </a:solidFill>
                <a:latin typeface="Calibri"/>
              </a:rPr>
              <a:t>My contributions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920240"/>
            <a:ext cx="4114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>
                <a:solidFill>
                  <a:srgbClr val="2D2D2D"/>
                </a:solidFill>
                <a:latin typeface="Calibri"/>
              </a:rPr>
              <a:t>• Game-Theoretic Threat Estimator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D2D2D"/>
                </a:solidFill>
                <a:latin typeface="Calibri"/>
              </a:rPr>
              <a:t>• Ingestion Interceptor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D2D2D"/>
                </a:solidFill>
                <a:latin typeface="Calibri"/>
              </a:rPr>
              <a:t>• Sandbox Analyzer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D2D2D"/>
                </a:solidFill>
                <a:latin typeface="Calibri"/>
              </a:rPr>
              <a:t>• Metadata Sanitizer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411480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757575"/>
                </a:solidFill>
                <a:latin typeface="Calibri"/>
              </a:rPr>
              <a:t>269 unit tests across 4 modules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757575"/>
                </a:solidFill>
                <a:latin typeface="Calibri"/>
              </a:rPr>
              <a:t>Other 5 modules have ready integration seams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Game-Theoretic Threat Estimator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BBDEFB"/>
                </a:solidFill>
                <a:latin typeface="Calibri"/>
              </a:rPr>
              <a:t>Scores risk and picks the inspection 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900">
                <a:solidFill>
                  <a:srgbClr val="2D2D2D"/>
                </a:solidFill>
                <a:latin typeface="Calibri"/>
              </a:rPr>
              <a:t>• Models inspection as a game between Defender and Attacker</a:t>
            </a:r>
          </a:p>
          <a:p>
            <a:pPr>
              <a:spcAft>
                <a:spcPts val="500"/>
              </a:spcAft>
            </a:pPr>
            <a:r>
              <a:rPr sz="1900" b="1">
                <a:solidFill>
                  <a:srgbClr val="2D2D2D"/>
                </a:solidFill>
                <a:latin typeface="Calibri"/>
              </a:rPr>
              <a:t>• Defender picks:</a:t>
            </a:r>
            <a:r>
              <a:rPr sz="1900">
                <a:solidFill>
                  <a:srgbClr val="2D2D2D"/>
                </a:solidFill>
                <a:latin typeface="Calibri"/>
              </a:rPr>
              <a:t> Signature scan / AI-ML / Sandbox</a:t>
            </a:r>
          </a:p>
          <a:p>
            <a:pPr>
              <a:spcAft>
                <a:spcPts val="500"/>
              </a:spcAft>
            </a:pPr>
            <a:r>
              <a:rPr sz="1900" b="1">
                <a:solidFill>
                  <a:srgbClr val="2D2D2D"/>
                </a:solidFill>
                <a:latin typeface="Calibri"/>
              </a:rPr>
              <a:t>• Attacker picks:</a:t>
            </a:r>
            <a:r>
              <a:rPr sz="1900">
                <a:solidFill>
                  <a:srgbClr val="2D2D2D"/>
                </a:solidFill>
                <a:latin typeface="Calibri"/>
              </a:rPr>
              <a:t> No attack / Inject / Obfuscated inject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2D2D2D"/>
                </a:solidFill>
                <a:latin typeface="Calibri"/>
              </a:rPr>
              <a:t>• System finds the Stackelberg equilibrium — best defense knowing attacker's best response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500"/>
              </a:spcAft>
            </a:pPr>
            <a:r>
              <a:rPr sz="1900" b="1">
                <a:solidFill>
                  <a:srgbClr val="2D2D2D"/>
                </a:solidFill>
                <a:latin typeface="Calibri"/>
              </a:rPr>
              <a:t>• Three features that make it practical:</a:t>
            </a:r>
            <a:r>
              <a:rPr sz="1900">
                <a:solidFill>
                  <a:srgbClr val="2D2D2D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2D2D2D"/>
                </a:solidFill>
                <a:latin typeface="Calibri"/>
              </a:rPr>
              <a:t>   ‣ Bayesian cold-start — new drones scored from zone + file type, no history needed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2D2D2D"/>
                </a:solidFill>
                <a:latin typeface="Calibri"/>
              </a:rPr>
              <a:t>   ‣ Adaptive thresholds — Low/Med/High boundaries move based on live FPR and FNR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2D2D2D"/>
                </a:solidFill>
                <a:latin typeface="Calibri"/>
              </a:rPr>
              <a:t>   ‣ Full audit trail — every factor can be inspected and replayed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Threat Estimator: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A237E"/>
                </a:solidFill>
                <a:latin typeface="Calibri"/>
              </a:rPr>
              <a:t>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2D2D2D"/>
                </a:solidFill>
                <a:latin typeface="Calibri"/>
              </a:rPr>
              <a:t>IngestResult from the Ingestion Interceptor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D2D2D"/>
                </a:solidFill>
                <a:latin typeface="Calibri"/>
              </a:rPr>
              <a:t>(drone ID, zone, file types, insecure flags)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A237E"/>
                </a:solidFill>
                <a:latin typeface="Calibri"/>
              </a:rPr>
              <a:t>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889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>
                <a:solidFill>
                  <a:srgbClr val="2D2D2D"/>
                </a:solidFill>
                <a:latin typeface="Calibri"/>
              </a:rPr>
              <a:t>• Threat Score T_S  (0 to 1)</a:t>
            </a:r>
          </a:p>
          <a:p>
            <a:pPr>
              <a:spcAft>
                <a:spcPts val="500"/>
              </a:spcAft>
            </a:pPr>
            <a:r>
              <a:rPr sz="1700" b="1">
                <a:solidFill>
                  <a:srgbClr val="2D2D2D"/>
                </a:solidFill>
                <a:latin typeface="Calibri"/>
              </a:rPr>
              <a:t>• Inspection level:</a:t>
            </a:r>
            <a:r>
              <a:rPr sz="1700">
                <a:solidFill>
                  <a:srgbClr val="2D2D2D"/>
                </a:solidFill>
                <a:latin typeface="Calibri"/>
              </a:rPr>
              <a:t> Low / Medium / High</a:t>
            </a:r>
          </a:p>
          <a:p>
            <a:pPr>
              <a:spcAft>
                <a:spcPts val="500"/>
              </a:spcAft>
            </a:pPr>
            <a:r>
              <a:rPr sz="1700" b="1">
                <a:solidFill>
                  <a:srgbClr val="2D2D2D"/>
                </a:solidFill>
                <a:latin typeface="Calibri"/>
              </a:rPr>
              <a:t>• Ordered route:</a:t>
            </a:r>
            <a:r>
              <a:rPr sz="1700">
                <a:solidFill>
                  <a:srgbClr val="2D2D2D"/>
                </a:solidFill>
                <a:latin typeface="Calibri"/>
              </a:rPr>
              <a:t> [signature], [signature, ml], or all three</a:t>
            </a:r>
          </a:p>
        </p:txBody>
      </p:sp>
      <p:pic>
        <p:nvPicPr>
          <p:cNvPr id="8" name="Picture 7" descr="gte_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943600" cy="27432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4389120"/>
            <a:ext cx="11247120" cy="201168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480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A237E"/>
                </a:solidFill>
                <a:latin typeface="Calibri"/>
              </a:rPr>
              <a:t>Cold-start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8920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2D2D2D"/>
                </a:solidFill>
                <a:latin typeface="Calibri"/>
              </a:rPr>
              <a:t>A ZIP file arrives from a risky zone.  Prior P(benign) = 0.85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D2D2D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D2D2D"/>
                </a:solidFill>
                <a:latin typeface="Calibri"/>
              </a:rPr>
              <a:t>R  =  (0.85 x 0.12 x 0.08) / (0.00816 + 0.15 x 0.35 x 0.45)  =  0.257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D2D2D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2D2D2D"/>
                </a:solidFill>
                <a:latin typeface="Calibri"/>
              </a:rPr>
              <a:t>This low reputation (25.7%) pushes the submission toward deeper inspection.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Ingestion Interceptor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BBDEFB"/>
                </a:solidFill>
                <a:latin typeface="Calibri"/>
              </a:rPr>
              <a:t>The secure entry gate for drone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>
                <a:solidFill>
                  <a:srgbClr val="2D2D2D"/>
                </a:solidFill>
                <a:latin typeface="Calibri"/>
              </a:rPr>
              <a:t>• First line of defense — catches bad data early</a:t>
            </a:r>
          </a:p>
          <a:p>
            <a:pPr>
              <a:spcAft>
                <a:spcPts val="500"/>
              </a:spcAft>
            </a:pPr>
            <a:r>
              <a:rPr sz="1700" b="1">
                <a:solidFill>
                  <a:srgbClr val="2D2D2D"/>
                </a:solidFill>
                <a:latin typeface="Calibri"/>
              </a:rPr>
              <a:t>• 8-stage pipeline:</a:t>
            </a:r>
            <a:r>
              <a:rPr sz="1700">
                <a:solidFill>
                  <a:srgbClr val="2D2D2D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2D2D2D"/>
                </a:solidFill>
                <a:latin typeface="Calibri"/>
              </a:rPr>
              <a:t>   ‣ Packet reception (UDP + HMAC)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2D2D2D"/>
                </a:solidFill>
                <a:latin typeface="Calibri"/>
              </a:rPr>
              <a:t>   ‣ Validation + Authentication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2D2D2D"/>
                </a:solidFill>
                <a:latin typeface="Calibri"/>
              </a:rPr>
              <a:t>   ‣ Metadata extraction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2D2D2D"/>
                </a:solidFill>
                <a:latin typeface="Calibri"/>
              </a:rPr>
              <a:t>   ‣ Payload analysis (encrypted, nested, large, suspicious MIME)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2D2D2D"/>
                </a:solidFill>
                <a:latin typeface="Calibri"/>
              </a:rPr>
              <a:t>   ‣ Checksum verification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2D2D2D"/>
                </a:solidFill>
                <a:latin typeface="Calibri"/>
              </a:rPr>
              <a:t>   ‣ Artifact creation + output assembly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2D2D2D"/>
                </a:solidFill>
                <a:latin typeface="Calibri"/>
              </a:rPr>
              <a:t>• Supports operator uplink commands</a:t>
            </a:r>
          </a:p>
        </p:txBody>
      </p:sp>
      <p:pic>
        <p:nvPicPr>
          <p:cNvPr id="6" name="Picture 5" descr="ii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97280"/>
            <a:ext cx="4431258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Ingestion Interceptor: Input and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A237E"/>
                </a:solidFill>
                <a:latin typeface="Calibri"/>
              </a:rPr>
              <a:t>Input:  Raw drone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>
                <a:solidFill>
                  <a:srgbClr val="2D2D2D"/>
                </a:solidFill>
                <a:latin typeface="Calibri"/>
              </a:rPr>
              <a:t>• drone_id, timestamp, mission_zone, geolocation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2D2D2D"/>
                </a:solidFill>
                <a:latin typeface="Calibri"/>
              </a:rPr>
              <a:t>• List of payloads (filename, type, MIME, size, encryption)</a:t>
            </a:r>
          </a:p>
          <a:p>
            <a:pPr>
              <a:spcAft>
                <a:spcPts val="500"/>
              </a:spcAft>
            </a:pPr>
            <a:r>
              <a:rPr sz="1700" b="1">
                <a:solidFill>
                  <a:srgbClr val="2D2D2D"/>
                </a:solidFill>
                <a:latin typeface="Calibri"/>
              </a:rPr>
              <a:t>• Optional:</a:t>
            </a:r>
            <a:r>
              <a:rPr sz="1700">
                <a:solidFill>
                  <a:srgbClr val="2D2D2D"/>
                </a:solidFill>
                <a:latin typeface="Calibri"/>
              </a:rPr>
              <a:t> cryptographic signature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A237E"/>
                </a:solidFill>
                <a:latin typeface="Calibri"/>
              </a:rPr>
              <a:t>Output:  IngestResult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>
                <a:solidFill>
                  <a:srgbClr val="2D2D2D"/>
                </a:solidFill>
                <a:latin typeface="Calibri"/>
              </a:rPr>
              <a:t>• ingest_metadata:</a:t>
            </a:r>
            <a:r>
              <a:rPr sz="1700">
                <a:solidFill>
                  <a:srgbClr val="2D2D2D"/>
                </a:solidFill>
                <a:latin typeface="Calibri"/>
              </a:rPr>
              <a:t> drone ID, zone, flags, auth result</a:t>
            </a:r>
          </a:p>
          <a:p>
            <a:pPr>
              <a:spcAft>
                <a:spcPts val="500"/>
              </a:spcAft>
            </a:pPr>
            <a:r>
              <a:rPr sz="1700" b="1">
                <a:solidFill>
                  <a:srgbClr val="2D2D2D"/>
                </a:solidFill>
                <a:latin typeface="Calibri"/>
              </a:rPr>
              <a:t>• artifact_records:</a:t>
            </a:r>
            <a:r>
              <a:rPr sz="1700">
                <a:solidFill>
                  <a:srgbClr val="2D2D2D"/>
                </a:solidFill>
                <a:latin typeface="Calibri"/>
              </a:rPr>
              <a:t> one per file with ID, type, size, checksum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2D2D2D"/>
                </a:solidFill>
                <a:latin typeface="Calibri"/>
              </a:rPr>
              <a:t>• errors / warnings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A237E"/>
                </a:solidFill>
                <a:latin typeface="Calibri"/>
              </a:rPr>
              <a:t>Example: Insecure flags extracted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97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>
                <a:solidFill>
                  <a:srgbClr val="2D2D2D"/>
                </a:solidFill>
                <a:latin typeface="Calibri"/>
              </a:rPr>
              <a:t>• Sample A (normal video + image):</a:t>
            </a:r>
            <a:r>
              <a:rPr sz="1700">
                <a:solidFill>
                  <a:srgbClr val="2D2D2D"/>
                </a:solidFill>
                <a:latin typeface="Calibri"/>
              </a:rPr>
              <a:t>  no flags</a:t>
            </a:r>
          </a:p>
          <a:p>
            <a:pPr>
              <a:spcAft>
                <a:spcPts val="500"/>
              </a:spcAft>
            </a:pPr>
            <a:r>
              <a:rPr sz="1700" b="1">
                <a:solidFill>
                  <a:srgbClr val="2D2D2D"/>
                </a:solidFill>
                <a:latin typeface="Calibri"/>
              </a:rPr>
              <a:t>• Sample B (encrypted nested ZIP):</a:t>
            </a:r>
            <a:r>
              <a:rPr sz="1700">
                <a:solidFill>
                  <a:srgbClr val="2D2D2D"/>
                </a:solidFill>
                <a:latin typeface="Calibri"/>
              </a:rPr>
              <a:t>  encrypted_payload, nested_archive</a:t>
            </a:r>
          </a:p>
          <a:p>
            <a:pPr>
              <a:spcAft>
                <a:spcPts val="500"/>
              </a:spcAft>
            </a:pPr>
            <a:r>
              <a:rPr sz="1700" b="1">
                <a:solidFill>
                  <a:srgbClr val="2D2D2D"/>
                </a:solidFill>
                <a:latin typeface="Calibri"/>
              </a:rPr>
              <a:t>• Sample C (telemetry only):</a:t>
            </a:r>
            <a:r>
              <a:rPr sz="1700">
                <a:solidFill>
                  <a:srgbClr val="2D2D2D"/>
                </a:solidFill>
                <a:latin typeface="Calibri"/>
              </a:rPr>
              <a:t>  no flags</a:t>
            </a:r>
          </a:p>
          <a:p>
            <a:pPr>
              <a:spcAft>
                <a:spcPts val="500"/>
              </a:spcAft>
            </a:pPr>
            <a:r>
              <a:rPr sz="1700" b="1">
                <a:solidFill>
                  <a:srgbClr val="2D2D2D"/>
                </a:solidFill>
                <a:latin typeface="Calibri"/>
              </a:rPr>
              <a:t>• Sample D (large survey video):</a:t>
            </a:r>
            <a:r>
              <a:rPr sz="1700">
                <a:solidFill>
                  <a:srgbClr val="2D2D2D"/>
                </a:solidFill>
                <a:latin typeface="Calibri"/>
              </a:rPr>
              <a:t>  large_binary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Sandbox Analyzer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BBDEFB"/>
                </a:solidFill>
                <a:latin typeface="Calibri"/>
              </a:rPr>
              <a:t>Layer 3 — Dynamic behavioral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00" cy="8229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B5E8A"/>
                </a:solidFill>
                <a:latin typeface="Calibri"/>
              </a:rPr>
              <a:t>Don't ask what a file looks like.</a:t>
            </a:r>
          </a:p>
          <a:p>
            <a:pPr algn="l">
              <a:spcAft>
                <a:spcPts val="200"/>
              </a:spcAft>
            </a:pPr>
            <a:r>
              <a:rPr sz="2000" b="1">
                <a:solidFill>
                  <a:srgbClr val="1B5E8A"/>
                </a:solidFill>
                <a:latin typeface="Calibri"/>
              </a:rPr>
              <a:t>Ask what it actually does when it runs.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>
                <a:solidFill>
                  <a:srgbClr val="2D2D2D"/>
                </a:solidFill>
                <a:latin typeface="Calibri"/>
              </a:rPr>
              <a:t>• Only runs when Threat Score is HIGH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D2D2D"/>
                </a:solidFill>
                <a:latin typeface="Calibri"/>
              </a:rPr>
              <a:t>• Runs files in a kernel-limited Linux sandbox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D2D2D"/>
                </a:solidFill>
                <a:latin typeface="Calibri"/>
              </a:rPr>
              <a:t>   ‣ 128 MB RAM, 20s CPU, 30s wall-clock, 50 processes max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D2D2D"/>
                </a:solidFill>
                <a:latin typeface="Calibri"/>
              </a:rPr>
              <a:t>• Watches behavior through 4 /proc monitors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D2D2D"/>
                </a:solidFill>
                <a:latin typeface="Calibri"/>
              </a:rPr>
              <a:t>• Scores actions by adding up risk weights</a:t>
            </a:r>
          </a:p>
          <a:p>
            <a:pPr>
              <a:spcAft>
                <a:spcPts val="500"/>
              </a:spcAft>
            </a:pPr>
            <a:r>
              <a:rPr sz="1800" b="1">
                <a:solidFill>
                  <a:srgbClr val="2D2D2D"/>
                </a:solidFill>
                <a:latin typeface="Calibri"/>
              </a:rPr>
              <a:t>• Gives a verdict:</a:t>
            </a:r>
            <a:r>
              <a:rPr sz="1800">
                <a:solidFill>
                  <a:srgbClr val="2D2D2D"/>
                </a:solidFill>
                <a:latin typeface="Calibri"/>
              </a:rPr>
              <a:t> Clean / Suspicious / Malicious</a:t>
            </a:r>
          </a:p>
        </p:txBody>
      </p:sp>
      <p:pic>
        <p:nvPicPr>
          <p:cNvPr id="8" name="Picture 7" descr="sb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97280"/>
            <a:ext cx="3404817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Sandbox: Monitors and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A237E"/>
                </a:solidFill>
                <a:latin typeface="Calibri"/>
              </a:rPr>
              <a:t>4 monitors poll every 200 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>
                <a:solidFill>
                  <a:srgbClr val="2D2D2D"/>
                </a:solidFill>
                <a:latin typeface="Calibri"/>
              </a:rPr>
              <a:t>• File System:</a:t>
            </a:r>
            <a:r>
              <a:rPr sz="1700">
                <a:solidFill>
                  <a:srgbClr val="2D2D2D"/>
                </a:solidFill>
                <a:latin typeface="Calibri"/>
              </a:rPr>
              <a:t> files the process writes to</a:t>
            </a:r>
          </a:p>
          <a:p>
            <a:pPr>
              <a:spcAft>
                <a:spcPts val="500"/>
              </a:spcAft>
            </a:pPr>
            <a:r>
              <a:rPr sz="1700" b="1">
                <a:solidFill>
                  <a:srgbClr val="2D2D2D"/>
                </a:solidFill>
                <a:latin typeface="Calibri"/>
              </a:rPr>
              <a:t>• Network:</a:t>
            </a:r>
            <a:r>
              <a:rPr sz="1700">
                <a:solidFill>
                  <a:srgbClr val="2D2D2D"/>
                </a:solidFill>
                <a:latin typeface="Calibri"/>
              </a:rPr>
              <a:t> outbound connections (even failed ones)</a:t>
            </a:r>
          </a:p>
          <a:p>
            <a:pPr>
              <a:spcAft>
                <a:spcPts val="500"/>
              </a:spcAft>
            </a:pPr>
            <a:r>
              <a:rPr sz="1700" b="1">
                <a:solidFill>
                  <a:srgbClr val="2D2D2D"/>
                </a:solidFill>
                <a:latin typeface="Calibri"/>
              </a:rPr>
              <a:t>• Process:</a:t>
            </a:r>
            <a:r>
              <a:rPr sz="1700">
                <a:solidFill>
                  <a:srgbClr val="2D2D2D"/>
                </a:solidFill>
                <a:latin typeface="Calibri"/>
              </a:rPr>
              <a:t> child processes (bash, curl = suspicious)</a:t>
            </a:r>
          </a:p>
          <a:p>
            <a:pPr>
              <a:spcAft>
                <a:spcPts val="500"/>
              </a:spcAft>
            </a:pPr>
            <a:r>
              <a:rPr sz="1700" b="1">
                <a:solidFill>
                  <a:srgbClr val="2D2D2D"/>
                </a:solidFill>
                <a:latin typeface="Calibri"/>
              </a:rPr>
              <a:t>• Privilege:</a:t>
            </a:r>
            <a:r>
              <a:rPr sz="1700">
                <a:solidFill>
                  <a:srgbClr val="2D2D2D"/>
                </a:solidFill>
                <a:latin typeface="Calibri"/>
              </a:rPr>
              <a:t> capability changes, memory spikes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A237E"/>
                </a:solidFill>
                <a:latin typeface="Calibri"/>
              </a:rPr>
              <a:t>Demo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>
                <a:solidFill>
                  <a:srgbClr val="2D2D2D"/>
                </a:solidFill>
                <a:latin typeface="Calibri"/>
              </a:rPr>
              <a:t>• Safe CSV:</a:t>
            </a:r>
            <a:r>
              <a:rPr sz="1700">
                <a:solidFill>
                  <a:srgbClr val="2D2D2D"/>
                </a:solidFill>
                <a:latin typeface="Calibri"/>
              </a:rPr>
              <a:t>  score 0  →  CLEAN</a:t>
            </a:r>
          </a:p>
          <a:p>
            <a:pPr>
              <a:spcAft>
                <a:spcPts val="500"/>
              </a:spcAft>
            </a:pPr>
            <a:r>
              <a:rPr sz="1700" b="1">
                <a:solidFill>
                  <a:srgbClr val="2D2D2D"/>
                </a:solidFill>
                <a:latin typeface="Calibri"/>
              </a:rPr>
              <a:t>• Disguised .jpg script:</a:t>
            </a:r>
            <a:r>
              <a:rPr sz="1700">
                <a:solidFill>
                  <a:srgbClr val="2D2D2D"/>
                </a:solidFill>
                <a:latin typeface="Calibri"/>
              </a:rPr>
              <a:t>  caught by magic bytes</a:t>
            </a:r>
          </a:p>
          <a:p>
            <a:pPr>
              <a:spcAft>
                <a:spcPts val="500"/>
              </a:spcAft>
            </a:pPr>
            <a:r>
              <a:rPr sz="1700" b="1">
                <a:solidFill>
                  <a:srgbClr val="2D2D2D"/>
                </a:solidFill>
                <a:latin typeface="Calibri"/>
              </a:rPr>
              <a:t>• Archive with recon.jpg.sh:</a:t>
            </a:r>
            <a:r>
              <a:rPr sz="1700">
                <a:solidFill>
                  <a:srgbClr val="2D2D2D"/>
                </a:solidFill>
                <a:latin typeface="Calibri"/>
              </a:rPr>
              <a:t>  score 85  →  MALICIOUS</a:t>
            </a:r>
          </a:p>
          <a:p>
            <a:pPr>
              <a:spcAft>
                <a:spcPts val="500"/>
              </a:spcAft>
            </a:pPr>
            <a:r>
              <a:rPr sz="1700" b="1">
                <a:solidFill>
                  <a:srgbClr val="2D2D2D"/>
                </a:solidFill>
                <a:latin typeface="Calibri"/>
              </a:rPr>
              <a:t>• Python C2 callback:</a:t>
            </a:r>
            <a:r>
              <a:rPr sz="1700">
                <a:solidFill>
                  <a:srgbClr val="2D2D2D"/>
                </a:solidFill>
                <a:latin typeface="Calibri"/>
              </a:rPr>
              <a:t>  score 75  →  MALICIOUS</a:t>
            </a:r>
          </a:p>
          <a:p>
            <a:pPr>
              <a:spcAft>
                <a:spcPts val="500"/>
              </a:spcAft>
            </a:pPr>
            <a:r>
              <a:rPr sz="1700" b="1">
                <a:solidFill>
                  <a:srgbClr val="2D2D2D"/>
                </a:solidFill>
                <a:latin typeface="Calibri"/>
              </a:rPr>
              <a:t>• Windows .exe:</a:t>
            </a:r>
            <a:r>
              <a:rPr sz="1700">
                <a:solidFill>
                  <a:srgbClr val="2D2D2D"/>
                </a:solidFill>
                <a:latin typeface="Calibri"/>
              </a:rPr>
              <a:t>  →  SUSPICIOUS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A237E"/>
                </a:solidFill>
                <a:latin typeface="Calibri"/>
              </a:rPr>
              <a:t>Key design decisions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634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>
                <a:solidFill>
                  <a:srgbClr val="2D2D2D"/>
                </a:solidFill>
                <a:latin typeface="Calibri"/>
              </a:rPr>
              <a:t>• Magic bytes over extension:</a:t>
            </a:r>
            <a:r>
              <a:rPr sz="1700">
                <a:solidFill>
                  <a:srgbClr val="2D2D2D"/>
                </a:solidFill>
                <a:latin typeface="Calibri"/>
              </a:rPr>
              <a:t> photo.jpg starting with #! is treated as a script</a:t>
            </a:r>
          </a:p>
          <a:p>
            <a:pPr>
              <a:spcAft>
                <a:spcPts val="500"/>
              </a:spcAft>
            </a:pPr>
            <a:r>
              <a:rPr sz="1700" b="1">
                <a:solidFill>
                  <a:srgbClr val="2D2D2D"/>
                </a:solidFill>
                <a:latin typeface="Calibri"/>
              </a:rPr>
              <a:t>• Encrypted archive = suspicious:</a:t>
            </a:r>
            <a:r>
              <a:rPr sz="1700">
                <a:solidFill>
                  <a:srgbClr val="2D2D2D"/>
                </a:solidFill>
                <a:latin typeface="Calibri"/>
              </a:rPr>
              <a:t> no password cracking, just flag it</a:t>
            </a:r>
          </a:p>
          <a:p>
            <a:pPr>
              <a:spcAft>
                <a:spcPts val="500"/>
              </a:spcAft>
            </a:pPr>
            <a:r>
              <a:rPr sz="1700" b="1">
                <a:solidFill>
                  <a:srgbClr val="2D2D2D"/>
                </a:solidFill>
                <a:latin typeface="Calibri"/>
              </a:rPr>
              <a:t>• Kernel limits (setrlimit):</a:t>
            </a:r>
            <a:r>
              <a:rPr sz="1700">
                <a:solidFill>
                  <a:srgbClr val="2D2D2D"/>
                </a:solidFill>
                <a:latin typeface="Calibri"/>
              </a:rPr>
              <a:t> the process cannot bypass OS-level caps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Metadata Sanitizer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BBDEFB"/>
                </a:solidFill>
                <a:latin typeface="Calibri"/>
              </a:rPr>
              <a:t>Strips dangerous embedded metadata from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2D2D2D"/>
                </a:solidFill>
                <a:latin typeface="Calibri"/>
              </a:rPr>
              <a:t>• Images (EXIF):</a:t>
            </a:r>
            <a:r>
              <a:rPr sz="1800">
                <a:solidFill>
                  <a:srgbClr val="2D2D2D"/>
                </a:solidFill>
                <a:latin typeface="Calibri"/>
              </a:rPr>
              <a:t> GPS, UserComment, camera serial</a:t>
            </a:r>
          </a:p>
          <a:p>
            <a:pPr>
              <a:spcAft>
                <a:spcPts val="500"/>
              </a:spcAft>
            </a:pPr>
            <a:r>
              <a:rPr sz="1800" b="1">
                <a:solidFill>
                  <a:srgbClr val="2D2D2D"/>
                </a:solidFill>
                <a:latin typeface="Calibri"/>
              </a:rPr>
              <a:t>• PDFs:</a:t>
            </a:r>
            <a:r>
              <a:rPr sz="1800">
                <a:solidFill>
                  <a:srgbClr val="2D2D2D"/>
                </a:solidFill>
                <a:latin typeface="Calibri"/>
              </a:rPr>
              <a:t> JavaScript, auto-open actions, embedded files</a:t>
            </a:r>
          </a:p>
          <a:p>
            <a:pPr>
              <a:spcAft>
                <a:spcPts val="500"/>
              </a:spcAft>
            </a:pPr>
            <a:r>
              <a:rPr sz="1800" b="1">
                <a:solidFill>
                  <a:srgbClr val="2D2D2D"/>
                </a:solidFill>
                <a:latin typeface="Calibri"/>
              </a:rPr>
              <a:t>• Videos:</a:t>
            </a:r>
            <a:r>
              <a:rPr sz="1800">
                <a:solidFill>
                  <a:srgbClr val="2D2D2D"/>
                </a:solidFill>
                <a:latin typeface="Calibri"/>
              </a:rPr>
              <a:t> tracking atoms, device identifiers</a:t>
            </a:r>
          </a:p>
          <a:p>
            <a:pPr>
              <a:spcAft>
                <a:spcPts val="500"/>
              </a:spcAft>
            </a:pPr>
            <a:r>
              <a:rPr sz="1800" b="1">
                <a:solidFill>
                  <a:srgbClr val="2D2D2D"/>
                </a:solidFill>
                <a:latin typeface="Calibri"/>
              </a:rPr>
              <a:t>• Archives:</a:t>
            </a:r>
            <a:r>
              <a:rPr sz="1800">
                <a:solidFill>
                  <a:srgbClr val="2D2D2D"/>
                </a:solidFill>
                <a:latin typeface="Calibri"/>
              </a:rPr>
              <a:t> hidden members, comments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A237E"/>
                </a:solidFill>
                <a:latin typeface="Calibri"/>
              </a:rPr>
              <a:t>Three modes, picked from T_S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>
                <a:solidFill>
                  <a:srgbClr val="2D2D2D"/>
                </a:solidFill>
                <a:latin typeface="Calibri"/>
              </a:rPr>
              <a:t>• T_S &gt;= 0.7  →  Strip (remove all)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D2D2D"/>
                </a:solidFill>
                <a:latin typeface="Calibri"/>
              </a:rPr>
              <a:t>• T_S &lt;= 0.3  →  Audit-only (just log)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D2D2D"/>
                </a:solidFill>
                <a:latin typeface="Calibri"/>
              </a:rPr>
              <a:t>• Otherwise   →  Selective (remove dangerous fields only)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47120" cy="137160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20624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>
                <a:solidFill>
                  <a:srgbClr val="2D2D2D"/>
                </a:solidFill>
                <a:latin typeface="Calibri"/>
              </a:rPr>
              <a:t>• Original file always preserved for forensic review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2D2D2D"/>
                </a:solidFill>
                <a:latin typeface="Calibri"/>
              </a:rPr>
              <a:t>• Every change recorded with before/after SHA-256 hashes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2D2D2D"/>
                </a:solidFill>
                <a:latin typeface="Calibri"/>
              </a:rPr>
              <a:t>• Post-sanitization check confirms the file is still valid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Integration and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A237E"/>
                </a:solidFill>
                <a:latin typeface="Calibri"/>
              </a:rPr>
              <a:t>How the 4 modules 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>
                <a:solidFill>
                  <a:srgbClr val="2D2D2D"/>
                </a:solidFill>
                <a:latin typeface="Calibri"/>
              </a:rPr>
              <a:t>• Ingestion Interceptor  →  IngestResult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D2D2D"/>
                </a:solidFill>
                <a:latin typeface="Calibri"/>
              </a:rPr>
              <a:t>• Threat Estimator  →  T_S + inspection level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D2D2D"/>
                </a:solidFill>
                <a:latin typeface="Calibri"/>
              </a:rPr>
              <a:t>• If HIGH  →  Sandbox runs the file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D2D2D"/>
                </a:solidFill>
                <a:latin typeface="Calibri"/>
              </a:rPr>
              <a:t>• Metadata Sanitizer cleans files (mode from T_S)</a:t>
            </a:r>
          </a:p>
          <a:p>
            <a:pPr>
              <a:spcAft>
                <a:spcPts val="500"/>
              </a:spcAft>
            </a:pPr>
            <a:r>
              <a:rPr sz="1800">
                <a:solidFill>
                  <a:srgbClr val="2D2D2D"/>
                </a:solidFill>
                <a:latin typeface="Calibri"/>
              </a:rPr>
              <a:t>• Verdict feeds back  →  reputation + thresholds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A237E"/>
                </a:solidFill>
                <a:latin typeface="Calibri"/>
              </a:rPr>
              <a:t>Test 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800" b="1">
                <a:solidFill>
                  <a:srgbClr val="2D2D2D"/>
                </a:solidFill>
                <a:latin typeface="Calibri"/>
              </a:rPr>
              <a:t>• Ingestion Interceptor:</a:t>
            </a:r>
            <a:r>
              <a:rPr sz="1800">
                <a:solidFill>
                  <a:srgbClr val="2D2D2D"/>
                </a:solidFill>
                <a:latin typeface="Calibri"/>
              </a:rPr>
              <a:t> 75 tests</a:t>
            </a:r>
          </a:p>
          <a:p>
            <a:pPr>
              <a:spcAft>
                <a:spcPts val="500"/>
              </a:spcAft>
            </a:pPr>
            <a:r>
              <a:rPr sz="1800" b="1">
                <a:solidFill>
                  <a:srgbClr val="2D2D2D"/>
                </a:solidFill>
                <a:latin typeface="Calibri"/>
              </a:rPr>
              <a:t>• Metadata Sanitizer:</a:t>
            </a:r>
            <a:r>
              <a:rPr sz="1800">
                <a:solidFill>
                  <a:srgbClr val="2D2D2D"/>
                </a:solidFill>
                <a:latin typeface="Calibri"/>
              </a:rPr>
              <a:t> 96 tests</a:t>
            </a:r>
          </a:p>
          <a:p>
            <a:pPr>
              <a:spcAft>
                <a:spcPts val="500"/>
              </a:spcAft>
            </a:pPr>
            <a:r>
              <a:rPr sz="1800" b="1">
                <a:solidFill>
                  <a:srgbClr val="2D2D2D"/>
                </a:solidFill>
                <a:latin typeface="Calibri"/>
              </a:rPr>
              <a:t>• Threat Estimator:</a:t>
            </a:r>
            <a:r>
              <a:rPr sz="1800">
                <a:solidFill>
                  <a:srgbClr val="2D2D2D"/>
                </a:solidFill>
                <a:latin typeface="Calibri"/>
              </a:rPr>
              <a:t> 48 tests</a:t>
            </a:r>
          </a:p>
          <a:p>
            <a:pPr>
              <a:spcAft>
                <a:spcPts val="500"/>
              </a:spcAft>
            </a:pPr>
            <a:r>
              <a:rPr sz="1800" b="1">
                <a:solidFill>
                  <a:srgbClr val="2D2D2D"/>
                </a:solidFill>
                <a:latin typeface="Calibri"/>
              </a:rPr>
              <a:t>• Sandbox Analyzer:</a:t>
            </a:r>
            <a:r>
              <a:rPr sz="1800">
                <a:solidFill>
                  <a:srgbClr val="2D2D2D"/>
                </a:solidFill>
                <a:latin typeface="Calibri"/>
              </a:rPr>
              <a:t> 50 tests</a:t>
            </a:r>
          </a:p>
          <a:p>
            <a:pPr>
              <a:spcAft>
                <a:spcPts val="500"/>
              </a:spcAft>
            </a:pPr>
            <a:r>
              <a:rPr sz="1800" b="1">
                <a:solidFill>
                  <a:srgbClr val="2D2D2D"/>
                </a:solidFill>
                <a:latin typeface="Calibri"/>
              </a:rPr>
              <a:t>• Total:</a:t>
            </a:r>
            <a:r>
              <a:rPr sz="1800">
                <a:solidFill>
                  <a:srgbClr val="2D2D2D"/>
                </a:solidFill>
                <a:latin typeface="Calibri"/>
              </a:rPr>
              <a:t> 269 tests, all passing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A237E"/>
                </a:solidFill>
                <a:latin typeface="Calibri"/>
              </a:rPr>
              <a:t>Key numbers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634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>
                <a:solidFill>
                  <a:srgbClr val="2D2D2D"/>
                </a:solidFill>
                <a:latin typeface="Calibri"/>
              </a:rPr>
              <a:t>• Bayesian cold-start:</a:t>
            </a:r>
            <a:r>
              <a:rPr sz="1700">
                <a:solidFill>
                  <a:srgbClr val="2D2D2D"/>
                </a:solidFill>
                <a:latin typeface="Calibri"/>
              </a:rPr>
              <a:t> R = 0.257 for ZIP from risky zone (matches reference)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2D2D2D"/>
                </a:solidFill>
                <a:latin typeface="Calibri"/>
              </a:rPr>
              <a:t>• Adaptive thresholds drift correctly under FPR/FNR changes, then recover</a:t>
            </a:r>
          </a:p>
          <a:p>
            <a:pPr>
              <a:spcAft>
                <a:spcPts val="500"/>
              </a:spcAft>
            </a:pPr>
            <a:r>
              <a:rPr sz="1700" b="1">
                <a:solidFill>
                  <a:srgbClr val="2D2D2D"/>
                </a:solidFill>
                <a:latin typeface="Calibri"/>
              </a:rPr>
              <a:t>• Sandbox:</a:t>
            </a:r>
            <a:r>
              <a:rPr sz="1700">
                <a:solidFill>
                  <a:srgbClr val="2D2D2D"/>
                </a:solidFill>
                <a:latin typeface="Calibri"/>
              </a:rPr>
              <a:t> C2-callback script = 75 (MALICIOUS), safe CSV = 0 (CLEAN)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2D2D2D"/>
                </a:solidFill>
                <a:latin typeface="Calibri"/>
              </a:rPr>
              <a:t>• Full end-to-end flow across 4 modules runs in under 2 seconds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900">
                <a:solidFill>
                  <a:srgbClr val="2D2D2D"/>
                </a:solidFill>
                <a:latin typeface="Calibri"/>
              </a:rPr>
              <a:t>• Zone + file type is enough for cold-start scoring — no history needed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2D2D2D"/>
                </a:solidFill>
                <a:latin typeface="Calibri"/>
              </a:rPr>
              <a:t>• Adaptive thresholds stay stable under noisy feedback (small learning rate + safe clamps)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2D2D2D"/>
                </a:solidFill>
                <a:latin typeface="Calibri"/>
              </a:rPr>
              <a:t>• Reading /proc gives a tamper-proof view — the process cannot fake what the kernel reports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2D2D2D"/>
                </a:solidFill>
                <a:latin typeface="Calibri"/>
              </a:rPr>
              <a:t>• Encrypted archives should be flagged, not cracked — saves time, gives a cleaner threat model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2D2D2D"/>
                </a:solidFill>
                <a:latin typeface="Calibri"/>
              </a:rPr>
              <a:t>• Traceable outputs (Bayesian traces, payoff matrices, event lists) make every decision auditable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Summary and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A237E"/>
                </a:solidFill>
                <a:latin typeface="Calibri"/>
              </a:rPr>
              <a:t>What was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1">
                <a:solidFill>
                  <a:srgbClr val="2D2D2D"/>
                </a:solidFill>
                <a:latin typeface="Calibri"/>
              </a:rPr>
              <a:t>• Threat Estimator:</a:t>
            </a:r>
            <a:r>
              <a:rPr sz="1700">
                <a:solidFill>
                  <a:srgbClr val="2D2D2D"/>
                </a:solidFill>
                <a:latin typeface="Calibri"/>
              </a:rPr>
              <a:t> Stackelberg game + Bayesian prior + adaptive thresholds</a:t>
            </a:r>
          </a:p>
          <a:p>
            <a:pPr>
              <a:spcAft>
                <a:spcPts val="500"/>
              </a:spcAft>
            </a:pPr>
            <a:r>
              <a:rPr sz="1700" b="1">
                <a:solidFill>
                  <a:srgbClr val="2D2D2D"/>
                </a:solidFill>
                <a:latin typeface="Calibri"/>
              </a:rPr>
              <a:t>• Ingestion Interceptor:</a:t>
            </a:r>
            <a:r>
              <a:rPr sz="1700">
                <a:solidFill>
                  <a:srgbClr val="2D2D2D"/>
                </a:solidFill>
                <a:latin typeface="Calibri"/>
              </a:rPr>
              <a:t> 8-stage pipeline with UDP + HMAC + uplink</a:t>
            </a:r>
          </a:p>
          <a:p>
            <a:pPr>
              <a:spcAft>
                <a:spcPts val="500"/>
              </a:spcAft>
            </a:pPr>
            <a:r>
              <a:rPr sz="1700" b="1">
                <a:solidFill>
                  <a:srgbClr val="2D2D2D"/>
                </a:solidFill>
                <a:latin typeface="Calibri"/>
              </a:rPr>
              <a:t>• Sandbox Analyzer:</a:t>
            </a:r>
            <a:r>
              <a:rPr sz="1700">
                <a:solidFill>
                  <a:srgbClr val="2D2D2D"/>
                </a:solidFill>
                <a:latin typeface="Calibri"/>
              </a:rPr>
              <a:t> kernel-level isolation + 4 monitors + verdict</a:t>
            </a:r>
          </a:p>
          <a:p>
            <a:pPr>
              <a:spcAft>
                <a:spcPts val="500"/>
              </a:spcAft>
            </a:pPr>
            <a:r>
              <a:rPr sz="1700" b="1">
                <a:solidFill>
                  <a:srgbClr val="2D2D2D"/>
                </a:solidFill>
                <a:latin typeface="Calibri"/>
              </a:rPr>
              <a:t>• Metadata Sanitizer:</a:t>
            </a:r>
            <a:r>
              <a:rPr sz="1700">
                <a:solidFill>
                  <a:srgbClr val="2D2D2D"/>
                </a:solidFill>
                <a:latin typeface="Calibri"/>
              </a:rPr>
              <a:t> threat-score-driven mode + handler registry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2D2D2D"/>
                </a:solidFill>
                <a:latin typeface="Calibri"/>
              </a:rPr>
              <a:t>• 269 tests, all passing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1A237E"/>
                </a:solidFill>
                <a:latin typeface="Calibri"/>
              </a:rPr>
              <a:t>What comes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>
                <a:solidFill>
                  <a:srgbClr val="2D2D2D"/>
                </a:solidFill>
                <a:latin typeface="Calibri"/>
              </a:rPr>
              <a:t>• Learn Bayesian CPTs from real feedback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2D2D2D"/>
                </a:solidFill>
                <a:latin typeface="Calibri"/>
              </a:rPr>
              <a:t>• Mixed-strategy Stackelberg solver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2D2D2D"/>
                </a:solidFill>
                <a:latin typeface="Calibri"/>
              </a:rPr>
              <a:t>• Redis/Postgres reputation store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2D2D2D"/>
                </a:solidFill>
                <a:latin typeface="Calibri"/>
              </a:rPr>
              <a:t>• Ground-station adapters (MAVLink, DJI)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2D2D2D"/>
                </a:solidFill>
                <a:latin typeface="Calibri"/>
              </a:rPr>
              <a:t>• Windows VM backend for sandbox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2D2D2D"/>
                </a:solidFill>
                <a:latin typeface="Calibri"/>
              </a:rPr>
              <a:t>• Field evaluation on real drone feeds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48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200400"/>
            <a:ext cx="301752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2800" b="0">
                <a:solidFill>
                  <a:srgbClr val="BBDEFB"/>
                </a:solidFill>
                <a:latin typeface="Calibri"/>
              </a:rP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7548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99AACC"/>
                </a:solidFill>
                <a:latin typeface="Calibri"/>
              </a:rPr>
              <a:t>Sangam Kumar Mishra   |   22CS01071   |   IIT Bhubaneswar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